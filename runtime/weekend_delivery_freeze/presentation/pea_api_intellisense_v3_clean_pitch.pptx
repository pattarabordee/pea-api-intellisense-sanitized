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ad70f5cc184e1b" /><Relationship Type="http://schemas.openxmlformats.org/officeDocument/2006/relationships/extended-properties" Target="/docProps/app.xml" Id="R9d2bf00e9ee849ed" /><Relationship Type="http://schemas.openxmlformats.org/officeDocument/2006/relationships/officeDocument" Target="/ppt/presentation.xml" Id="Rcb46d56f48c44923" /></Relationships>
</file>

<file path=ppt/presentation.xml><?xml version="1.0" encoding="utf-8"?>
<p:presentation xmlns:p="http://schemas.openxmlformats.org/presentationml/2006/main">
  <p:sldMasterIdLst>
    <p:sldMasterId xmlns:r="http://schemas.openxmlformats.org/officeDocument/2006/relationships" id="2147483648" r:id="Rcdfb1c48689f4a20"/>
  </p:sldMasterIdLst>
  <p:notesMasterIdLst>
    <p:notesMasterId xmlns:r="http://schemas.openxmlformats.org/officeDocument/2006/relationships" r:id="Ra5b7153e1dc04a55"/>
  </p:notesMasterIdLst>
  <p:sldIdLst>
    <p:sldId xmlns:r="http://schemas.openxmlformats.org/officeDocument/2006/relationships" id="256" r:id="R2891af90cca442c3"/>
    <p:sldId xmlns:r="http://schemas.openxmlformats.org/officeDocument/2006/relationships" id="257" r:id="Rc9a1354458444ee8"/>
    <p:sldId xmlns:r="http://schemas.openxmlformats.org/officeDocument/2006/relationships" id="258" r:id="R57988cc4abd84598"/>
    <p:sldId xmlns:r="http://schemas.openxmlformats.org/officeDocument/2006/relationships" id="259" r:id="R15164fc645434f01"/>
    <p:sldId xmlns:r="http://schemas.openxmlformats.org/officeDocument/2006/relationships" id="260" r:id="Ra962fb5f3847486d"/>
    <p:sldId xmlns:r="http://schemas.openxmlformats.org/officeDocument/2006/relationships" id="261" r:id="R0c7aa8e6769a4756"/>
    <p:sldId xmlns:r="http://schemas.openxmlformats.org/officeDocument/2006/relationships" id="262" r:id="R2f8c9762f9d34544"/>
    <p:sldId xmlns:r="http://schemas.openxmlformats.org/officeDocument/2006/relationships" id="263" r:id="R62c92b8abd0e40f5"/>
    <p:sldId xmlns:r="http://schemas.openxmlformats.org/officeDocument/2006/relationships" id="264" r:id="R9c3667e3918847f2"/>
    <p:sldId xmlns:r="http://schemas.openxmlformats.org/officeDocument/2006/relationships" id="265" r:id="R53efe74bb9ef4217"/>
    <p:sldId xmlns:r="http://schemas.openxmlformats.org/officeDocument/2006/relationships" id="266" r:id="Rba398b5ee253444b"/>
    <p:sldId xmlns:r="http://schemas.openxmlformats.org/officeDocument/2006/relationships" id="267" r:id="R3590443eb932494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c15e285be34650" /><Relationship Type="http://schemas.openxmlformats.org/officeDocument/2006/relationships/slideMaster" Target="/ppt/slideMasters/slideMaster1.xml" Id="Rcdfb1c48689f4a20" /><Relationship Type="http://schemas.openxmlformats.org/officeDocument/2006/relationships/notesMaster" Target="/ppt/notesMasters/notesMaster1.xml" Id="Ra5b7153e1dc04a55" /><Relationship Type="http://schemas.openxmlformats.org/officeDocument/2006/relationships/presProps" Target="/ppt/presProps.xml" Id="R7a79b4e948604e89" /><Relationship Type="http://schemas.openxmlformats.org/officeDocument/2006/relationships/tableStyles" Target="/ppt/tableStyles.xml" Id="Re16c56a1631948b3" /><Relationship Type="http://schemas.openxmlformats.org/officeDocument/2006/relationships/slide" Target="/ppt/slides/slide1.xml" Id="R2891af90cca442c3" /><Relationship Type="http://schemas.openxmlformats.org/officeDocument/2006/relationships/slide" Target="/ppt/slides/slide2.xml" Id="Rc9a1354458444ee8" /><Relationship Type="http://schemas.openxmlformats.org/officeDocument/2006/relationships/slide" Target="/ppt/slides/slide3.xml" Id="R57988cc4abd84598" /><Relationship Type="http://schemas.openxmlformats.org/officeDocument/2006/relationships/slide" Target="/ppt/slides/slide4.xml" Id="R15164fc645434f01" /><Relationship Type="http://schemas.openxmlformats.org/officeDocument/2006/relationships/slide" Target="/ppt/slides/slide5.xml" Id="Ra962fb5f3847486d" /><Relationship Type="http://schemas.openxmlformats.org/officeDocument/2006/relationships/slide" Target="/ppt/slides/slide6.xml" Id="R0c7aa8e6769a4756" /><Relationship Type="http://schemas.openxmlformats.org/officeDocument/2006/relationships/slide" Target="/ppt/slides/slide7.xml" Id="R2f8c9762f9d34544" /><Relationship Type="http://schemas.openxmlformats.org/officeDocument/2006/relationships/slide" Target="/ppt/slides/slide8.xml" Id="R62c92b8abd0e40f5" /><Relationship Type="http://schemas.openxmlformats.org/officeDocument/2006/relationships/slide" Target="/ppt/slides/slide9.xml" Id="R9c3667e3918847f2" /><Relationship Type="http://schemas.openxmlformats.org/officeDocument/2006/relationships/slide" Target="/ppt/slides/slide10.xml" Id="R53efe74bb9ef4217" /><Relationship Type="http://schemas.openxmlformats.org/officeDocument/2006/relationships/slide" Target="/ppt/slides/slide11.xml" Id="Rba398b5ee253444b" /><Relationship Type="http://schemas.openxmlformats.org/officeDocument/2006/relationships/slide" Target="/ppt/slides/slide12.xml" Id="R3590443eb93249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32d1c18fe34b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d9ac26d1684efe" /><Relationship Type="http://schemas.openxmlformats.org/officeDocument/2006/relationships/notesMaster" Target="/ppt/notesMasters/notesMaster1.xml" Id="R1ae82fe8785849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92d536f37f4eaf" /><Relationship Type="http://schemas.openxmlformats.org/officeDocument/2006/relationships/notesMaster" Target="/ppt/notesMasters/notesMaster1.xml" Id="Rf615ba54d73d47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09ce43c66d4ac4" /><Relationship Type="http://schemas.openxmlformats.org/officeDocument/2006/relationships/notesMaster" Target="/ppt/notesMasters/notesMaster1.xml" Id="R7e67805846d849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8392ceb9d74396" /><Relationship Type="http://schemas.openxmlformats.org/officeDocument/2006/relationships/notesMaster" Target="/ppt/notesMasters/notesMaster1.xml" Id="R0c6f76153def4c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f2e75b105fd4b11" /><Relationship Type="http://schemas.openxmlformats.org/officeDocument/2006/relationships/notesMaster" Target="/ppt/notesMasters/notesMaster1.xml" Id="Re87a39494e994a7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31876aedb94af8" /><Relationship Type="http://schemas.openxmlformats.org/officeDocument/2006/relationships/notesMaster" Target="/ppt/notesMasters/notesMaster1.xml" Id="R5cffb53fae904f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7b068bcaf14dfe" /><Relationship Type="http://schemas.openxmlformats.org/officeDocument/2006/relationships/notesMaster" Target="/ppt/notesMasters/notesMaster1.xml" Id="R8a38892d31e840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acea87c9b24b9a" /><Relationship Type="http://schemas.openxmlformats.org/officeDocument/2006/relationships/notesMaster" Target="/ppt/notesMasters/notesMaster1.xml" Id="R55192fbf02764bc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f4b887cd814d52" /><Relationship Type="http://schemas.openxmlformats.org/officeDocument/2006/relationships/notesMaster" Target="/ppt/notesMasters/notesMaster1.xml" Id="R5c083dc824fe440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80b9b4657144f7b" /><Relationship Type="http://schemas.openxmlformats.org/officeDocument/2006/relationships/notesMaster" Target="/ppt/notesMasters/notesMaster1.xml" Id="R42f104e930864c1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69787533394399" /><Relationship Type="http://schemas.openxmlformats.org/officeDocument/2006/relationships/notesMaster" Target="/ppt/notesMasters/notesMaster1.xml" Id="Re177c5006fa34b6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2f45d1ba9b64169" /><Relationship Type="http://schemas.openxmlformats.org/officeDocument/2006/relationships/notesMaster" Target="/ppt/notesMasters/notesMaster1.xml" Id="R5bf39de8d98c49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Cover / Hook</a:t>
            </a:r>
          </a:p>
          <a:p xmlns:a="http://schemas.openxmlformats.org/drawingml/2006/main">
            <a:r>
              <a:t/>
            </a:r>
          </a:p>
          <a:p xmlns:a="http://schemas.openxmlformats.org/drawingml/2006/main">
            <a:r>
              <a:t>วันนี้ผมนำเสนอ PEA API Intellisense ครับ แนวคิดหลักคือเปลี่ยนข้อมูลระบบจำหน่ายที่ PEA มีอยู่แล้ว ให้กลายเป็นบริการเชิงรุกผ่าน API สำหรับลูกค้ารายสำคัญอย่าง AIS เริ่มจากโจทย์ไฟดับของสถานีฐาน แล้วต่อยอดเป็น capability ด้าน Data Monetization ของ PEA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Customer Pain Point</a:t>
            </a:r>
          </a:p>
          <a:p xmlns:a="http://schemas.openxmlformats.org/drawingml/2006/main">
            <a:r>
              <a:t/>
            </a:r>
          </a:p>
          <a:p xmlns:a="http://schemas.openxmlformats.org/drawingml/2006/main">
            <a:r>
              <a:t>ปัญหาจริงคือข้อมูลอยู่คนละฝั่งครับ AIS เห็นว่า site มีปัญหา แต่ไม่รู้ว่าไฟดับจากระบบจำหน่าย PEA หรือไม่ และจะกลับมาเมื่อไหร่ วิธีเดิมคือโทรถาม แชทถาม แล้วรอคนเปิดระบบไล่ดู ทำให้ตัดสินใจเรื่องทีมช่างหรือเครื่องปั่นไฟได้ช้า และบางครั้งเกิดต้นทุนที่ไม่จำเป็น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Size of Pain / Opportunity</a:t>
            </a:r>
          </a:p>
          <a:p xmlns:a="http://schemas.openxmlformats.org/drawingml/2006/main">
            <a:r>
              <a:t/>
            </a:r>
          </a:p>
          <a:p xmlns:a="http://schemas.openxmlformats.org/drawingml/2006/main">
            <a:r>
              <a:t>ถ้ามองในมุมผู้บริหาร blindspot นี้มีขนาดใหญ่พอครับ เอกสาร strategy ประเมิน dispatch signals ประมาณ 59,997 ครั้งต่อปี มี downtime-risk lens ประมาณ 17.8 ล้านบาทต่อปี และ opportunity รวมประมาณ 48 ล้านบาทต่อปี ตัวเลขนี้ยังเป็น strategic estimate ไม่ใช่ realized saving แต่บอกชัดว่าปัญหานี้ใหญ่พอที่จะทำเป็น capability ระดับองค์กร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Why This Is PEA's Opportunity</a:t>
            </a:r>
          </a:p>
          <a:p xmlns:a="http://schemas.openxmlformats.org/drawingml/2006/main">
            <a:r>
              <a:t/>
            </a:r>
          </a:p>
          <a:p xmlns:a="http://schemas.openxmlformats.org/drawingml/2006/main">
            <a:r>
              <a:t>จุดแข็งของงานนี้คือเหตุผลที่ต้องเป็น PEA ครับ AIS มีข้อมูล site ของตัวเอง แต่ไม่เห็นแผนผังการจ่ายไฟและบริบทเหตุขัดข้องของ PEA ส่วน PEA มี grid topology มีหลักฐานจากระบบปฏิบัติการ และมี governance ที่ควบคุมการใช้ข้อมูลได้ถูกต้อง ดังนั้นมูลค่าจริงไม่ใช่ API อย่างเดียว แต่มูลค่าคือ trusted grid context ที่อยู่หลัง 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Solution in Human Language</a:t>
            </a:r>
          </a:p>
          <a:p xmlns:a="http://schemas.openxmlformats.org/drawingml/2006/main">
            <a:r>
              <a:t/>
            </a:r>
          </a:p>
          <a:p xmlns:a="http://schemas.openxmlformats.org/drawingml/2006/main">
            <a:r>
              <a:t>พูดแบบภาษามนุษย์คือ AIS ถามว่า site นี้เกิดอะไรขึ้น PEA trace กลับว่าอยู่หลังอุปกรณ์ป้องกันตัวไหน จากนั้นเช็คหลักฐานว่าอุปกรณ์หรือเหตุการณ์นั้นเกิดขึ้นจริงในช่วงเวลาเดียวกันหรือไม่ แล้วจึงตอบกลับแบบปลอดภัย เช่น รับเรื่องแล้ว สถานะเบื้องต้น หรือ ETR candidate ที่ยังผ่าน human review ก่อน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Current MVP / Cloud Shadow Pilot</a:t>
            </a:r>
          </a:p>
          <a:p xmlns:a="http://schemas.openxmlformats.org/drawingml/2006/main">
            <a:r>
              <a:t/>
            </a:r>
          </a:p>
          <a:p xmlns:a="http://schemas.openxmlformats.org/drawingml/2006/main">
            <a:r>
              <a:t>สถานะปัจจุบันเราไม่ได้อยู่แค่ idea แล้วครับ ตอนนี้มี Cloud Shadow API บน Render มี PostgreSQL เป็น evidence store มี Web Console สำหรับดู request และสถานะ แต่ guardrail สำคัญยังเหมือนเดิมคือ production_send ยัง blocked ระบบรับและเก็บหลักฐานได้ แต่ยังไม่ส่ง Auto ETR ไปใช้งานจริงกับลูกค้า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 Demo Flow</a:t>
            </a:r>
          </a:p>
          <a:p xmlns:a="http://schemas.openxmlformats.org/drawingml/2006/main">
            <a:r>
              <a:t/>
            </a:r>
          </a:p>
          <a:p xmlns:a="http://schemas.openxmlformats.org/drawingml/2006/main">
            <a:r>
              <a:t>หน้า demo เราจะให้กรรมการเห็น 5 ขั้นครับ หนึ่ง AIS ยิง API มา สอง PEA รับ request ด้วย 202 Accepted สาม PEA trace จาก meter หรือ site ไปยังบริบทระบบจำหน่าย สี่ evidence gate ประเมินความมั่นใจ และห้า ระบบบันทึก shadow response ไว้ให้ operator ตรวจ ไม่ใช่ส่ง production อัตโนมัติ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 Target Production Architecture</a:t>
            </a:r>
          </a:p>
          <a:p xmlns:a="http://schemas.openxmlformats.org/drawingml/2006/main">
            <a:r>
              <a:t/>
            </a:r>
          </a:p>
          <a:p xmlns:a="http://schemas.openxmlformats.org/drawingml/2006/main">
            <a:r>
              <a:t>ใน production target เราจะแยกเป็น 4 lane ครับ Trigger lane อาจมาจาก AIS request และอนาคตจาก AMR Last Gasp ที่ได้รับอนุมัติ Context lane ใช้ topology และ protection evidence Reasoning lane ใช้ rule หรือ model เพื่อออก ETR candidate และ Delivery lane ส่งผ่าน API/callback พร้อม audit trail จุดที่ต้องพูดตรง ๆ คือ Last Gasp, SCADA และข้อความปฏิบัติการต้องผ่าน owner approval ก่อน ไม่ใช่เปิดใช้โดยพลการ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 Business Model / ROI</a:t>
            </a:r>
          </a:p>
          <a:p xmlns:a="http://schemas.openxmlformats.org/drawingml/2006/main">
            <a:r>
              <a:t/>
            </a:r>
          </a:p>
          <a:p xmlns:a="http://schemas.openxmlformats.org/drawingml/2006/main">
            <a:r>
              <a:t>ในมุมธุรกิจ งานนี้คือ Data Monetization ครับ รูปแบบแรกคือ subscription สำหรับข้อมูลพรีเมียม ประมาณ 1.5-2 ล้านบาทต่อปีต่อภูมิภาค หรือ 6-8 ล้านบาทต่อปีถ้าขยายทั่วประเทศ รูปแบบที่สองคือ pay-per-API-call ตามการใช้งานจริง จุดเด่นคือเป็น Zero-CAPEX path เพราะใช้ข้อมูล บุคลากร และระบบ IT ที่ PEA มีอยู่แล้วเป็นทุนเดิม แต่รายได้ต้องผ่าน finance validation ก่อนใช้เป็นตัวเลขทางบัญชี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 Risk Control / Why Not Auto-Send Yet</a:t>
            </a:r>
          </a:p>
          <a:p xmlns:a="http://schemas.openxmlformats.org/drawingml/2006/main">
            <a:r>
              <a:t/>
            </a:r>
          </a:p>
          <a:p xmlns:a="http://schemas.openxmlformats.org/drawingml/2006/main">
            <a:r>
              <a:t>จุดที่ทำให้โครงการนี้ปลอดภัยคือเราไม่รีบเปิด Auto ETR ครับ ตอนนี้เป็น shadow mode มี human review และต้องผ่าน green evidence gate ก่อน โดยต้องมีเคสที่ validate แล้วอย่างน้อย 30 เคส ค่า error และ coverage อยู่ในเกณฑ์ และต้องมี owner approval ข้อมูลที่อ่อนไหว เช่น meter เต็ม ข้อความปฏิบัติการ หรือข้อมูลลูกค้า จะไม่ถูกเปิดเผยใน artifact สาธารณะ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11 - 3-Month Pilot Plan</a:t>
            </a:r>
          </a:p>
          <a:p xmlns:a="http://schemas.openxmlformats.org/drawingml/2006/main">
            <a:r>
              <a:t/>
            </a:r>
          </a:p>
          <a:p xmlns:a="http://schemas.openxmlformats.org/drawingml/2006/main">
            <a:r>
              <a:t>แผนที่ควรขออนุมัติคือ pilot 3 เดือนครับ เดือนแรกทำ data mapping สำหรับ AIS hub sites ในพื้นที่นำร่อง เดือนที่สองทำ API/webhook integration และ security contract เดือนที่สามทำ shadow run วัดผล ROI และจัดทำ go/no-go packet สำหรับผู้บริหาร ตรงนี้สอดคล้องกับ Master Document ที่เสนอ pilot 1 จังหวัด และเริ่มจาก scope ที่ควบคุมได้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 The Ask / Closing</a:t>
            </a:r>
          </a:p>
          <a:p xmlns:a="http://schemas.openxmlformats.org/drawingml/2006/main">
            <a:r>
              <a:t/>
            </a:r>
          </a:p>
          <a:p xmlns:a="http://schemas.openxmlformats.org/drawingml/2006/main">
            <a:r>
              <a:t>สิ่งที่ขอวันนี้มี 3 เรื่องครับ หนึ่ง อนุมัติหลักการทำ pilot ร่วมกับ AIS สอง อนุมัติการเข้าถึงข้อมูลเฉพาะ scope ที่ผูกกับ AIS และผ่าน owner approval เช่น AMR/topology/evidence สาม ตั้ง Joint Working Group ระหว่าง PEA Ops, PEA IT/API owner และ AIS Dev/Ops owner ขอย้ำว่าการตัดสินใจวันนี้คืออนุมัติ safe pilot bridge ไม่ใช่อนุมัติ Auto ETR production go-live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99925c1d8046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520ea4754b4425" /><Relationship Type="http://schemas.openxmlformats.org/officeDocument/2006/relationships/slideLayout" Target="/ppt/slideLayouts/slideLayout1.xml" Id="R636b3e78158a44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6b3e78158a44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c15a28fa2a64e5e" /><Relationship Type="http://schemas.openxmlformats.org/officeDocument/2006/relationships/image" Target="/ppt/media/image.png" Id="R88b6b9e570e141be" /><Relationship Type="http://schemas.openxmlformats.org/officeDocument/2006/relationships/notesSlide" Target="/ppt/notesSlides/notesSlide1.xml" Id="R312eaf17188549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e0b99378f194929" /><Relationship Type="http://schemas.openxmlformats.org/officeDocument/2006/relationships/notesSlide" Target="/ppt/notesSlides/notesSlide2.xml" Id="R415271918be243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529da7266d44967" /><Relationship Type="http://schemas.openxmlformats.org/officeDocument/2006/relationships/notesSlide" Target="/ppt/notesSlides/notesSlide3.xml" Id="R2045c54b0fa749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9727943fa094db2" /><Relationship Type="http://schemas.openxmlformats.org/officeDocument/2006/relationships/notesSlide" Target="/ppt/notesSlides/notesSlide4.xml" Id="R9aaacedccb4540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606f1fc336e4f0e" /><Relationship Type="http://schemas.openxmlformats.org/officeDocument/2006/relationships/notesSlide" Target="/ppt/notesSlides/notesSlide5.xml" Id="Rfa547bd21e0f45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0057c0cd8e74f25" /><Relationship Type="http://schemas.openxmlformats.org/officeDocument/2006/relationships/notesSlide" Target="/ppt/notesSlides/notesSlide6.xml" Id="Rd3589fab01db46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732197fe69c463d" /><Relationship Type="http://schemas.openxmlformats.org/officeDocument/2006/relationships/notesSlide" Target="/ppt/notesSlides/notesSlide7.xml" Id="R5397e19e41994b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220580cb0cf4619" /><Relationship Type="http://schemas.openxmlformats.org/officeDocument/2006/relationships/notesSlide" Target="/ppt/notesSlides/notesSlide8.xml" Id="Rbd71b64bfda34f8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9403e5d4a1c4f6a" /><Relationship Type="http://schemas.openxmlformats.org/officeDocument/2006/relationships/notesSlide" Target="/ppt/notesSlides/notesSlide9.xml" Id="Rf2822979d5c64c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a6ec8f36f1d436b" /><Relationship Type="http://schemas.openxmlformats.org/officeDocument/2006/relationships/notesSlide" Target="/ppt/notesSlides/notesSlide10.xml" Id="Ra0449281e02a48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d1714cd6f1a429b" /><Relationship Type="http://schemas.openxmlformats.org/officeDocument/2006/relationships/notesSlide" Target="/ppt/notesSlides/notesSlide11.xml" Id="R9a10539a21bd4db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0c6e364887f4150" /><Relationship Type="http://schemas.openxmlformats.org/officeDocument/2006/relationships/image" Target="/ppt/media/image2.png" Id="Rcbbd4efdda194899" /><Relationship Type="http://schemas.openxmlformats.org/officeDocument/2006/relationships/notesSlide" Target="/ppt/notesSlides/notesSlide12.xml" Id="R28e7cb6d16fb457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8b6b9e570e141b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790787C-4F58-49E9-A029-60DB9FFA9163}"/>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07162B"/>
          </a:solidFill>
          <a:ln xmlns:a="http://schemas.openxmlformats.org/drawingml/2006/main" w="0">
            <a:solidFill>
              <a:srgbClr val="07162B"/>
            </a:solidFill>
            <a:prstDash val="solid"/>
          </a:ln>
        </p:spPr>
      </p:sp>
      <p:sp>
        <p:nvSpPr>
          <p:cNvPr id="3" name="">
            <a:extLst xmlns:a="http://schemas.openxmlformats.org/drawingml/2006/main">
              <a:ext uri="{FF2B5EF4-FFF2-40B4-BE49-F238E27FC236}">
                <a16:creationId xmlns:a16="http://schemas.microsoft.com/office/drawing/2014/main" id="{55BBB84B-CFC8-4E25-BE6F-8C656EAB3A60}"/>
              </a:ext>
            </a:extLst>
          </p:cNvPr>
          <p:cNvSpPr>
            <a:spLocks xmlns:a="http://schemas.openxmlformats.org/drawingml/2006/main" noGrp="1"/>
          </p:cNvSpPr>
          <p:nvPr/>
        </p:nvSpPr>
        <p:spPr>
          <a:xfrm xmlns:a="http://schemas.openxmlformats.org/drawingml/2006/main">
            <a:off x="685800" y="781050"/>
            <a:ext cx="2857500" cy="38100"/>
          </a:xfrm>
          <a:prstGeom xmlns:a="http://schemas.openxmlformats.org/drawingml/2006/main" prst="rect">
            <a:avLst/>
          </a:prstGeom>
          <a:solidFill xmlns:a="http://schemas.openxmlformats.org/drawingml/2006/main">
            <a:srgbClr val="18B8C8"/>
          </a:solidFill>
          <a:ln xmlns:a="http://schemas.openxmlformats.org/drawingml/2006/main" w="0">
            <a:solidFill>
              <a:srgbClr val="18B8C8"/>
            </a:solidFill>
            <a:prstDash val="solid"/>
          </a:ln>
        </p:spPr>
      </p:sp>
      <p:sp>
        <p:nvSpPr>
          <p:cNvPr id="4" name="">
            <a:extLst xmlns:a="http://schemas.openxmlformats.org/drawingml/2006/main">
              <a:ext uri="{FF2B5EF4-FFF2-40B4-BE49-F238E27FC236}">
                <a16:creationId xmlns:a16="http://schemas.microsoft.com/office/drawing/2014/main" id="{CD011F09-6854-4CC1-A06D-1750492BD72C}"/>
              </a:ext>
            </a:extLst>
          </p:cNvPr>
          <p:cNvSpPr>
            <a:spLocks xmlns:a="http://schemas.openxmlformats.org/drawingml/2006/main" noGrp="1"/>
          </p:cNvSpPr>
          <p:nvPr/>
        </p:nvSpPr>
        <p:spPr>
          <a:xfrm xmlns:a="http://schemas.openxmlformats.org/drawingml/2006/main">
            <a:off x="685800" y="914400"/>
            <a:ext cx="1809750" cy="28575"/>
          </a:xfrm>
          <a:prstGeom xmlns:a="http://schemas.openxmlformats.org/drawingml/2006/main" prst="rect">
            <a:avLst/>
          </a:prstGeom>
          <a:solidFill xmlns:a="http://schemas.openxmlformats.org/drawingml/2006/main">
            <a:srgbClr val="F7B84B"/>
          </a:solidFill>
          <a:ln xmlns:a="http://schemas.openxmlformats.org/drawingml/2006/main" w="0">
            <a:solidFill>
              <a:srgbClr val="F7B84B"/>
            </a:solidFill>
            <a:prstDash val="solid"/>
          </a:ln>
        </p:spPr>
      </p:sp>
      <p:sp>
        <p:nvSpPr>
          <p:cNvPr id="5" name="">
            <a:extLst xmlns:a="http://schemas.openxmlformats.org/drawingml/2006/main">
              <a:ext uri="{FF2B5EF4-FFF2-40B4-BE49-F238E27FC236}">
                <a16:creationId xmlns:a16="http://schemas.microsoft.com/office/drawing/2014/main" id="{F4889AFA-1F84-4A99-BFFC-CC43A34AD44E}"/>
              </a:ext>
            </a:extLst>
          </p:cNvPr>
          <p:cNvSpPr>
            <a:spLocks xmlns:a="http://schemas.openxmlformats.org/drawingml/2006/main" noGrp="1"/>
          </p:cNvSpPr>
          <p:nvPr/>
        </p:nvSpPr>
        <p:spPr>
          <a:xfrm xmlns:a="http://schemas.openxmlformats.org/drawingml/2006/main">
            <a:off x="685800" y="142875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050" b="1">
                <a:solidFill>
                  <a:srgbClr val="FFFFFF"/>
                </a:solidFill>
              </a:defRPr>
            </a:pPr>
            <a:r>
              <a:rPr sz="4050" b="1">
                <a:solidFill>
                  <a:srgbClr val="FFFFFF"/>
                </a:solidFill>
              </a:rPr>
              <a:t>PEA API Intellisense</a:t>
            </a:r>
          </a:p>
        </p:txBody>
      </p:sp>
      <p:sp>
        <p:nvSpPr>
          <p:cNvPr id="6" name="">
            <a:extLst xmlns:a="http://schemas.openxmlformats.org/drawingml/2006/main">
              <a:ext uri="{FF2B5EF4-FFF2-40B4-BE49-F238E27FC236}">
                <a16:creationId xmlns:a16="http://schemas.microsoft.com/office/drawing/2014/main" id="{BE6D25D1-351C-4F7F-942E-7D00B1313885}"/>
              </a:ext>
            </a:extLst>
          </p:cNvPr>
          <p:cNvSpPr>
            <a:spLocks xmlns:a="http://schemas.openxmlformats.org/drawingml/2006/main" noGrp="1"/>
          </p:cNvSpPr>
          <p:nvPr/>
        </p:nvSpPr>
        <p:spPr>
          <a:xfrm xmlns:a="http://schemas.openxmlformats.org/drawingml/2006/main">
            <a:off x="685800" y="2333625"/>
            <a:ext cx="5905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FFFFF"/>
                </a:solidFill>
              </a:defRPr>
            </a:pPr>
            <a:r>
              <a:rPr sz="2850" b="1">
                <a:solidFill>
                  <a:srgbClr val="FFFFFF"/>
                </a:solidFill>
              </a:rPr>
              <a:t>From Outage Blindspot to</a:t>
            </a:r>
          </a:p>
          <a:p xmlns:a="http://schemas.openxmlformats.org/drawingml/2006/main">
            <a:pPr>
              <a:defRPr sz="2850" b="1">
                <a:solidFill>
                  <a:srgbClr val="FFFFFF"/>
                </a:solidFill>
              </a:defRPr>
            </a:pPr>
            <a:r>
              <a:rPr sz="2850" b="1">
                <a:solidFill>
                  <a:srgbClr val="FFFFFF"/>
                </a:solidFill>
              </a:rPr>
              <a:t>Proactive Grid Intelligence</a:t>
            </a:r>
          </a:p>
        </p:txBody>
      </p:sp>
      <p:sp>
        <p:nvSpPr>
          <p:cNvPr id="7" name="">
            <a:extLst xmlns:a="http://schemas.openxmlformats.org/drawingml/2006/main">
              <a:ext uri="{FF2B5EF4-FFF2-40B4-BE49-F238E27FC236}">
                <a16:creationId xmlns:a16="http://schemas.microsoft.com/office/drawing/2014/main" id="{53FE56FF-A175-4994-9486-4D86ADB507A0}"/>
              </a:ext>
            </a:extLst>
          </p:cNvPr>
          <p:cNvSpPr>
            <a:spLocks xmlns:a="http://schemas.openxmlformats.org/drawingml/2006/main" noGrp="1"/>
          </p:cNvSpPr>
          <p:nvPr/>
        </p:nvSpPr>
        <p:spPr>
          <a:xfrm xmlns:a="http://schemas.openxmlformats.org/drawingml/2006/main">
            <a:off x="704850" y="367665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0">
                <a:solidFill>
                  <a:srgbClr val="59D6F2"/>
                </a:solidFill>
              </a:defRPr>
            </a:pPr>
            <a:r>
              <a:rPr sz="1575" b="0">
                <a:solidFill>
                  <a:srgbClr val="59D6F2"/>
                </a:solidFill>
              </a:rPr>
              <a:t>Cloud Shadow Pilot | Data Monetization | Zero-CAPEX Path</a:t>
            </a:r>
          </a:p>
        </p:txBody>
      </p:sp>
      <p:sp>
        <p:nvSpPr>
          <p:cNvPr id="8" name="">
            <a:extLst xmlns:a="http://schemas.openxmlformats.org/drawingml/2006/main">
              <a:ext uri="{FF2B5EF4-FFF2-40B4-BE49-F238E27FC236}">
                <a16:creationId xmlns:a16="http://schemas.microsoft.com/office/drawing/2014/main" id="{6607D58C-3FAE-4735-83DF-B93B3E80D383}"/>
              </a:ext>
            </a:extLst>
          </p:cNvPr>
          <p:cNvSpPr>
            <a:spLocks xmlns:a="http://schemas.openxmlformats.org/drawingml/2006/main" noGrp="1"/>
          </p:cNvSpPr>
          <p:nvPr/>
        </p:nvSpPr>
        <p:spPr>
          <a:xfrm xmlns:a="http://schemas.openxmlformats.org/drawingml/2006/main">
            <a:off x="685800" y="4429125"/>
            <a:ext cx="5857875" cy="819150"/>
          </a:xfrm>
          <a:prstGeom xmlns:a="http://schemas.openxmlformats.org/drawingml/2006/main" prst="roundRect">
            <a:avLst>
              <a:gd name="adj" fmla="val 13953"/>
            </a:avLst>
          </a:prstGeom>
          <a:solidFill xmlns:a="http://schemas.openxmlformats.org/drawingml/2006/main">
            <a:srgbClr val="061D34"/>
          </a:solidFill>
          <a:ln xmlns:a="http://schemas.openxmlformats.org/drawingml/2006/main" w="9525">
            <a:solidFill>
              <a:srgbClr val="18B8C8"/>
            </a:solidFill>
            <a:prstDash val="solid"/>
          </a:ln>
        </p:spPr>
      </p:sp>
      <p:sp>
        <p:nvSpPr>
          <p:cNvPr id="9" name="">
            <a:extLst xmlns:a="http://schemas.openxmlformats.org/drawingml/2006/main">
              <a:ext uri="{FF2B5EF4-FFF2-40B4-BE49-F238E27FC236}">
                <a16:creationId xmlns:a16="http://schemas.microsoft.com/office/drawing/2014/main" id="{8F1B6F62-2D39-46AB-A143-FC6D0581D159}"/>
              </a:ext>
            </a:extLst>
          </p:cNvPr>
          <p:cNvSpPr>
            <a:spLocks xmlns:a="http://schemas.openxmlformats.org/drawingml/2006/main" noGrp="1"/>
          </p:cNvSpPr>
          <p:nvPr/>
        </p:nvSpPr>
        <p:spPr>
          <a:xfrm xmlns:a="http://schemas.openxmlformats.org/drawingml/2006/main">
            <a:off x="914400" y="45910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59D6F2"/>
                </a:solidFill>
              </a:defRPr>
            </a:pPr>
            <a:r>
              <a:rPr sz="1200" b="1">
                <a:solidFill>
                  <a:srgbClr val="59D6F2"/>
                </a:solidFill>
              </a:rPr>
              <a:t>Presented by</a:t>
            </a:r>
          </a:p>
        </p:txBody>
      </p:sp>
      <p:sp>
        <p:nvSpPr>
          <p:cNvPr id="10" name="">
            <a:extLst xmlns:a="http://schemas.openxmlformats.org/drawingml/2006/main">
              <a:ext uri="{FF2B5EF4-FFF2-40B4-BE49-F238E27FC236}">
                <a16:creationId xmlns:a16="http://schemas.microsoft.com/office/drawing/2014/main" id="{C67FEA37-EE73-4532-8FEC-3CBA299C0714}"/>
              </a:ext>
            </a:extLst>
          </p:cNvPr>
          <p:cNvSpPr>
            <a:spLocks xmlns:a="http://schemas.openxmlformats.org/drawingml/2006/main" noGrp="1"/>
          </p:cNvSpPr>
          <p:nvPr/>
        </p:nvSpPr>
        <p:spPr>
          <a:xfrm xmlns:a="http://schemas.openxmlformats.org/drawingml/2006/main">
            <a:off x="914400" y="4876800"/>
            <a:ext cx="528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Pattarabordee Khaigunha (514460) - NE1 IoT Commitee</a:t>
            </a:r>
          </a:p>
        </p:txBody>
      </p:sp>
      <p:sp>
        <p:nvSpPr>
          <p:cNvPr id="11" name="">
            <a:extLst xmlns:a="http://schemas.openxmlformats.org/drawingml/2006/main">
              <a:ext uri="{FF2B5EF4-FFF2-40B4-BE49-F238E27FC236}">
                <a16:creationId xmlns:a16="http://schemas.microsoft.com/office/drawing/2014/main" id="{6FCECD89-38B2-44CE-8F2F-B69D8E184614}"/>
              </a:ext>
            </a:extLst>
          </p:cNvPr>
          <p:cNvSpPr>
            <a:spLocks xmlns:a="http://schemas.openxmlformats.org/drawingml/2006/main" noGrp="1"/>
          </p:cNvSpPr>
          <p:nvPr/>
        </p:nvSpPr>
        <p:spPr>
          <a:xfrm xmlns:a="http://schemas.openxmlformats.org/drawingml/2006/main">
            <a:off x="3381375" y="6305550"/>
            <a:ext cx="5429250" cy="323850"/>
          </a:xfrm>
          <a:prstGeom xmlns:a="http://schemas.openxmlformats.org/drawingml/2006/main" prst="roundRect">
            <a:avLst>
              <a:gd name="adj" fmla="val 23529"/>
            </a:avLst>
          </a:prstGeom>
          <a:solidFill xmlns:a="http://schemas.openxmlformats.org/drawingml/2006/main">
            <a:srgbClr val="F1F6FC"/>
          </a:solidFill>
          <a:ln xmlns:a="http://schemas.openxmlformats.org/drawingml/2006/main" w="9525">
            <a:solidFill>
              <a:srgbClr val="CAD6E6"/>
            </a:solidFill>
            <a:prstDash val="solid"/>
          </a:ln>
        </p:spPr>
      </p:sp>
      <p:sp>
        <p:nvSpPr>
          <p:cNvPr id="12" name="">
            <a:extLst xmlns:a="http://schemas.openxmlformats.org/drawingml/2006/main">
              <a:ext uri="{FF2B5EF4-FFF2-40B4-BE49-F238E27FC236}">
                <a16:creationId xmlns:a16="http://schemas.microsoft.com/office/drawing/2014/main" id="{CB197555-2AF1-4834-B2A2-50CA8FC476F6}"/>
              </a:ext>
            </a:extLst>
          </p:cNvPr>
          <p:cNvSpPr>
            <a:spLocks xmlns:a="http://schemas.openxmlformats.org/drawingml/2006/main" noGrp="1"/>
          </p:cNvSpPr>
          <p:nvPr/>
        </p:nvSpPr>
        <p:spPr>
          <a:xfrm xmlns:a="http://schemas.openxmlformats.org/drawingml/2006/main">
            <a:off x="3543300" y="6362700"/>
            <a:ext cx="5105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24334A"/>
                </a:solidFill>
              </a:defRPr>
            </a:pPr>
            <a:r>
              <a:rPr sz="975" b="1">
                <a:solidFill>
                  <a:srgbClr val="24334A"/>
                </a:solidFill>
              </a:rPr>
              <a:t>mode = shadow | production_send = blocked</a:t>
            </a:r>
          </a:p>
        </p:txBody>
      </p:sp>
    </p:spTree>
    <p:extLst>
      <p:ext uri="{BB962C8B-B14F-4D97-AF65-F5344CB8AC3E}">
        <p14:creationId xmlns:p14="http://schemas.microsoft.com/office/powerpoint/2010/main" val="404071817"/>
      </p:ext>
    </p:extLst>
  </p:cSld>
</p:sld>
</file>

<file path=ppt/slides/slide2.xml><?xml version="1.0" encoding="utf-8"?>
<p:sld xmlns:p="http://schemas.openxmlformats.org/presentationml/2006/main">
  <p:cSld>
    <p:bg>
      <p:bgPr>
        <a:solidFill xmlns:a="http://schemas.openxmlformats.org/drawingml/2006/main">
          <a:srgbClr val="F6FA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F4FB799-1615-482C-B997-F9ECB119F4B8}"/>
              </a:ext>
            </a:extLst>
          </p:cNvPr>
          <p:cNvSpPr>
            <a:spLocks xmlns:a="http://schemas.openxmlformats.org/drawingml/2006/main" noGrp="1"/>
          </p:cNvSpPr>
          <p:nvPr/>
        </p:nvSpPr>
        <p:spPr>
          <a:xfrm xmlns:a="http://schemas.openxmlformats.org/drawingml/2006/main">
            <a:off x="533400" y="419100"/>
            <a:ext cx="666750" cy="47625"/>
          </a:xfrm>
          <a:prstGeom xmlns:a="http://schemas.openxmlformats.org/drawingml/2006/main" prst="rect">
            <a:avLst/>
          </a:prstGeom>
          <a:solidFill xmlns:a="http://schemas.openxmlformats.org/drawingml/2006/main">
            <a:srgbClr val="7B57C8"/>
          </a:solidFill>
          <a:ln xmlns:a="http://schemas.openxmlformats.org/drawingml/2006/main" w="0">
            <a:solidFill>
              <a:srgbClr val="7B57C8"/>
            </a:solidFill>
            <a:prstDash val="solid"/>
          </a:ln>
        </p:spPr>
      </p:sp>
      <p:sp>
        <p:nvSpPr>
          <p:cNvPr id="2" name="">
            <a:extLst xmlns:a="http://schemas.openxmlformats.org/drawingml/2006/main">
              <a:ext uri="{FF2B5EF4-FFF2-40B4-BE49-F238E27FC236}">
                <a16:creationId xmlns:a16="http://schemas.microsoft.com/office/drawing/2014/main" id="{5B2129F7-634A-4E33-B064-37A891C3ABD0}"/>
              </a:ext>
            </a:extLst>
          </p:cNvPr>
          <p:cNvSpPr>
            <a:spLocks xmlns:a="http://schemas.openxmlformats.org/drawingml/2006/main" noGrp="1"/>
          </p:cNvSpPr>
          <p:nvPr/>
        </p:nvSpPr>
        <p:spPr>
          <a:xfrm xmlns:a="http://schemas.openxmlformats.org/drawingml/2006/main">
            <a:off x="1257300" y="419100"/>
            <a:ext cx="666750" cy="47625"/>
          </a:xfrm>
          <a:prstGeom xmlns:a="http://schemas.openxmlformats.org/drawingml/2006/main" prst="rect">
            <a:avLst/>
          </a:prstGeom>
          <a:solidFill xmlns:a="http://schemas.openxmlformats.org/drawingml/2006/main">
            <a:srgbClr val="18B8C8"/>
          </a:solidFill>
          <a:ln xmlns:a="http://schemas.openxmlformats.org/drawingml/2006/main" w="0">
            <a:solidFill>
              <a:srgbClr val="18B8C8"/>
            </a:solidFill>
            <a:prstDash val="solid"/>
          </a:ln>
        </p:spPr>
      </p:sp>
      <p:sp>
        <p:nvSpPr>
          <p:cNvPr id="3" name="">
            <a:extLst xmlns:a="http://schemas.openxmlformats.org/drawingml/2006/main">
              <a:ext uri="{FF2B5EF4-FFF2-40B4-BE49-F238E27FC236}">
                <a16:creationId xmlns:a16="http://schemas.microsoft.com/office/drawing/2014/main" id="{C1CB780A-1014-4ADC-B01B-E8020AB297E9}"/>
              </a:ext>
            </a:extLst>
          </p:cNvPr>
          <p:cNvSpPr>
            <a:spLocks xmlns:a="http://schemas.openxmlformats.org/drawingml/2006/main" noGrp="1"/>
          </p:cNvSpPr>
          <p:nvPr/>
        </p:nvSpPr>
        <p:spPr>
          <a:xfrm xmlns:a="http://schemas.openxmlformats.org/drawingml/2006/main">
            <a:off x="533400" y="5905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617088"/>
                </a:solidFill>
              </a:defRPr>
            </a:pPr>
            <a:r>
              <a:rPr sz="975" b="1">
                <a:solidFill>
                  <a:srgbClr val="617088"/>
                </a:solidFill>
              </a:rPr>
              <a:t>CUSTOMER PAIN</a:t>
            </a:r>
          </a:p>
        </p:txBody>
      </p:sp>
      <p:sp>
        <p:nvSpPr>
          <p:cNvPr id="4" name="">
            <a:extLst xmlns:a="http://schemas.openxmlformats.org/drawingml/2006/main">
              <a:ext uri="{FF2B5EF4-FFF2-40B4-BE49-F238E27FC236}">
                <a16:creationId xmlns:a16="http://schemas.microsoft.com/office/drawing/2014/main" id="{6EA882C6-949A-43A4-B781-B271EFA7961B}"/>
              </a:ext>
            </a:extLst>
          </p:cNvPr>
          <p:cNvSpPr>
            <a:spLocks xmlns:a="http://schemas.openxmlformats.org/drawingml/2006/main" noGrp="1"/>
          </p:cNvSpPr>
          <p:nvPr/>
        </p:nvSpPr>
        <p:spPr>
          <a:xfrm xmlns:a="http://schemas.openxmlformats.org/drawingml/2006/main">
            <a:off x="533400" y="857250"/>
            <a:ext cx="819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7162B"/>
                </a:solidFill>
              </a:defRPr>
            </a:pPr>
            <a:r>
              <a:rPr sz="3000" b="1">
                <a:solidFill>
                  <a:srgbClr val="07162B"/>
                </a:solidFill>
              </a:rPr>
              <a:t>AIS sees the failure, not the grid context</a:t>
            </a:r>
          </a:p>
        </p:txBody>
      </p:sp>
      <p:sp>
        <p:nvSpPr>
          <p:cNvPr id="5" name="">
            <a:extLst xmlns:a="http://schemas.openxmlformats.org/drawingml/2006/main">
              <a:ext uri="{FF2B5EF4-FFF2-40B4-BE49-F238E27FC236}">
                <a16:creationId xmlns:a16="http://schemas.microsoft.com/office/drawing/2014/main" id="{81A9F2C2-9253-41E3-91C3-2624E3A30E83}"/>
              </a:ext>
            </a:extLst>
          </p:cNvPr>
          <p:cNvSpPr>
            <a:spLocks xmlns:a="http://schemas.openxmlformats.org/drawingml/2006/main" noGrp="1"/>
          </p:cNvSpPr>
          <p:nvPr/>
        </p:nvSpPr>
        <p:spPr>
          <a:xfrm xmlns:a="http://schemas.openxmlformats.org/drawingml/2006/main">
            <a:off x="552450" y="1409700"/>
            <a:ext cx="800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617088"/>
                </a:solidFill>
              </a:defRPr>
            </a:pPr>
            <a:r>
              <a:rPr sz="1500" b="0">
                <a:solidFill>
                  <a:srgbClr val="617088"/>
                </a:solidFill>
              </a:rPr>
              <a:t>Manual coordination creates delay, repeated work, and unnecessary dispatch risk.</a:t>
            </a:r>
          </a:p>
        </p:txBody>
      </p:sp>
      <p:sp>
        <p:nvSpPr>
          <p:cNvPr id="6" name="">
            <a:extLst xmlns:a="http://schemas.openxmlformats.org/drawingml/2006/main">
              <a:ext uri="{FF2B5EF4-FFF2-40B4-BE49-F238E27FC236}">
                <a16:creationId xmlns:a16="http://schemas.microsoft.com/office/drawing/2014/main" id="{005703CB-08D9-47A3-8ED1-D7710E53E73B}"/>
              </a:ext>
            </a:extLst>
          </p:cNvPr>
          <p:cNvSpPr>
            <a:spLocks xmlns:a="http://schemas.openxmlformats.org/drawingml/2006/main" noGrp="1"/>
          </p:cNvSpPr>
          <p:nvPr/>
        </p:nvSpPr>
        <p:spPr>
          <a:xfrm xmlns:a="http://schemas.openxmlformats.org/drawingml/2006/main">
            <a:off x="666750" y="2238375"/>
            <a:ext cx="4762500" cy="25717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C67EBA0A-D758-4575-88EE-636DEA3CCE67}"/>
              </a:ext>
            </a:extLst>
          </p:cNvPr>
          <p:cNvSpPr>
            <a:spLocks xmlns:a="http://schemas.openxmlformats.org/drawingml/2006/main" noGrp="1"/>
          </p:cNvSpPr>
          <p:nvPr/>
        </p:nvSpPr>
        <p:spPr>
          <a:xfrm xmlns:a="http://schemas.openxmlformats.org/drawingml/2006/main">
            <a:off x="666750" y="2238375"/>
            <a:ext cx="66675" cy="2571750"/>
          </a:xfrm>
          <a:prstGeom xmlns:a="http://schemas.openxmlformats.org/drawingml/2006/main" prst="rect">
            <a:avLst/>
          </a:prstGeom>
          <a:solidFill xmlns:a="http://schemas.openxmlformats.org/drawingml/2006/main">
            <a:srgbClr val="F7B84B"/>
          </a:solidFill>
          <a:ln xmlns:a="http://schemas.openxmlformats.org/drawingml/2006/main" w="0">
            <a:solidFill>
              <a:srgbClr val="F7B84B"/>
            </a:solidFill>
            <a:prstDash val="solid"/>
          </a:ln>
        </p:spPr>
      </p:sp>
      <p:sp>
        <p:nvSpPr>
          <p:cNvPr id="8" name="">
            <a:extLst xmlns:a="http://schemas.openxmlformats.org/drawingml/2006/main">
              <a:ext uri="{FF2B5EF4-FFF2-40B4-BE49-F238E27FC236}">
                <a16:creationId xmlns:a16="http://schemas.microsoft.com/office/drawing/2014/main" id="{FAF92BD8-A4F7-4BA4-A83A-1F3BC18B4D2A}"/>
              </a:ext>
            </a:extLst>
          </p:cNvPr>
          <p:cNvSpPr>
            <a:spLocks xmlns:a="http://schemas.openxmlformats.org/drawingml/2006/main" noGrp="1"/>
          </p:cNvSpPr>
          <p:nvPr/>
        </p:nvSpPr>
        <p:spPr>
          <a:xfrm xmlns:a="http://schemas.openxmlformats.org/drawingml/2006/main">
            <a:off x="895350" y="2428875"/>
            <a:ext cx="434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7162B"/>
                </a:solidFill>
              </a:defRPr>
            </a:pPr>
            <a:r>
              <a:rPr sz="1800" b="1">
                <a:solidFill>
                  <a:srgbClr val="07162B"/>
                </a:solidFill>
              </a:rPr>
              <a:t>Old workaround</a:t>
            </a:r>
          </a:p>
        </p:txBody>
      </p:sp>
      <p:sp>
        <p:nvSpPr>
          <p:cNvPr id="9" name="">
            <a:extLst xmlns:a="http://schemas.openxmlformats.org/drawingml/2006/main">
              <a:ext uri="{FF2B5EF4-FFF2-40B4-BE49-F238E27FC236}">
                <a16:creationId xmlns:a16="http://schemas.microsoft.com/office/drawing/2014/main" id="{6655B9EA-4870-4446-92CB-2128F4525B00}"/>
              </a:ext>
            </a:extLst>
          </p:cNvPr>
          <p:cNvSpPr>
            <a:spLocks xmlns:a="http://schemas.openxmlformats.org/drawingml/2006/main" noGrp="1"/>
          </p:cNvSpPr>
          <p:nvPr/>
        </p:nvSpPr>
        <p:spPr>
          <a:xfrm xmlns:a="http://schemas.openxmlformats.org/drawingml/2006/main">
            <a:off x="895350" y="2828925"/>
            <a:ext cx="43434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233044"/>
                </a:solidFill>
              </a:defRPr>
            </a:pPr>
            <a:r>
              <a:rPr sz="1350" b="0">
                <a:solidFill>
                  <a:srgbClr val="233044"/>
                </a:solidFill>
              </a:rPr>
              <a:t>Phone calls</a:t>
            </a:r>
          </a:p>
          <a:p xmlns:a="http://schemas.openxmlformats.org/drawingml/2006/main">
            <a:pPr>
              <a:defRPr sz="1350" b="0">
                <a:solidFill>
                  <a:srgbClr val="233044"/>
                </a:solidFill>
              </a:defRPr>
            </a:pPr>
            <a:r>
              <a:rPr sz="1350" b="0">
                <a:solidFill>
                  <a:srgbClr val="233044"/>
                </a:solidFill>
              </a:rPr>
              <a:t>Chat messages</a:t>
            </a:r>
          </a:p>
          <a:p xmlns:a="http://schemas.openxmlformats.org/drawingml/2006/main">
            <a:pPr>
              <a:defRPr sz="1350" b="0">
                <a:solidFill>
                  <a:srgbClr val="233044"/>
                </a:solidFill>
              </a:defRPr>
            </a:pPr>
            <a:r>
              <a:rPr sz="1350" b="0">
                <a:solidFill>
                  <a:srgbClr val="233044"/>
                </a:solidFill>
              </a:rPr>
              <a:t>Manual checking</a:t>
            </a:r>
          </a:p>
          <a:p xmlns:a="http://schemas.openxmlformats.org/drawingml/2006/main">
            <a:pPr>
              <a:defRPr sz="1350" b="0">
                <a:solidFill>
                  <a:srgbClr val="233044"/>
                </a:solidFill>
              </a:defRPr>
            </a:pPr>
            <a:r>
              <a:rPr sz="1350" b="0">
                <a:solidFill>
                  <a:srgbClr val="233044"/>
                </a:solidFill>
              </a:rPr>
              <a:t>Repeated details</a:t>
            </a:r>
          </a:p>
        </p:txBody>
      </p:sp>
      <p:sp>
        <p:nvSpPr>
          <p:cNvPr id="10" name="">
            <a:extLst xmlns:a="http://schemas.openxmlformats.org/drawingml/2006/main">
              <a:ext uri="{FF2B5EF4-FFF2-40B4-BE49-F238E27FC236}">
                <a16:creationId xmlns:a16="http://schemas.microsoft.com/office/drawing/2014/main" id="{FE3AA72F-A63E-41D2-8208-90558ED0DD30}"/>
              </a:ext>
            </a:extLst>
          </p:cNvPr>
          <p:cNvSpPr>
            <a:spLocks xmlns:a="http://schemas.openxmlformats.org/drawingml/2006/main" noGrp="1"/>
          </p:cNvSpPr>
          <p:nvPr/>
        </p:nvSpPr>
        <p:spPr>
          <a:xfrm xmlns:a="http://schemas.openxmlformats.org/drawingml/2006/main">
            <a:off x="6762750" y="2238375"/>
            <a:ext cx="4762500" cy="25717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4E463BAC-68ED-4346-BC09-FF1A9DF323FB}"/>
              </a:ext>
            </a:extLst>
          </p:cNvPr>
          <p:cNvSpPr>
            <a:spLocks xmlns:a="http://schemas.openxmlformats.org/drawingml/2006/main" noGrp="1"/>
          </p:cNvSpPr>
          <p:nvPr/>
        </p:nvSpPr>
        <p:spPr>
          <a:xfrm xmlns:a="http://schemas.openxmlformats.org/drawingml/2006/main">
            <a:off x="6762750" y="2238375"/>
            <a:ext cx="66675" cy="2571750"/>
          </a:xfrm>
          <a:prstGeom xmlns:a="http://schemas.openxmlformats.org/drawingml/2006/main" prst="rect">
            <a:avLst/>
          </a:prstGeom>
          <a:solidFill xmlns:a="http://schemas.openxmlformats.org/drawingml/2006/main">
            <a:srgbClr val="18B8C8"/>
          </a:solidFill>
          <a:ln xmlns:a="http://schemas.openxmlformats.org/drawingml/2006/main" w="0">
            <a:solidFill>
              <a:srgbClr val="18B8C8"/>
            </a:solidFill>
            <a:prstDash val="solid"/>
          </a:ln>
        </p:spPr>
      </p:sp>
      <p:sp>
        <p:nvSpPr>
          <p:cNvPr id="12" name="">
            <a:extLst xmlns:a="http://schemas.openxmlformats.org/drawingml/2006/main">
              <a:ext uri="{FF2B5EF4-FFF2-40B4-BE49-F238E27FC236}">
                <a16:creationId xmlns:a16="http://schemas.microsoft.com/office/drawing/2014/main" id="{65D257BD-1DAE-47D0-9E80-EAD0CFA147D7}"/>
              </a:ext>
            </a:extLst>
          </p:cNvPr>
          <p:cNvSpPr>
            <a:spLocks xmlns:a="http://schemas.openxmlformats.org/drawingml/2006/main" noGrp="1"/>
          </p:cNvSpPr>
          <p:nvPr/>
        </p:nvSpPr>
        <p:spPr>
          <a:xfrm xmlns:a="http://schemas.openxmlformats.org/drawingml/2006/main">
            <a:off x="6991350" y="2428875"/>
            <a:ext cx="434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7162B"/>
                </a:solidFill>
              </a:defRPr>
            </a:pPr>
            <a:r>
              <a:rPr sz="1800" b="1">
                <a:solidFill>
                  <a:srgbClr val="07162B"/>
                </a:solidFill>
              </a:rPr>
              <a:t>New operating model</a:t>
            </a:r>
          </a:p>
        </p:txBody>
      </p:sp>
      <p:sp>
        <p:nvSpPr>
          <p:cNvPr id="13" name="">
            <a:extLst xmlns:a="http://schemas.openxmlformats.org/drawingml/2006/main">
              <a:ext uri="{FF2B5EF4-FFF2-40B4-BE49-F238E27FC236}">
                <a16:creationId xmlns:a16="http://schemas.microsoft.com/office/drawing/2014/main" id="{BD33F0D4-ED8F-4811-BD82-5657FB40C167}"/>
              </a:ext>
            </a:extLst>
          </p:cNvPr>
          <p:cNvSpPr>
            <a:spLocks xmlns:a="http://schemas.openxmlformats.org/drawingml/2006/main" noGrp="1"/>
          </p:cNvSpPr>
          <p:nvPr/>
        </p:nvSpPr>
        <p:spPr>
          <a:xfrm xmlns:a="http://schemas.openxmlformats.org/drawingml/2006/main">
            <a:off x="6991350" y="2828925"/>
            <a:ext cx="43434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233044"/>
                </a:solidFill>
              </a:defRPr>
            </a:pPr>
            <a:r>
              <a:rPr sz="1350" b="0">
                <a:solidFill>
                  <a:srgbClr val="233044"/>
                </a:solidFill>
              </a:rPr>
              <a:t>API request</a:t>
            </a:r>
          </a:p>
          <a:p xmlns:a="http://schemas.openxmlformats.org/drawingml/2006/main">
            <a:pPr>
              <a:defRPr sz="1350" b="0">
                <a:solidFill>
                  <a:srgbClr val="233044"/>
                </a:solidFill>
              </a:defRPr>
            </a:pPr>
            <a:r>
              <a:rPr sz="1350" b="0">
                <a:solidFill>
                  <a:srgbClr val="233044"/>
                </a:solidFill>
              </a:rPr>
              <a:t>request_id</a:t>
            </a:r>
          </a:p>
          <a:p xmlns:a="http://schemas.openxmlformats.org/drawingml/2006/main">
            <a:pPr>
              <a:defRPr sz="1350" b="0">
                <a:solidFill>
                  <a:srgbClr val="233044"/>
                </a:solidFill>
              </a:defRPr>
            </a:pPr>
            <a:r>
              <a:rPr sz="1350" b="0">
                <a:solidFill>
                  <a:srgbClr val="233044"/>
                </a:solidFill>
              </a:rPr>
              <a:t>Evidence gate</a:t>
            </a:r>
          </a:p>
          <a:p xmlns:a="http://schemas.openxmlformats.org/drawingml/2006/main">
            <a:pPr>
              <a:defRPr sz="1350" b="0">
                <a:solidFill>
                  <a:srgbClr val="233044"/>
                </a:solidFill>
              </a:defRPr>
            </a:pPr>
            <a:r>
              <a:rPr sz="1350" b="0">
                <a:solidFill>
                  <a:srgbClr val="233044"/>
                </a:solidFill>
              </a:rPr>
              <a:t>Audit trail</a:t>
            </a:r>
          </a:p>
        </p:txBody>
      </p:sp>
      <p:sp>
        <p:nvSpPr>
          <p:cNvPr id="14" name="">
            <a:extLst xmlns:a="http://schemas.openxmlformats.org/drawingml/2006/main">
              <a:ext uri="{FF2B5EF4-FFF2-40B4-BE49-F238E27FC236}">
                <a16:creationId xmlns:a16="http://schemas.microsoft.com/office/drawing/2014/main" id="{A4526890-4ED8-476E-B4B2-F4EDA1C3F0A8}"/>
              </a:ext>
            </a:extLst>
          </p:cNvPr>
          <p:cNvSpPr>
            <a:spLocks xmlns:a="http://schemas.openxmlformats.org/drawingml/2006/main" noGrp="1"/>
          </p:cNvSpPr>
          <p:nvPr/>
        </p:nvSpPr>
        <p:spPr>
          <a:xfrm xmlns:a="http://schemas.openxmlformats.org/drawingml/2006/main">
            <a:off x="5743575" y="3190875"/>
            <a:ext cx="685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7B57C8"/>
                </a:solidFill>
              </a:defRPr>
            </a:pPr>
            <a:r>
              <a:rPr sz="3900" b="1">
                <a:solidFill>
                  <a:srgbClr val="7B57C8"/>
                </a:solidFill>
              </a:rPr>
              <a:t>-&gt;</a:t>
            </a:r>
          </a:p>
        </p:txBody>
      </p:sp>
      <p:sp>
        <p:nvSpPr>
          <p:cNvPr id="15" name="">
            <a:extLst xmlns:a="http://schemas.openxmlformats.org/drawingml/2006/main">
              <a:ext uri="{FF2B5EF4-FFF2-40B4-BE49-F238E27FC236}">
                <a16:creationId xmlns:a16="http://schemas.microsoft.com/office/drawing/2014/main" id="{ABF35CD9-8B32-44FF-A84F-02631113C3D1}"/>
              </a:ext>
            </a:extLst>
          </p:cNvPr>
          <p:cNvSpPr>
            <a:spLocks xmlns:a="http://schemas.openxmlformats.org/drawingml/2006/main" noGrp="1"/>
          </p:cNvSpPr>
          <p:nvPr/>
        </p:nvSpPr>
        <p:spPr>
          <a:xfrm xmlns:a="http://schemas.openxmlformats.org/drawingml/2006/main">
            <a:off x="1790700" y="5286375"/>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7162B"/>
                </a:solidFill>
              </a:defRPr>
            </a:pPr>
            <a:r>
              <a:rPr sz="1800" b="1">
                <a:solidFill>
                  <a:srgbClr val="07162B"/>
                </a:solidFill>
              </a:rPr>
              <a:t>Goal: change a phone-call chain into a governed evidence loop.</a:t>
            </a:r>
          </a:p>
        </p:txBody>
      </p:sp>
      <p:sp>
        <p:nvSpPr>
          <p:cNvPr id="16" name="">
            <a:extLst xmlns:a="http://schemas.openxmlformats.org/drawingml/2006/main">
              <a:ext uri="{FF2B5EF4-FFF2-40B4-BE49-F238E27FC236}">
                <a16:creationId xmlns:a16="http://schemas.microsoft.com/office/drawing/2014/main" id="{8B32E913-DB5E-4D2A-B7EF-C960B0B19DD8}"/>
              </a:ext>
            </a:extLst>
          </p:cNvPr>
          <p:cNvSpPr>
            <a:spLocks xmlns:a="http://schemas.openxmlformats.org/drawingml/2006/main" noGrp="1"/>
          </p:cNvSpPr>
          <p:nvPr/>
        </p:nvSpPr>
        <p:spPr>
          <a:xfrm xmlns:a="http://schemas.openxmlformats.org/drawingml/2006/main">
            <a:off x="3381375" y="6305550"/>
            <a:ext cx="5429250" cy="323850"/>
          </a:xfrm>
          <a:prstGeom xmlns:a="http://schemas.openxmlformats.org/drawingml/2006/main" prst="roundRect">
            <a:avLst>
              <a:gd name="adj" fmla="val 23529"/>
            </a:avLst>
          </a:prstGeom>
          <a:solidFill xmlns:a="http://schemas.openxmlformats.org/drawingml/2006/main">
            <a:srgbClr val="F1F6FC"/>
          </a:solidFill>
          <a:ln xmlns:a="http://schemas.openxmlformats.org/drawingml/2006/main" w="9525">
            <a:solidFill>
              <a:srgbClr val="CAD6E6"/>
            </a:solidFill>
            <a:prstDash val="solid"/>
          </a:ln>
        </p:spPr>
      </p:sp>
      <p:sp>
        <p:nvSpPr>
          <p:cNvPr id="17" name="">
            <a:extLst xmlns:a="http://schemas.openxmlformats.org/drawingml/2006/main">
              <a:ext uri="{FF2B5EF4-FFF2-40B4-BE49-F238E27FC236}">
                <a16:creationId xmlns:a16="http://schemas.microsoft.com/office/drawing/2014/main" id="{D8CBFCF0-3F2D-4809-9E2A-EBE728CE966D}"/>
              </a:ext>
            </a:extLst>
          </p:cNvPr>
          <p:cNvSpPr>
            <a:spLocks xmlns:a="http://schemas.openxmlformats.org/drawingml/2006/main" noGrp="1"/>
          </p:cNvSpPr>
          <p:nvPr/>
        </p:nvSpPr>
        <p:spPr>
          <a:xfrm xmlns:a="http://schemas.openxmlformats.org/drawingml/2006/main">
            <a:off x="3543300" y="6362700"/>
            <a:ext cx="5105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24334A"/>
                </a:solidFill>
              </a:defRPr>
            </a:pPr>
            <a:r>
              <a:rPr sz="975" b="1">
                <a:solidFill>
                  <a:srgbClr val="24334A"/>
                </a:solidFill>
              </a:rPr>
              <a:t>mode = shadow | production_send = blocked | Auto ETR not customer-facing yet</a:t>
            </a:r>
          </a:p>
        </p:txBody>
      </p:sp>
    </p:spTree>
    <p:extLst>
      <p:ext uri="{BB962C8B-B14F-4D97-AF65-F5344CB8AC3E}">
        <p14:creationId xmlns:p14="http://schemas.microsoft.com/office/powerpoint/2010/main" val="14516786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955B170-2958-4225-9042-2AECDFAD1A43}"/>
              </a:ext>
            </a:extLst>
          </p:cNvPr>
          <p:cNvSpPr>
            <a:spLocks xmlns:a="http://schemas.openxmlformats.org/drawingml/2006/main" noGrp="1"/>
          </p:cNvSpPr>
          <p:nvPr/>
        </p:nvSpPr>
        <p:spPr>
          <a:xfrm xmlns:a="http://schemas.openxmlformats.org/drawingml/2006/main">
            <a:off x="533400" y="419100"/>
            <a:ext cx="666750" cy="47625"/>
          </a:xfrm>
          <a:prstGeom xmlns:a="http://schemas.openxmlformats.org/drawingml/2006/main" prst="rect">
            <a:avLst/>
          </a:prstGeom>
          <a:solidFill xmlns:a="http://schemas.openxmlformats.org/drawingml/2006/main">
            <a:srgbClr val="7B57C8"/>
          </a:solidFill>
          <a:ln xmlns:a="http://schemas.openxmlformats.org/drawingml/2006/main" w="0">
            <a:solidFill>
              <a:srgbClr val="7B57C8"/>
            </a:solidFill>
            <a:prstDash val="solid"/>
          </a:ln>
        </p:spPr>
      </p:sp>
      <p:sp>
        <p:nvSpPr>
          <p:cNvPr id="2" name="">
            <a:extLst xmlns:a="http://schemas.openxmlformats.org/drawingml/2006/main">
              <a:ext uri="{FF2B5EF4-FFF2-40B4-BE49-F238E27FC236}">
                <a16:creationId xmlns:a16="http://schemas.microsoft.com/office/drawing/2014/main" id="{B767D0BF-8E8F-49E4-9A9C-B5A3779CE5FE}"/>
              </a:ext>
            </a:extLst>
          </p:cNvPr>
          <p:cNvSpPr>
            <a:spLocks xmlns:a="http://schemas.openxmlformats.org/drawingml/2006/main" noGrp="1"/>
          </p:cNvSpPr>
          <p:nvPr/>
        </p:nvSpPr>
        <p:spPr>
          <a:xfrm xmlns:a="http://schemas.openxmlformats.org/drawingml/2006/main">
            <a:off x="1257300" y="419100"/>
            <a:ext cx="666750" cy="47625"/>
          </a:xfrm>
          <a:prstGeom xmlns:a="http://schemas.openxmlformats.org/drawingml/2006/main" prst="rect">
            <a:avLst/>
          </a:prstGeom>
          <a:solidFill xmlns:a="http://schemas.openxmlformats.org/drawingml/2006/main">
            <a:srgbClr val="18B8C8"/>
          </a:solidFill>
          <a:ln xmlns:a="http://schemas.openxmlformats.org/drawingml/2006/main" w="0">
            <a:solidFill>
              <a:srgbClr val="18B8C8"/>
            </a:solidFill>
            <a:prstDash val="solid"/>
          </a:ln>
        </p:spPr>
      </p:sp>
      <p:sp>
        <p:nvSpPr>
          <p:cNvPr id="3" name="">
            <a:extLst xmlns:a="http://schemas.openxmlformats.org/drawingml/2006/main">
              <a:ext uri="{FF2B5EF4-FFF2-40B4-BE49-F238E27FC236}">
                <a16:creationId xmlns:a16="http://schemas.microsoft.com/office/drawing/2014/main" id="{FE58A586-7E80-48AC-85C7-1C8A3DC6445E}"/>
              </a:ext>
            </a:extLst>
          </p:cNvPr>
          <p:cNvSpPr>
            <a:spLocks xmlns:a="http://schemas.openxmlformats.org/drawingml/2006/main" noGrp="1"/>
          </p:cNvSpPr>
          <p:nvPr/>
        </p:nvSpPr>
        <p:spPr>
          <a:xfrm xmlns:a="http://schemas.openxmlformats.org/drawingml/2006/main">
            <a:off x="533400" y="5905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617088"/>
                </a:solidFill>
              </a:defRPr>
            </a:pPr>
            <a:r>
              <a:rPr sz="975" b="1">
                <a:solidFill>
                  <a:srgbClr val="617088"/>
                </a:solidFill>
              </a:rPr>
              <a:t>EXECUTIVE LENS</a:t>
            </a:r>
          </a:p>
        </p:txBody>
      </p:sp>
      <p:sp>
        <p:nvSpPr>
          <p:cNvPr id="4" name="">
            <a:extLst xmlns:a="http://schemas.openxmlformats.org/drawingml/2006/main">
              <a:ext uri="{FF2B5EF4-FFF2-40B4-BE49-F238E27FC236}">
                <a16:creationId xmlns:a16="http://schemas.microsoft.com/office/drawing/2014/main" id="{6B65BA1E-115E-4FCC-A32A-80537C8290F2}"/>
              </a:ext>
            </a:extLst>
          </p:cNvPr>
          <p:cNvSpPr>
            <a:spLocks xmlns:a="http://schemas.openxmlformats.org/drawingml/2006/main" noGrp="1"/>
          </p:cNvSpPr>
          <p:nvPr/>
        </p:nvSpPr>
        <p:spPr>
          <a:xfrm xmlns:a="http://schemas.openxmlformats.org/drawingml/2006/main">
            <a:off x="533400" y="857250"/>
            <a:ext cx="819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7162B"/>
                </a:solidFill>
              </a:defRPr>
            </a:pPr>
            <a:r>
              <a:rPr sz="3000" b="1">
                <a:solidFill>
                  <a:srgbClr val="07162B"/>
                </a:solidFill>
              </a:rPr>
              <a:t>The blindspot is large enough to be strategic</a:t>
            </a:r>
          </a:p>
        </p:txBody>
      </p:sp>
      <p:sp>
        <p:nvSpPr>
          <p:cNvPr id="5" name="">
            <a:extLst xmlns:a="http://schemas.openxmlformats.org/drawingml/2006/main">
              <a:ext uri="{FF2B5EF4-FFF2-40B4-BE49-F238E27FC236}">
                <a16:creationId xmlns:a16="http://schemas.microsoft.com/office/drawing/2014/main" id="{A10E8265-9C3C-44D0-BEA7-F457B81C0733}"/>
              </a:ext>
            </a:extLst>
          </p:cNvPr>
          <p:cNvSpPr>
            <a:spLocks xmlns:a="http://schemas.openxmlformats.org/drawingml/2006/main" noGrp="1"/>
          </p:cNvSpPr>
          <p:nvPr/>
        </p:nvSpPr>
        <p:spPr>
          <a:xfrm xmlns:a="http://schemas.openxmlformats.org/drawingml/2006/main">
            <a:off x="552450" y="1409700"/>
            <a:ext cx="800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617088"/>
                </a:solidFill>
              </a:defRPr>
            </a:pPr>
            <a:r>
              <a:rPr sz="1500" b="0">
                <a:solidFill>
                  <a:srgbClr val="617088"/>
                </a:solidFill>
              </a:rPr>
              <a:t>These are planning estimates, not audited realized savings.</a:t>
            </a:r>
          </a:p>
        </p:txBody>
      </p:sp>
      <p:sp>
        <p:nvSpPr>
          <p:cNvPr id="6" name="">
            <a:extLst xmlns:a="http://schemas.openxmlformats.org/drawingml/2006/main">
              <a:ext uri="{FF2B5EF4-FFF2-40B4-BE49-F238E27FC236}">
                <a16:creationId xmlns:a16="http://schemas.microsoft.com/office/drawing/2014/main" id="{917E7B86-9B9D-480F-AD24-4B985352B825}"/>
              </a:ext>
            </a:extLst>
          </p:cNvPr>
          <p:cNvSpPr>
            <a:spLocks xmlns:a="http://schemas.openxmlformats.org/drawingml/2006/main" noGrp="1"/>
          </p:cNvSpPr>
          <p:nvPr/>
        </p:nvSpPr>
        <p:spPr>
          <a:xfrm xmlns:a="http://schemas.openxmlformats.org/drawingml/2006/main">
            <a:off x="904875" y="2333625"/>
            <a:ext cx="2428875" cy="2428875"/>
          </a:xfrm>
          <a:prstGeom xmlns:a="http://schemas.openxmlformats.org/drawingml/2006/main" prst="ellipse">
            <a:avLst/>
          </a:prstGeom>
          <a:solidFill xmlns:a="http://schemas.openxmlformats.org/drawingml/2006/main">
            <a:srgbClr val="DFF7FA"/>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D2A7192B-8664-4DC8-AFB9-642A7B4182AB}"/>
              </a:ext>
            </a:extLst>
          </p:cNvPr>
          <p:cNvSpPr>
            <a:spLocks xmlns:a="http://schemas.openxmlformats.org/drawingml/2006/main" noGrp="1"/>
          </p:cNvSpPr>
          <p:nvPr/>
        </p:nvSpPr>
        <p:spPr>
          <a:xfrm xmlns:a="http://schemas.openxmlformats.org/drawingml/2006/main">
            <a:off x="1057275" y="3037999"/>
            <a:ext cx="21240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850" b="1">
                <a:solidFill>
                  <a:srgbClr val="07162B"/>
                </a:solidFill>
              </a:defRPr>
            </a:pPr>
            <a:r>
              <a:rPr sz="2850" b="1">
                <a:solidFill>
                  <a:srgbClr val="07162B"/>
                </a:solidFill>
              </a:rPr>
              <a:t>59,997</a:t>
            </a:r>
          </a:p>
        </p:txBody>
      </p:sp>
      <p:sp>
        <p:nvSpPr>
          <p:cNvPr id="8" name="">
            <a:extLst xmlns:a="http://schemas.openxmlformats.org/drawingml/2006/main">
              <a:ext uri="{FF2B5EF4-FFF2-40B4-BE49-F238E27FC236}">
                <a16:creationId xmlns:a16="http://schemas.microsoft.com/office/drawing/2014/main" id="{4C93AF60-5733-4313-A795-93979C8B8856}"/>
              </a:ext>
            </a:extLst>
          </p:cNvPr>
          <p:cNvSpPr>
            <a:spLocks xmlns:a="http://schemas.openxmlformats.org/drawingml/2006/main" noGrp="1"/>
          </p:cNvSpPr>
          <p:nvPr/>
        </p:nvSpPr>
        <p:spPr>
          <a:xfrm xmlns:a="http://schemas.openxmlformats.org/drawingml/2006/main">
            <a:off x="1076325" y="3839528"/>
            <a:ext cx="20859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07162B"/>
                </a:solidFill>
              </a:defRPr>
            </a:pPr>
            <a:r>
              <a:rPr sz="1275" b="1">
                <a:solidFill>
                  <a:srgbClr val="07162B"/>
                </a:solidFill>
              </a:rPr>
              <a:t>dispatch signals / year</a:t>
            </a:r>
          </a:p>
        </p:txBody>
      </p:sp>
      <p:sp>
        <p:nvSpPr>
          <p:cNvPr id="9" name="">
            <a:extLst xmlns:a="http://schemas.openxmlformats.org/drawingml/2006/main">
              <a:ext uri="{FF2B5EF4-FFF2-40B4-BE49-F238E27FC236}">
                <a16:creationId xmlns:a16="http://schemas.microsoft.com/office/drawing/2014/main" id="{AFAD9E54-4E1F-404C-8D7D-CAFC053F69D7}"/>
              </a:ext>
            </a:extLst>
          </p:cNvPr>
          <p:cNvSpPr>
            <a:spLocks xmlns:a="http://schemas.openxmlformats.org/drawingml/2006/main" noGrp="1"/>
          </p:cNvSpPr>
          <p:nvPr/>
        </p:nvSpPr>
        <p:spPr>
          <a:xfrm xmlns:a="http://schemas.openxmlformats.org/drawingml/2006/main">
            <a:off x="4876800" y="2333625"/>
            <a:ext cx="2428875" cy="2428875"/>
          </a:xfrm>
          <a:prstGeom xmlns:a="http://schemas.openxmlformats.org/drawingml/2006/main" prst="ellipse">
            <a:avLst/>
          </a:prstGeom>
          <a:solidFill xmlns:a="http://schemas.openxmlformats.org/drawingml/2006/main">
            <a:srgbClr val="E8E0FF"/>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69C78822-0CBC-49F5-9F85-306EE036180C}"/>
              </a:ext>
            </a:extLst>
          </p:cNvPr>
          <p:cNvSpPr>
            <a:spLocks xmlns:a="http://schemas.openxmlformats.org/drawingml/2006/main" noGrp="1"/>
          </p:cNvSpPr>
          <p:nvPr/>
        </p:nvSpPr>
        <p:spPr>
          <a:xfrm xmlns:a="http://schemas.openxmlformats.org/drawingml/2006/main">
            <a:off x="5029200" y="3037999"/>
            <a:ext cx="21240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850" b="1">
                <a:solidFill>
                  <a:srgbClr val="07162B"/>
                </a:solidFill>
              </a:defRPr>
            </a:pPr>
            <a:r>
              <a:rPr sz="2850" b="1">
                <a:solidFill>
                  <a:srgbClr val="07162B"/>
                </a:solidFill>
              </a:rPr>
              <a:t>17.8M</a:t>
            </a:r>
          </a:p>
        </p:txBody>
      </p:sp>
      <p:sp>
        <p:nvSpPr>
          <p:cNvPr id="11" name="">
            <a:extLst xmlns:a="http://schemas.openxmlformats.org/drawingml/2006/main">
              <a:ext uri="{FF2B5EF4-FFF2-40B4-BE49-F238E27FC236}">
                <a16:creationId xmlns:a16="http://schemas.microsoft.com/office/drawing/2014/main" id="{314852DA-A6D2-4C7A-9360-649FD7197720}"/>
              </a:ext>
            </a:extLst>
          </p:cNvPr>
          <p:cNvSpPr>
            <a:spLocks xmlns:a="http://schemas.openxmlformats.org/drawingml/2006/main" noGrp="1"/>
          </p:cNvSpPr>
          <p:nvPr/>
        </p:nvSpPr>
        <p:spPr>
          <a:xfrm xmlns:a="http://schemas.openxmlformats.org/drawingml/2006/main">
            <a:off x="5048250" y="3839528"/>
            <a:ext cx="20859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07162B"/>
                </a:solidFill>
              </a:defRPr>
            </a:pPr>
            <a:r>
              <a:rPr sz="1275" b="1">
                <a:solidFill>
                  <a:srgbClr val="07162B"/>
                </a:solidFill>
              </a:rPr>
              <a:t>THB / year downtime-risk lens</a:t>
            </a:r>
          </a:p>
        </p:txBody>
      </p:sp>
      <p:sp>
        <p:nvSpPr>
          <p:cNvPr id="12" name="">
            <a:extLst xmlns:a="http://schemas.openxmlformats.org/drawingml/2006/main">
              <a:ext uri="{FF2B5EF4-FFF2-40B4-BE49-F238E27FC236}">
                <a16:creationId xmlns:a16="http://schemas.microsoft.com/office/drawing/2014/main" id="{EF97EA4B-DD82-4B10-A2FB-85EA9ACCC8B2}"/>
              </a:ext>
            </a:extLst>
          </p:cNvPr>
          <p:cNvSpPr>
            <a:spLocks xmlns:a="http://schemas.openxmlformats.org/drawingml/2006/main" noGrp="1"/>
          </p:cNvSpPr>
          <p:nvPr/>
        </p:nvSpPr>
        <p:spPr>
          <a:xfrm xmlns:a="http://schemas.openxmlformats.org/drawingml/2006/main">
            <a:off x="8858250" y="2333625"/>
            <a:ext cx="2428875" cy="2428875"/>
          </a:xfrm>
          <a:prstGeom xmlns:a="http://schemas.openxmlformats.org/drawingml/2006/main" prst="ellipse">
            <a:avLst/>
          </a:prstGeom>
          <a:solidFill xmlns:a="http://schemas.openxmlformats.org/drawingml/2006/main">
            <a:srgbClr val="FFF2CF"/>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45CDBC75-4669-4221-B891-1AD6FC650B64}"/>
              </a:ext>
            </a:extLst>
          </p:cNvPr>
          <p:cNvSpPr>
            <a:spLocks xmlns:a="http://schemas.openxmlformats.org/drawingml/2006/main" noGrp="1"/>
          </p:cNvSpPr>
          <p:nvPr/>
        </p:nvSpPr>
        <p:spPr>
          <a:xfrm xmlns:a="http://schemas.openxmlformats.org/drawingml/2006/main">
            <a:off x="9010650" y="3037999"/>
            <a:ext cx="21240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850" b="1">
                <a:solidFill>
                  <a:srgbClr val="07162B"/>
                </a:solidFill>
              </a:defRPr>
            </a:pPr>
            <a:r>
              <a:rPr sz="2850" b="1">
                <a:solidFill>
                  <a:srgbClr val="07162B"/>
                </a:solidFill>
              </a:rPr>
              <a:t>~48M</a:t>
            </a:r>
          </a:p>
        </p:txBody>
      </p:sp>
      <p:sp>
        <p:nvSpPr>
          <p:cNvPr id="14" name="">
            <a:extLst xmlns:a="http://schemas.openxmlformats.org/drawingml/2006/main">
              <a:ext uri="{FF2B5EF4-FFF2-40B4-BE49-F238E27FC236}">
                <a16:creationId xmlns:a16="http://schemas.microsoft.com/office/drawing/2014/main" id="{BEC2BC8B-1A86-410C-9E06-BFCAB5C735FB}"/>
              </a:ext>
            </a:extLst>
          </p:cNvPr>
          <p:cNvSpPr>
            <a:spLocks xmlns:a="http://schemas.openxmlformats.org/drawingml/2006/main" noGrp="1"/>
          </p:cNvSpPr>
          <p:nvPr/>
        </p:nvSpPr>
        <p:spPr>
          <a:xfrm xmlns:a="http://schemas.openxmlformats.org/drawingml/2006/main">
            <a:off x="9029700" y="3839528"/>
            <a:ext cx="20859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07162B"/>
                </a:solidFill>
              </a:defRPr>
            </a:pPr>
            <a:r>
              <a:rPr sz="1275" b="1">
                <a:solidFill>
                  <a:srgbClr val="07162B"/>
                </a:solidFill>
              </a:rPr>
              <a:t>THB / year strategic opportunity</a:t>
            </a:r>
          </a:p>
        </p:txBody>
      </p:sp>
      <p:sp>
        <p:nvSpPr>
          <p:cNvPr id="15" name="">
            <a:extLst xmlns:a="http://schemas.openxmlformats.org/drawingml/2006/main">
              <a:ext uri="{FF2B5EF4-FFF2-40B4-BE49-F238E27FC236}">
                <a16:creationId xmlns:a16="http://schemas.microsoft.com/office/drawing/2014/main" id="{2968432F-43E9-4DCB-A432-A8A84D95BA89}"/>
              </a:ext>
            </a:extLst>
          </p:cNvPr>
          <p:cNvSpPr>
            <a:spLocks xmlns:a="http://schemas.openxmlformats.org/drawingml/2006/main" noGrp="1"/>
          </p:cNvSpPr>
          <p:nvPr/>
        </p:nvSpPr>
        <p:spPr>
          <a:xfrm xmlns:a="http://schemas.openxmlformats.org/drawingml/2006/main">
            <a:off x="1762125" y="5286375"/>
            <a:ext cx="8667750" cy="495300"/>
          </a:xfrm>
          <a:prstGeom xmlns:a="http://schemas.openxmlformats.org/drawingml/2006/main" prst="roundRect">
            <a:avLst>
              <a:gd name="adj" fmla="val 15385"/>
            </a:avLst>
          </a:prstGeom>
          <a:solidFill xmlns:a="http://schemas.openxmlformats.org/drawingml/2006/main">
            <a:srgbClr val="F8FBFF"/>
          </a:solidFill>
          <a:ln xmlns:a="http://schemas.openxmlformats.org/drawingml/2006/main" w="9525">
            <a:solidFill>
              <a:srgbClr val="D9E3F0"/>
            </a:solidFill>
            <a:prstDash val="solid"/>
          </a:ln>
        </p:spPr>
      </p:sp>
      <p:sp>
        <p:nvSpPr>
          <p:cNvPr id="16" name="">
            <a:extLst xmlns:a="http://schemas.openxmlformats.org/drawingml/2006/main">
              <a:ext uri="{FF2B5EF4-FFF2-40B4-BE49-F238E27FC236}">
                <a16:creationId xmlns:a16="http://schemas.microsoft.com/office/drawing/2014/main" id="{99A4DD5D-2191-4B86-BA0A-C8B4D704198F}"/>
              </a:ext>
            </a:extLst>
          </p:cNvPr>
          <p:cNvSpPr>
            <a:spLocks xmlns:a="http://schemas.openxmlformats.org/drawingml/2006/main" noGrp="1"/>
          </p:cNvSpPr>
          <p:nvPr/>
        </p:nvSpPr>
        <p:spPr>
          <a:xfrm xmlns:a="http://schemas.openxmlformats.org/drawingml/2006/main">
            <a:off x="1952625" y="5438775"/>
            <a:ext cx="828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24334A"/>
                </a:solidFill>
              </a:defRPr>
            </a:pPr>
            <a:r>
              <a:rPr sz="1425" b="1">
                <a:solidFill>
                  <a:srgbClr val="24334A"/>
                </a:solidFill>
              </a:rPr>
              <a:t>Strategic estimate | pending finance-owner validation | not realized saving yet</a:t>
            </a:r>
          </a:p>
        </p:txBody>
      </p:sp>
      <p:sp>
        <p:nvSpPr>
          <p:cNvPr id="17" name="">
            <a:extLst xmlns:a="http://schemas.openxmlformats.org/drawingml/2006/main">
              <a:ext uri="{FF2B5EF4-FFF2-40B4-BE49-F238E27FC236}">
                <a16:creationId xmlns:a16="http://schemas.microsoft.com/office/drawing/2014/main" id="{C5F99FCB-5B74-47E5-8EF7-6EC5AC8D8E50}"/>
              </a:ext>
            </a:extLst>
          </p:cNvPr>
          <p:cNvSpPr>
            <a:spLocks xmlns:a="http://schemas.openxmlformats.org/drawingml/2006/main" noGrp="1"/>
          </p:cNvSpPr>
          <p:nvPr/>
        </p:nvSpPr>
        <p:spPr>
          <a:xfrm xmlns:a="http://schemas.openxmlformats.org/drawingml/2006/main">
            <a:off x="3381375" y="6305550"/>
            <a:ext cx="5429250" cy="323850"/>
          </a:xfrm>
          <a:prstGeom xmlns:a="http://schemas.openxmlformats.org/drawingml/2006/main" prst="roundRect">
            <a:avLst>
              <a:gd name="adj" fmla="val 23529"/>
            </a:avLst>
          </a:prstGeom>
          <a:solidFill xmlns:a="http://schemas.openxmlformats.org/drawingml/2006/main">
            <a:srgbClr val="F1F6FC"/>
          </a:solidFill>
          <a:ln xmlns:a="http://schemas.openxmlformats.org/drawingml/2006/main" w="9525">
            <a:solidFill>
              <a:srgbClr val="CAD6E6"/>
            </a:solidFill>
            <a:prstDash val="solid"/>
          </a:ln>
        </p:spPr>
      </p:sp>
      <p:sp>
        <p:nvSpPr>
          <p:cNvPr id="18" name="">
            <a:extLst xmlns:a="http://schemas.openxmlformats.org/drawingml/2006/main">
              <a:ext uri="{FF2B5EF4-FFF2-40B4-BE49-F238E27FC236}">
                <a16:creationId xmlns:a16="http://schemas.microsoft.com/office/drawing/2014/main" id="{36C19FDA-8B38-4418-9E82-F12E7CFBC9C4}"/>
              </a:ext>
            </a:extLst>
          </p:cNvPr>
          <p:cNvSpPr>
            <a:spLocks xmlns:a="http://schemas.openxmlformats.org/drawingml/2006/main" noGrp="1"/>
          </p:cNvSpPr>
          <p:nvPr/>
        </p:nvSpPr>
        <p:spPr>
          <a:xfrm xmlns:a="http://schemas.openxmlformats.org/drawingml/2006/main">
            <a:off x="3543300" y="6362700"/>
            <a:ext cx="5105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24334A"/>
                </a:solidFill>
              </a:defRPr>
            </a:pPr>
            <a:r>
              <a:rPr sz="975" b="1">
                <a:solidFill>
                  <a:srgbClr val="24334A"/>
                </a:solidFill>
              </a:rPr>
              <a:t>mode = shadow | production_send = blocked | Auto ETR not customer-facing yet</a:t>
            </a:r>
          </a:p>
        </p:txBody>
      </p:sp>
    </p:spTree>
    <p:extLst>
      <p:ext uri="{BB962C8B-B14F-4D97-AF65-F5344CB8AC3E}">
        <p14:creationId xmlns:p14="http://schemas.microsoft.com/office/powerpoint/2010/main" val="259738243"/>
      </p:ext>
    </p:extLst>
  </p:cSld>
</p:sld>
</file>

<file path=ppt/slides/slide4.xml><?xml version="1.0" encoding="utf-8"?>
<p:sld xmlns:p="http://schemas.openxmlformats.org/presentationml/2006/main">
  <p:cSld>
    <p:bg>
      <p:bgPr>
        <a:solidFill xmlns:a="http://schemas.openxmlformats.org/drawingml/2006/main">
          <a:srgbClr val="F6FA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8B0A114-69CC-4446-BAB7-61C6BFE226F5}"/>
              </a:ext>
            </a:extLst>
          </p:cNvPr>
          <p:cNvSpPr>
            <a:spLocks xmlns:a="http://schemas.openxmlformats.org/drawingml/2006/main" noGrp="1"/>
          </p:cNvSpPr>
          <p:nvPr/>
        </p:nvSpPr>
        <p:spPr>
          <a:xfrm xmlns:a="http://schemas.openxmlformats.org/drawingml/2006/main">
            <a:off x="533400" y="419100"/>
            <a:ext cx="666750" cy="47625"/>
          </a:xfrm>
          <a:prstGeom xmlns:a="http://schemas.openxmlformats.org/drawingml/2006/main" prst="rect">
            <a:avLst/>
          </a:prstGeom>
          <a:solidFill xmlns:a="http://schemas.openxmlformats.org/drawingml/2006/main">
            <a:srgbClr val="7B57C8"/>
          </a:solidFill>
          <a:ln xmlns:a="http://schemas.openxmlformats.org/drawingml/2006/main" w="0">
            <a:solidFill>
              <a:srgbClr val="7B57C8"/>
            </a:solidFill>
            <a:prstDash val="solid"/>
          </a:ln>
        </p:spPr>
      </p:sp>
      <p:sp>
        <p:nvSpPr>
          <p:cNvPr id="2" name="">
            <a:extLst xmlns:a="http://schemas.openxmlformats.org/drawingml/2006/main">
              <a:ext uri="{FF2B5EF4-FFF2-40B4-BE49-F238E27FC236}">
                <a16:creationId xmlns:a16="http://schemas.microsoft.com/office/drawing/2014/main" id="{03C64FCF-7A84-484A-9CFF-F72D6F021392}"/>
              </a:ext>
            </a:extLst>
          </p:cNvPr>
          <p:cNvSpPr>
            <a:spLocks xmlns:a="http://schemas.openxmlformats.org/drawingml/2006/main" noGrp="1"/>
          </p:cNvSpPr>
          <p:nvPr/>
        </p:nvSpPr>
        <p:spPr>
          <a:xfrm xmlns:a="http://schemas.openxmlformats.org/drawingml/2006/main">
            <a:off x="1257300" y="419100"/>
            <a:ext cx="666750" cy="47625"/>
          </a:xfrm>
          <a:prstGeom xmlns:a="http://schemas.openxmlformats.org/drawingml/2006/main" prst="rect">
            <a:avLst/>
          </a:prstGeom>
          <a:solidFill xmlns:a="http://schemas.openxmlformats.org/drawingml/2006/main">
            <a:srgbClr val="18B8C8"/>
          </a:solidFill>
          <a:ln xmlns:a="http://schemas.openxmlformats.org/drawingml/2006/main" w="0">
            <a:solidFill>
              <a:srgbClr val="18B8C8"/>
            </a:solidFill>
            <a:prstDash val="solid"/>
          </a:ln>
        </p:spPr>
      </p:sp>
      <p:sp>
        <p:nvSpPr>
          <p:cNvPr id="3" name="">
            <a:extLst xmlns:a="http://schemas.openxmlformats.org/drawingml/2006/main">
              <a:ext uri="{FF2B5EF4-FFF2-40B4-BE49-F238E27FC236}">
                <a16:creationId xmlns:a16="http://schemas.microsoft.com/office/drawing/2014/main" id="{83A09B13-8F08-43F0-9E28-D9116A9E0932}"/>
              </a:ext>
            </a:extLst>
          </p:cNvPr>
          <p:cNvSpPr>
            <a:spLocks xmlns:a="http://schemas.openxmlformats.org/drawingml/2006/main" noGrp="1"/>
          </p:cNvSpPr>
          <p:nvPr/>
        </p:nvSpPr>
        <p:spPr>
          <a:xfrm xmlns:a="http://schemas.openxmlformats.org/drawingml/2006/main">
            <a:off x="533400" y="5905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617088"/>
                </a:solidFill>
              </a:defRPr>
            </a:pPr>
            <a:r>
              <a:rPr sz="975" b="1">
                <a:solidFill>
                  <a:srgbClr val="617088"/>
                </a:solidFill>
              </a:rPr>
              <a:t>WHY PEA</a:t>
            </a:r>
          </a:p>
        </p:txBody>
      </p:sp>
      <p:sp>
        <p:nvSpPr>
          <p:cNvPr id="4" name="">
            <a:extLst xmlns:a="http://schemas.openxmlformats.org/drawingml/2006/main">
              <a:ext uri="{FF2B5EF4-FFF2-40B4-BE49-F238E27FC236}">
                <a16:creationId xmlns:a16="http://schemas.microsoft.com/office/drawing/2014/main" id="{130DFC88-5AED-483E-B08F-E1398194C4E6}"/>
              </a:ext>
            </a:extLst>
          </p:cNvPr>
          <p:cNvSpPr>
            <a:spLocks xmlns:a="http://schemas.openxmlformats.org/drawingml/2006/main" noGrp="1"/>
          </p:cNvSpPr>
          <p:nvPr/>
        </p:nvSpPr>
        <p:spPr>
          <a:xfrm xmlns:a="http://schemas.openxmlformats.org/drawingml/2006/main">
            <a:off x="533400" y="857250"/>
            <a:ext cx="819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7162B"/>
                </a:solidFill>
              </a:defRPr>
            </a:pPr>
            <a:r>
              <a:rPr sz="3000" b="1">
                <a:solidFill>
                  <a:srgbClr val="07162B"/>
                </a:solidFill>
              </a:rPr>
              <a:t>The real product is trusted grid context</a:t>
            </a:r>
          </a:p>
        </p:txBody>
      </p:sp>
      <p:sp>
        <p:nvSpPr>
          <p:cNvPr id="5" name="">
            <a:extLst xmlns:a="http://schemas.openxmlformats.org/drawingml/2006/main">
              <a:ext uri="{FF2B5EF4-FFF2-40B4-BE49-F238E27FC236}">
                <a16:creationId xmlns:a16="http://schemas.microsoft.com/office/drawing/2014/main" id="{51131762-5097-4CB4-BF36-59A24CF1DC4B}"/>
              </a:ext>
            </a:extLst>
          </p:cNvPr>
          <p:cNvSpPr>
            <a:spLocks xmlns:a="http://schemas.openxmlformats.org/drawingml/2006/main" noGrp="1"/>
          </p:cNvSpPr>
          <p:nvPr/>
        </p:nvSpPr>
        <p:spPr>
          <a:xfrm xmlns:a="http://schemas.openxmlformats.org/drawingml/2006/main">
            <a:off x="552450" y="1409700"/>
            <a:ext cx="800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617088"/>
                </a:solidFill>
              </a:defRPr>
            </a:pPr>
            <a:r>
              <a:rPr sz="1500" b="0">
                <a:solidFill>
                  <a:srgbClr val="617088"/>
                </a:solidFill>
              </a:rPr>
              <a:t>AIS can see symptoms. PEA owns the truth layer behind the distribution network.</a:t>
            </a:r>
          </a:p>
        </p:txBody>
      </p:sp>
      <p:sp>
        <p:nvSpPr>
          <p:cNvPr id="6" name="">
            <a:extLst xmlns:a="http://schemas.openxmlformats.org/drawingml/2006/main">
              <a:ext uri="{FF2B5EF4-FFF2-40B4-BE49-F238E27FC236}">
                <a16:creationId xmlns:a16="http://schemas.microsoft.com/office/drawing/2014/main" id="{D40B9515-0304-48DB-84FA-92259C418196}"/>
              </a:ext>
            </a:extLst>
          </p:cNvPr>
          <p:cNvSpPr>
            <a:spLocks xmlns:a="http://schemas.openxmlformats.org/drawingml/2006/main" noGrp="1"/>
          </p:cNvSpPr>
          <p:nvPr/>
        </p:nvSpPr>
        <p:spPr>
          <a:xfrm xmlns:a="http://schemas.openxmlformats.org/drawingml/2006/main">
            <a:off x="666750" y="2286000"/>
            <a:ext cx="3238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EA82133D-BB0F-4DDB-B653-EBF6B1C1A584}"/>
              </a:ext>
            </a:extLst>
          </p:cNvPr>
          <p:cNvSpPr>
            <a:spLocks xmlns:a="http://schemas.openxmlformats.org/drawingml/2006/main" noGrp="1"/>
          </p:cNvSpPr>
          <p:nvPr/>
        </p:nvSpPr>
        <p:spPr>
          <a:xfrm xmlns:a="http://schemas.openxmlformats.org/drawingml/2006/main">
            <a:off x="666750" y="2286000"/>
            <a:ext cx="66675" cy="2190750"/>
          </a:xfrm>
          <a:prstGeom xmlns:a="http://schemas.openxmlformats.org/drawingml/2006/main" prst="rect">
            <a:avLst/>
          </a:prstGeom>
          <a:solidFill xmlns:a="http://schemas.openxmlformats.org/drawingml/2006/main">
            <a:srgbClr val="7B57C8"/>
          </a:solidFill>
          <a:ln xmlns:a="http://schemas.openxmlformats.org/drawingml/2006/main" w="0">
            <a:solidFill>
              <a:srgbClr val="7B57C8"/>
            </a:solidFill>
            <a:prstDash val="solid"/>
          </a:ln>
        </p:spPr>
      </p:sp>
      <p:sp>
        <p:nvSpPr>
          <p:cNvPr id="8" name="">
            <a:extLst xmlns:a="http://schemas.openxmlformats.org/drawingml/2006/main">
              <a:ext uri="{FF2B5EF4-FFF2-40B4-BE49-F238E27FC236}">
                <a16:creationId xmlns:a16="http://schemas.microsoft.com/office/drawing/2014/main" id="{6680FDA1-061F-40AD-A0B5-79281771B1A6}"/>
              </a:ext>
            </a:extLst>
          </p:cNvPr>
          <p:cNvSpPr>
            <a:spLocks xmlns:a="http://schemas.openxmlformats.org/drawingml/2006/main" noGrp="1"/>
          </p:cNvSpPr>
          <p:nvPr/>
        </p:nvSpPr>
        <p:spPr>
          <a:xfrm xmlns:a="http://schemas.openxmlformats.org/drawingml/2006/main">
            <a:off x="895350" y="2476500"/>
            <a:ext cx="2819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7162B"/>
                </a:solidFill>
              </a:defRPr>
            </a:pPr>
            <a:r>
              <a:rPr sz="1800" b="1">
                <a:solidFill>
                  <a:srgbClr val="07162B"/>
                </a:solidFill>
              </a:rPr>
              <a:t>Grid Topology</a:t>
            </a:r>
          </a:p>
        </p:txBody>
      </p:sp>
      <p:sp>
        <p:nvSpPr>
          <p:cNvPr id="9" name="">
            <a:extLst xmlns:a="http://schemas.openxmlformats.org/drawingml/2006/main">
              <a:ext uri="{FF2B5EF4-FFF2-40B4-BE49-F238E27FC236}">
                <a16:creationId xmlns:a16="http://schemas.microsoft.com/office/drawing/2014/main" id="{2210F66F-BC8D-4BE1-B7C8-303E4638C780}"/>
              </a:ext>
            </a:extLst>
          </p:cNvPr>
          <p:cNvSpPr>
            <a:spLocks xmlns:a="http://schemas.openxmlformats.org/drawingml/2006/main" noGrp="1"/>
          </p:cNvSpPr>
          <p:nvPr/>
        </p:nvSpPr>
        <p:spPr>
          <a:xfrm xmlns:a="http://schemas.openxmlformats.org/drawingml/2006/main">
            <a:off x="895350" y="2876550"/>
            <a:ext cx="28194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233044"/>
                </a:solidFill>
              </a:defRPr>
            </a:pPr>
            <a:r>
              <a:rPr sz="1350" b="0">
                <a:solidFill>
                  <a:srgbClr val="233044"/>
                </a:solidFill>
              </a:rPr>
              <a:t>PEA maps how power actually reaches each AIS site.</a:t>
            </a:r>
          </a:p>
        </p:txBody>
      </p:sp>
      <p:sp>
        <p:nvSpPr>
          <p:cNvPr id="10" name="">
            <a:extLst xmlns:a="http://schemas.openxmlformats.org/drawingml/2006/main">
              <a:ext uri="{FF2B5EF4-FFF2-40B4-BE49-F238E27FC236}">
                <a16:creationId xmlns:a16="http://schemas.microsoft.com/office/drawing/2014/main" id="{04D53E6C-878F-43A7-BB4B-26EA810E6FF4}"/>
              </a:ext>
            </a:extLst>
          </p:cNvPr>
          <p:cNvSpPr>
            <a:spLocks xmlns:a="http://schemas.openxmlformats.org/drawingml/2006/main" noGrp="1"/>
          </p:cNvSpPr>
          <p:nvPr/>
        </p:nvSpPr>
        <p:spPr>
          <a:xfrm xmlns:a="http://schemas.openxmlformats.org/drawingml/2006/main">
            <a:off x="4476750" y="2286000"/>
            <a:ext cx="3238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DC876D92-AE99-4C42-A291-82D2407318F4}"/>
              </a:ext>
            </a:extLst>
          </p:cNvPr>
          <p:cNvSpPr>
            <a:spLocks xmlns:a="http://schemas.openxmlformats.org/drawingml/2006/main" noGrp="1"/>
          </p:cNvSpPr>
          <p:nvPr/>
        </p:nvSpPr>
        <p:spPr>
          <a:xfrm xmlns:a="http://schemas.openxmlformats.org/drawingml/2006/main">
            <a:off x="4476750" y="2286000"/>
            <a:ext cx="66675" cy="2190750"/>
          </a:xfrm>
          <a:prstGeom xmlns:a="http://schemas.openxmlformats.org/drawingml/2006/main" prst="rect">
            <a:avLst/>
          </a:prstGeom>
          <a:solidFill xmlns:a="http://schemas.openxmlformats.org/drawingml/2006/main">
            <a:srgbClr val="18B8C8"/>
          </a:solidFill>
          <a:ln xmlns:a="http://schemas.openxmlformats.org/drawingml/2006/main" w="0">
            <a:solidFill>
              <a:srgbClr val="18B8C8"/>
            </a:solidFill>
            <a:prstDash val="solid"/>
          </a:ln>
        </p:spPr>
      </p:sp>
      <p:sp>
        <p:nvSpPr>
          <p:cNvPr id="12" name="">
            <a:extLst xmlns:a="http://schemas.openxmlformats.org/drawingml/2006/main">
              <a:ext uri="{FF2B5EF4-FFF2-40B4-BE49-F238E27FC236}">
                <a16:creationId xmlns:a16="http://schemas.microsoft.com/office/drawing/2014/main" id="{A82BEB18-CD1F-4CD6-9B29-AF6A544E0BCF}"/>
              </a:ext>
            </a:extLst>
          </p:cNvPr>
          <p:cNvSpPr>
            <a:spLocks xmlns:a="http://schemas.openxmlformats.org/drawingml/2006/main" noGrp="1"/>
          </p:cNvSpPr>
          <p:nvPr/>
        </p:nvSpPr>
        <p:spPr>
          <a:xfrm xmlns:a="http://schemas.openxmlformats.org/drawingml/2006/main">
            <a:off x="4705350" y="2476500"/>
            <a:ext cx="2819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7162B"/>
                </a:solidFill>
              </a:defRPr>
            </a:pPr>
            <a:r>
              <a:rPr sz="1800" b="1">
                <a:solidFill>
                  <a:srgbClr val="07162B"/>
                </a:solidFill>
              </a:rPr>
              <a:t>Evidence Context</a:t>
            </a:r>
          </a:p>
        </p:txBody>
      </p:sp>
      <p:sp>
        <p:nvSpPr>
          <p:cNvPr id="13" name="">
            <a:extLst xmlns:a="http://schemas.openxmlformats.org/drawingml/2006/main">
              <a:ext uri="{FF2B5EF4-FFF2-40B4-BE49-F238E27FC236}">
                <a16:creationId xmlns:a16="http://schemas.microsoft.com/office/drawing/2014/main" id="{0872F42B-6A6E-409F-BCDD-7104022E99BB}"/>
              </a:ext>
            </a:extLst>
          </p:cNvPr>
          <p:cNvSpPr>
            <a:spLocks xmlns:a="http://schemas.openxmlformats.org/drawingml/2006/main" noGrp="1"/>
          </p:cNvSpPr>
          <p:nvPr/>
        </p:nvSpPr>
        <p:spPr>
          <a:xfrm xmlns:a="http://schemas.openxmlformats.org/drawingml/2006/main">
            <a:off x="4705350" y="2876550"/>
            <a:ext cx="28194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233044"/>
                </a:solidFill>
              </a:defRPr>
            </a:pPr>
            <a:r>
              <a:rPr sz="1350" b="0">
                <a:solidFill>
                  <a:srgbClr val="233044"/>
                </a:solidFill>
              </a:rPr>
              <a:t>Protection and outage evidence help separate guesswork from confidence.</a:t>
            </a:r>
          </a:p>
        </p:txBody>
      </p:sp>
      <p:sp>
        <p:nvSpPr>
          <p:cNvPr id="14" name="">
            <a:extLst xmlns:a="http://schemas.openxmlformats.org/drawingml/2006/main">
              <a:ext uri="{FF2B5EF4-FFF2-40B4-BE49-F238E27FC236}">
                <a16:creationId xmlns:a16="http://schemas.microsoft.com/office/drawing/2014/main" id="{59A302BD-6717-461D-B5DC-FF188683152B}"/>
              </a:ext>
            </a:extLst>
          </p:cNvPr>
          <p:cNvSpPr>
            <a:spLocks xmlns:a="http://schemas.openxmlformats.org/drawingml/2006/main" noGrp="1"/>
          </p:cNvSpPr>
          <p:nvPr/>
        </p:nvSpPr>
        <p:spPr>
          <a:xfrm xmlns:a="http://schemas.openxmlformats.org/drawingml/2006/main">
            <a:off x="8286750" y="2286000"/>
            <a:ext cx="3238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DC8B56C4-ADBA-44EC-8A2F-60531CDF6092}"/>
              </a:ext>
            </a:extLst>
          </p:cNvPr>
          <p:cNvSpPr>
            <a:spLocks xmlns:a="http://schemas.openxmlformats.org/drawingml/2006/main" noGrp="1"/>
          </p:cNvSpPr>
          <p:nvPr/>
        </p:nvSpPr>
        <p:spPr>
          <a:xfrm xmlns:a="http://schemas.openxmlformats.org/drawingml/2006/main">
            <a:off x="8286750" y="2286000"/>
            <a:ext cx="66675" cy="2190750"/>
          </a:xfrm>
          <a:prstGeom xmlns:a="http://schemas.openxmlformats.org/drawingml/2006/main" prst="rect">
            <a:avLst/>
          </a:prstGeom>
          <a:solidFill xmlns:a="http://schemas.openxmlformats.org/drawingml/2006/main">
            <a:srgbClr val="F7B84B"/>
          </a:solidFill>
          <a:ln xmlns:a="http://schemas.openxmlformats.org/drawingml/2006/main" w="0">
            <a:solidFill>
              <a:srgbClr val="F7B84B"/>
            </a:solidFill>
            <a:prstDash val="solid"/>
          </a:ln>
        </p:spPr>
      </p:sp>
      <p:sp>
        <p:nvSpPr>
          <p:cNvPr id="16" name="">
            <a:extLst xmlns:a="http://schemas.openxmlformats.org/drawingml/2006/main">
              <a:ext uri="{FF2B5EF4-FFF2-40B4-BE49-F238E27FC236}">
                <a16:creationId xmlns:a16="http://schemas.microsoft.com/office/drawing/2014/main" id="{E3B44808-CA6B-4D2F-ADD1-E0A5ED3F9027}"/>
              </a:ext>
            </a:extLst>
          </p:cNvPr>
          <p:cNvSpPr>
            <a:spLocks xmlns:a="http://schemas.openxmlformats.org/drawingml/2006/main" noGrp="1"/>
          </p:cNvSpPr>
          <p:nvPr/>
        </p:nvSpPr>
        <p:spPr>
          <a:xfrm xmlns:a="http://schemas.openxmlformats.org/drawingml/2006/main">
            <a:off x="8515350" y="2476500"/>
            <a:ext cx="2819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7162B"/>
                </a:solidFill>
              </a:defRPr>
            </a:pPr>
            <a:r>
              <a:rPr sz="1800" b="1">
                <a:solidFill>
                  <a:srgbClr val="07162B"/>
                </a:solidFill>
              </a:rPr>
              <a:t>Data Governance</a:t>
            </a:r>
          </a:p>
        </p:txBody>
      </p:sp>
      <p:sp>
        <p:nvSpPr>
          <p:cNvPr id="17" name="">
            <a:extLst xmlns:a="http://schemas.openxmlformats.org/drawingml/2006/main">
              <a:ext uri="{FF2B5EF4-FFF2-40B4-BE49-F238E27FC236}">
                <a16:creationId xmlns:a16="http://schemas.microsoft.com/office/drawing/2014/main" id="{A3F8B71C-9555-4418-BEE4-7871018A32B9}"/>
              </a:ext>
            </a:extLst>
          </p:cNvPr>
          <p:cNvSpPr>
            <a:spLocks xmlns:a="http://schemas.openxmlformats.org/drawingml/2006/main" noGrp="1"/>
          </p:cNvSpPr>
          <p:nvPr/>
        </p:nvSpPr>
        <p:spPr>
          <a:xfrm xmlns:a="http://schemas.openxmlformats.org/drawingml/2006/main">
            <a:off x="8515350" y="2876550"/>
            <a:ext cx="28194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233044"/>
                </a:solidFill>
              </a:defRPr>
            </a:pPr>
            <a:r>
              <a:rPr sz="1350" b="0">
                <a:solidFill>
                  <a:srgbClr val="233044"/>
                </a:solidFill>
              </a:rPr>
              <a:t>PEA controls what can be shared, redacted, reviewed, and audited.</a:t>
            </a:r>
          </a:p>
        </p:txBody>
      </p:sp>
      <p:sp>
        <p:nvSpPr>
          <p:cNvPr id="18" name="">
            <a:extLst xmlns:a="http://schemas.openxmlformats.org/drawingml/2006/main">
              <a:ext uri="{FF2B5EF4-FFF2-40B4-BE49-F238E27FC236}">
                <a16:creationId xmlns:a16="http://schemas.microsoft.com/office/drawing/2014/main" id="{FDAD3D58-278E-434B-928F-08D30C5EAE41}"/>
              </a:ext>
            </a:extLst>
          </p:cNvPr>
          <p:cNvSpPr>
            <a:spLocks xmlns:a="http://schemas.openxmlformats.org/drawingml/2006/main" noGrp="1"/>
          </p:cNvSpPr>
          <p:nvPr/>
        </p:nvSpPr>
        <p:spPr>
          <a:xfrm xmlns:a="http://schemas.openxmlformats.org/drawingml/2006/main">
            <a:off x="1238250" y="5143500"/>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7162B"/>
                </a:solidFill>
              </a:defRPr>
            </a:pPr>
            <a:r>
              <a:rPr sz="1800" b="1">
                <a:solidFill>
                  <a:srgbClr val="07162B"/>
                </a:solidFill>
              </a:rPr>
              <a:t>AIS cannot build this layer alone because it sits inside PEA's grid data, operating evidence, and governance boundary.</a:t>
            </a:r>
          </a:p>
        </p:txBody>
      </p:sp>
      <p:sp>
        <p:nvSpPr>
          <p:cNvPr id="19" name="">
            <a:extLst xmlns:a="http://schemas.openxmlformats.org/drawingml/2006/main">
              <a:ext uri="{FF2B5EF4-FFF2-40B4-BE49-F238E27FC236}">
                <a16:creationId xmlns:a16="http://schemas.microsoft.com/office/drawing/2014/main" id="{1C859677-9F2D-47B3-8E81-215E81096FBC}"/>
              </a:ext>
            </a:extLst>
          </p:cNvPr>
          <p:cNvSpPr>
            <a:spLocks xmlns:a="http://schemas.openxmlformats.org/drawingml/2006/main" noGrp="1"/>
          </p:cNvSpPr>
          <p:nvPr/>
        </p:nvSpPr>
        <p:spPr>
          <a:xfrm xmlns:a="http://schemas.openxmlformats.org/drawingml/2006/main">
            <a:off x="3381375" y="6305550"/>
            <a:ext cx="5429250" cy="323850"/>
          </a:xfrm>
          <a:prstGeom xmlns:a="http://schemas.openxmlformats.org/drawingml/2006/main" prst="roundRect">
            <a:avLst>
              <a:gd name="adj" fmla="val 23529"/>
            </a:avLst>
          </a:prstGeom>
          <a:solidFill xmlns:a="http://schemas.openxmlformats.org/drawingml/2006/main">
            <a:srgbClr val="F1F6FC"/>
          </a:solidFill>
          <a:ln xmlns:a="http://schemas.openxmlformats.org/drawingml/2006/main" w="9525">
            <a:solidFill>
              <a:srgbClr val="CAD6E6"/>
            </a:solidFill>
            <a:prstDash val="solid"/>
          </a:ln>
        </p:spPr>
      </p:sp>
      <p:sp>
        <p:nvSpPr>
          <p:cNvPr id="20" name="">
            <a:extLst xmlns:a="http://schemas.openxmlformats.org/drawingml/2006/main">
              <a:ext uri="{FF2B5EF4-FFF2-40B4-BE49-F238E27FC236}">
                <a16:creationId xmlns:a16="http://schemas.microsoft.com/office/drawing/2014/main" id="{7081F15B-E77A-4680-A566-4FCDD82461F9}"/>
              </a:ext>
            </a:extLst>
          </p:cNvPr>
          <p:cNvSpPr>
            <a:spLocks xmlns:a="http://schemas.openxmlformats.org/drawingml/2006/main" noGrp="1"/>
          </p:cNvSpPr>
          <p:nvPr/>
        </p:nvSpPr>
        <p:spPr>
          <a:xfrm xmlns:a="http://schemas.openxmlformats.org/drawingml/2006/main">
            <a:off x="3543300" y="6362700"/>
            <a:ext cx="5105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24334A"/>
                </a:solidFill>
              </a:defRPr>
            </a:pPr>
            <a:r>
              <a:rPr sz="975" b="1">
                <a:solidFill>
                  <a:srgbClr val="24334A"/>
                </a:solidFill>
              </a:rPr>
              <a:t>mode = shadow | production_send = blocked | Auto ETR not customer-facing yet</a:t>
            </a:r>
          </a:p>
        </p:txBody>
      </p:sp>
    </p:spTree>
    <p:extLst>
      <p:ext uri="{BB962C8B-B14F-4D97-AF65-F5344CB8AC3E}">
        <p14:creationId xmlns:p14="http://schemas.microsoft.com/office/powerpoint/2010/main" val="4590833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D2981D1-98CB-4EFF-9682-BCFE87FAFCD9}"/>
              </a:ext>
            </a:extLst>
          </p:cNvPr>
          <p:cNvSpPr>
            <a:spLocks xmlns:a="http://schemas.openxmlformats.org/drawingml/2006/main" noGrp="1"/>
          </p:cNvSpPr>
          <p:nvPr/>
        </p:nvSpPr>
        <p:spPr>
          <a:xfrm xmlns:a="http://schemas.openxmlformats.org/drawingml/2006/main">
            <a:off x="533400" y="419100"/>
            <a:ext cx="666750" cy="47625"/>
          </a:xfrm>
          <a:prstGeom xmlns:a="http://schemas.openxmlformats.org/drawingml/2006/main" prst="rect">
            <a:avLst/>
          </a:prstGeom>
          <a:solidFill xmlns:a="http://schemas.openxmlformats.org/drawingml/2006/main">
            <a:srgbClr val="7B57C8"/>
          </a:solidFill>
          <a:ln xmlns:a="http://schemas.openxmlformats.org/drawingml/2006/main" w="0">
            <a:solidFill>
              <a:srgbClr val="7B57C8"/>
            </a:solidFill>
            <a:prstDash val="solid"/>
          </a:ln>
        </p:spPr>
      </p:sp>
      <p:sp>
        <p:nvSpPr>
          <p:cNvPr id="2" name="">
            <a:extLst xmlns:a="http://schemas.openxmlformats.org/drawingml/2006/main">
              <a:ext uri="{FF2B5EF4-FFF2-40B4-BE49-F238E27FC236}">
                <a16:creationId xmlns:a16="http://schemas.microsoft.com/office/drawing/2014/main" id="{161DEE81-18B4-4EE2-950D-9410E820B702}"/>
              </a:ext>
            </a:extLst>
          </p:cNvPr>
          <p:cNvSpPr>
            <a:spLocks xmlns:a="http://schemas.openxmlformats.org/drawingml/2006/main" noGrp="1"/>
          </p:cNvSpPr>
          <p:nvPr/>
        </p:nvSpPr>
        <p:spPr>
          <a:xfrm xmlns:a="http://schemas.openxmlformats.org/drawingml/2006/main">
            <a:off x="1257300" y="419100"/>
            <a:ext cx="666750" cy="47625"/>
          </a:xfrm>
          <a:prstGeom xmlns:a="http://schemas.openxmlformats.org/drawingml/2006/main" prst="rect">
            <a:avLst/>
          </a:prstGeom>
          <a:solidFill xmlns:a="http://schemas.openxmlformats.org/drawingml/2006/main">
            <a:srgbClr val="18B8C8"/>
          </a:solidFill>
          <a:ln xmlns:a="http://schemas.openxmlformats.org/drawingml/2006/main" w="0">
            <a:solidFill>
              <a:srgbClr val="18B8C8"/>
            </a:solidFill>
            <a:prstDash val="solid"/>
          </a:ln>
        </p:spPr>
      </p:sp>
      <p:sp>
        <p:nvSpPr>
          <p:cNvPr id="3" name="">
            <a:extLst xmlns:a="http://schemas.openxmlformats.org/drawingml/2006/main">
              <a:ext uri="{FF2B5EF4-FFF2-40B4-BE49-F238E27FC236}">
                <a16:creationId xmlns:a16="http://schemas.microsoft.com/office/drawing/2014/main" id="{03E5251F-075D-49FC-88FE-95B4BC3B487A}"/>
              </a:ext>
            </a:extLst>
          </p:cNvPr>
          <p:cNvSpPr>
            <a:spLocks xmlns:a="http://schemas.openxmlformats.org/drawingml/2006/main" noGrp="1"/>
          </p:cNvSpPr>
          <p:nvPr/>
        </p:nvSpPr>
        <p:spPr>
          <a:xfrm xmlns:a="http://schemas.openxmlformats.org/drawingml/2006/main">
            <a:off x="533400" y="5905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617088"/>
                </a:solidFill>
              </a:defRPr>
            </a:pPr>
            <a:r>
              <a:rPr sz="975" b="1">
                <a:solidFill>
                  <a:srgbClr val="617088"/>
                </a:solidFill>
              </a:rPr>
              <a:t>SOLUTION</a:t>
            </a:r>
          </a:p>
        </p:txBody>
      </p:sp>
      <p:sp>
        <p:nvSpPr>
          <p:cNvPr id="4" name="">
            <a:extLst xmlns:a="http://schemas.openxmlformats.org/drawingml/2006/main">
              <a:ext uri="{FF2B5EF4-FFF2-40B4-BE49-F238E27FC236}">
                <a16:creationId xmlns:a16="http://schemas.microsoft.com/office/drawing/2014/main" id="{E3E3F12A-87EE-416A-8538-DF662F08348C}"/>
              </a:ext>
            </a:extLst>
          </p:cNvPr>
          <p:cNvSpPr>
            <a:spLocks xmlns:a="http://schemas.openxmlformats.org/drawingml/2006/main" noGrp="1"/>
          </p:cNvSpPr>
          <p:nvPr/>
        </p:nvSpPr>
        <p:spPr>
          <a:xfrm xmlns:a="http://schemas.openxmlformats.org/drawingml/2006/main">
            <a:off x="533400" y="857250"/>
            <a:ext cx="819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7162B"/>
                </a:solidFill>
              </a:defRPr>
            </a:pPr>
            <a:r>
              <a:rPr sz="3000" b="1">
                <a:solidFill>
                  <a:srgbClr val="07162B"/>
                </a:solidFill>
              </a:rPr>
              <a:t>How it works in human language</a:t>
            </a:r>
          </a:p>
        </p:txBody>
      </p:sp>
      <p:sp>
        <p:nvSpPr>
          <p:cNvPr id="5" name="">
            <a:extLst xmlns:a="http://schemas.openxmlformats.org/drawingml/2006/main">
              <a:ext uri="{FF2B5EF4-FFF2-40B4-BE49-F238E27FC236}">
                <a16:creationId xmlns:a16="http://schemas.microsoft.com/office/drawing/2014/main" id="{871928EA-E975-447D-BA9A-B00C05E45369}"/>
              </a:ext>
            </a:extLst>
          </p:cNvPr>
          <p:cNvSpPr>
            <a:spLocks xmlns:a="http://schemas.openxmlformats.org/drawingml/2006/main" noGrp="1"/>
          </p:cNvSpPr>
          <p:nvPr/>
        </p:nvSpPr>
        <p:spPr>
          <a:xfrm xmlns:a="http://schemas.openxmlformats.org/drawingml/2006/main">
            <a:off x="552450" y="1409700"/>
            <a:ext cx="800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617088"/>
                </a:solidFill>
              </a:defRPr>
            </a:pPr>
            <a:r>
              <a:rPr sz="1500" b="0">
                <a:solidFill>
                  <a:srgbClr val="617088"/>
                </a:solidFill>
              </a:rPr>
              <a:t>A simple question becomes a safe, evidence-backed response lane.</a:t>
            </a:r>
          </a:p>
        </p:txBody>
      </p:sp>
      <p:sp>
        <p:nvSpPr>
          <p:cNvPr id="6" name="">
            <a:extLst xmlns:a="http://schemas.openxmlformats.org/drawingml/2006/main">
              <a:ext uri="{FF2B5EF4-FFF2-40B4-BE49-F238E27FC236}">
                <a16:creationId xmlns:a16="http://schemas.microsoft.com/office/drawing/2014/main" id="{4BA2F2CC-EEAA-4AF2-9BE8-592A81523971}"/>
              </a:ext>
            </a:extLst>
          </p:cNvPr>
          <p:cNvSpPr>
            <a:spLocks xmlns:a="http://schemas.openxmlformats.org/drawingml/2006/main" noGrp="1"/>
          </p:cNvSpPr>
          <p:nvPr/>
        </p:nvSpPr>
        <p:spPr>
          <a:xfrm xmlns:a="http://schemas.openxmlformats.org/drawingml/2006/main">
            <a:off x="819150" y="2095500"/>
            <a:ext cx="457200" cy="457200"/>
          </a:xfrm>
          <a:prstGeom xmlns:a="http://schemas.openxmlformats.org/drawingml/2006/main" prst="ellipse">
            <a:avLst/>
          </a:prstGeom>
          <a:solidFill xmlns:a="http://schemas.openxmlformats.org/drawingml/2006/main">
            <a:srgbClr val="7B57C8"/>
          </a:solidFill>
          <a:ln xmlns:a="http://schemas.openxmlformats.org/drawingml/2006/main" w="0">
            <a:solidFill>
              <a:srgbClr val="7B57C8"/>
            </a:solidFill>
            <a:prstDash val="solid"/>
          </a:ln>
        </p:spPr>
      </p:sp>
      <p:sp>
        <p:nvSpPr>
          <p:cNvPr id="7" name="">
            <a:extLst xmlns:a="http://schemas.openxmlformats.org/drawingml/2006/main">
              <a:ext uri="{FF2B5EF4-FFF2-40B4-BE49-F238E27FC236}">
                <a16:creationId xmlns:a16="http://schemas.microsoft.com/office/drawing/2014/main" id="{CE8DBC49-D7AD-4A99-985E-6773003A9A03}"/>
              </a:ext>
            </a:extLst>
          </p:cNvPr>
          <p:cNvSpPr>
            <a:spLocks xmlns:a="http://schemas.openxmlformats.org/drawingml/2006/main" noGrp="1"/>
          </p:cNvSpPr>
          <p:nvPr/>
        </p:nvSpPr>
        <p:spPr>
          <a:xfrm xmlns:a="http://schemas.openxmlformats.org/drawingml/2006/main">
            <a:off x="819150" y="21907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FFFFF"/>
                </a:solidFill>
              </a:defRPr>
            </a:pPr>
            <a:r>
              <a:rPr sz="1650" b="1">
                <a:solidFill>
                  <a:srgbClr val="FFFFFF"/>
                </a:solidFill>
              </a:rPr>
              <a:t>1</a:t>
            </a:r>
          </a:p>
        </p:txBody>
      </p:sp>
      <p:sp>
        <p:nvSpPr>
          <p:cNvPr id="8" name="">
            <a:extLst xmlns:a="http://schemas.openxmlformats.org/drawingml/2006/main">
              <a:ext uri="{FF2B5EF4-FFF2-40B4-BE49-F238E27FC236}">
                <a16:creationId xmlns:a16="http://schemas.microsoft.com/office/drawing/2014/main" id="{B6A289CE-3641-4A5B-B64A-7F76B18BE369}"/>
              </a:ext>
            </a:extLst>
          </p:cNvPr>
          <p:cNvSpPr>
            <a:spLocks xmlns:a="http://schemas.openxmlformats.org/drawingml/2006/main" noGrp="1"/>
          </p:cNvSpPr>
          <p:nvPr/>
        </p:nvSpPr>
        <p:spPr>
          <a:xfrm xmlns:a="http://schemas.openxmlformats.org/drawingml/2006/main">
            <a:off x="1428750" y="2095500"/>
            <a:ext cx="40100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07162B"/>
                </a:solidFill>
              </a:defRPr>
            </a:pPr>
            <a:r>
              <a:rPr sz="1650" b="1">
                <a:solidFill>
                  <a:srgbClr val="07162B"/>
                </a:solidFill>
              </a:rPr>
              <a:t>AIS asks</a:t>
            </a:r>
          </a:p>
        </p:txBody>
      </p:sp>
      <p:sp>
        <p:nvSpPr>
          <p:cNvPr id="9" name="">
            <a:extLst xmlns:a="http://schemas.openxmlformats.org/drawingml/2006/main">
              <a:ext uri="{FF2B5EF4-FFF2-40B4-BE49-F238E27FC236}">
                <a16:creationId xmlns:a16="http://schemas.microsoft.com/office/drawing/2014/main" id="{FF07EDE4-6EB8-454B-AE19-BA0272E0C8F7}"/>
              </a:ext>
            </a:extLst>
          </p:cNvPr>
          <p:cNvSpPr>
            <a:spLocks xmlns:a="http://schemas.openxmlformats.org/drawingml/2006/main" noGrp="1"/>
          </p:cNvSpPr>
          <p:nvPr/>
        </p:nvSpPr>
        <p:spPr>
          <a:xfrm xmlns:a="http://schemas.openxmlformats.org/drawingml/2006/main">
            <a:off x="1428750" y="2457450"/>
            <a:ext cx="40100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233044"/>
                </a:solidFill>
              </a:defRPr>
            </a:pPr>
            <a:r>
              <a:rPr sz="1200" b="0">
                <a:solidFill>
                  <a:srgbClr val="233044"/>
                </a:solidFill>
              </a:rPr>
              <a:t>What happened to this site?</a:t>
            </a:r>
          </a:p>
        </p:txBody>
      </p:sp>
      <p:sp>
        <p:nvSpPr>
          <p:cNvPr id="10" name="">
            <a:extLst xmlns:a="http://schemas.openxmlformats.org/drawingml/2006/main">
              <a:ext uri="{FF2B5EF4-FFF2-40B4-BE49-F238E27FC236}">
                <a16:creationId xmlns:a16="http://schemas.microsoft.com/office/drawing/2014/main" id="{A2C8A40B-38DF-4811-B465-C032856743A9}"/>
              </a:ext>
            </a:extLst>
          </p:cNvPr>
          <p:cNvSpPr>
            <a:spLocks xmlns:a="http://schemas.openxmlformats.org/drawingml/2006/main" noGrp="1"/>
          </p:cNvSpPr>
          <p:nvPr/>
        </p:nvSpPr>
        <p:spPr>
          <a:xfrm xmlns:a="http://schemas.openxmlformats.org/drawingml/2006/main">
            <a:off x="6610350" y="2095500"/>
            <a:ext cx="457200" cy="457200"/>
          </a:xfrm>
          <a:prstGeom xmlns:a="http://schemas.openxmlformats.org/drawingml/2006/main" prst="ellipse">
            <a:avLst/>
          </a:prstGeom>
          <a:solidFill xmlns:a="http://schemas.openxmlformats.org/drawingml/2006/main">
            <a:srgbClr val="18B8C8"/>
          </a:solidFill>
          <a:ln xmlns:a="http://schemas.openxmlformats.org/drawingml/2006/main" w="0">
            <a:solidFill>
              <a:srgbClr val="18B8C8"/>
            </a:solidFill>
            <a:prstDash val="solid"/>
          </a:ln>
        </p:spPr>
      </p:sp>
      <p:sp>
        <p:nvSpPr>
          <p:cNvPr id="11" name="">
            <a:extLst xmlns:a="http://schemas.openxmlformats.org/drawingml/2006/main">
              <a:ext uri="{FF2B5EF4-FFF2-40B4-BE49-F238E27FC236}">
                <a16:creationId xmlns:a16="http://schemas.microsoft.com/office/drawing/2014/main" id="{9B8FE379-A332-489A-A0A4-77880663221D}"/>
              </a:ext>
            </a:extLst>
          </p:cNvPr>
          <p:cNvSpPr>
            <a:spLocks xmlns:a="http://schemas.openxmlformats.org/drawingml/2006/main" noGrp="1"/>
          </p:cNvSpPr>
          <p:nvPr/>
        </p:nvSpPr>
        <p:spPr>
          <a:xfrm xmlns:a="http://schemas.openxmlformats.org/drawingml/2006/main">
            <a:off x="6610350" y="21907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FFFFF"/>
                </a:solidFill>
              </a:defRPr>
            </a:pPr>
            <a:r>
              <a:rPr sz="1650" b="1">
                <a:solidFill>
                  <a:srgbClr val="FFFFFF"/>
                </a:solidFill>
              </a:rPr>
              <a:t>2</a:t>
            </a:r>
          </a:p>
        </p:txBody>
      </p:sp>
      <p:sp>
        <p:nvSpPr>
          <p:cNvPr id="12" name="">
            <a:extLst xmlns:a="http://schemas.openxmlformats.org/drawingml/2006/main">
              <a:ext uri="{FF2B5EF4-FFF2-40B4-BE49-F238E27FC236}">
                <a16:creationId xmlns:a16="http://schemas.microsoft.com/office/drawing/2014/main" id="{DA6C8E5C-3C30-4E6A-AAC8-0BC2CEF99015}"/>
              </a:ext>
            </a:extLst>
          </p:cNvPr>
          <p:cNvSpPr>
            <a:spLocks xmlns:a="http://schemas.openxmlformats.org/drawingml/2006/main" noGrp="1"/>
          </p:cNvSpPr>
          <p:nvPr/>
        </p:nvSpPr>
        <p:spPr>
          <a:xfrm xmlns:a="http://schemas.openxmlformats.org/drawingml/2006/main">
            <a:off x="7219950" y="2095500"/>
            <a:ext cx="40100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07162B"/>
                </a:solidFill>
              </a:defRPr>
            </a:pPr>
            <a:r>
              <a:rPr sz="1650" b="1">
                <a:solidFill>
                  <a:srgbClr val="07162B"/>
                </a:solidFill>
              </a:rPr>
              <a:t>PEA traces</a:t>
            </a:r>
          </a:p>
        </p:txBody>
      </p:sp>
      <p:sp>
        <p:nvSpPr>
          <p:cNvPr id="13" name="">
            <a:extLst xmlns:a="http://schemas.openxmlformats.org/drawingml/2006/main">
              <a:ext uri="{FF2B5EF4-FFF2-40B4-BE49-F238E27FC236}">
                <a16:creationId xmlns:a16="http://schemas.microsoft.com/office/drawing/2014/main" id="{4E1C5EA6-3A5E-46E6-A6C9-651A648A0F6F}"/>
              </a:ext>
            </a:extLst>
          </p:cNvPr>
          <p:cNvSpPr>
            <a:spLocks xmlns:a="http://schemas.openxmlformats.org/drawingml/2006/main" noGrp="1"/>
          </p:cNvSpPr>
          <p:nvPr/>
        </p:nvSpPr>
        <p:spPr>
          <a:xfrm xmlns:a="http://schemas.openxmlformats.org/drawingml/2006/main">
            <a:off x="7219950" y="2457450"/>
            <a:ext cx="40100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233044"/>
                </a:solidFill>
              </a:defRPr>
            </a:pPr>
            <a:r>
              <a:rPr sz="1200" b="0">
                <a:solidFill>
                  <a:srgbClr val="233044"/>
                </a:solidFill>
              </a:rPr>
              <a:t>Which protection device or grid context feeds it?</a:t>
            </a:r>
          </a:p>
        </p:txBody>
      </p:sp>
      <p:sp>
        <p:nvSpPr>
          <p:cNvPr id="14" name="">
            <a:extLst xmlns:a="http://schemas.openxmlformats.org/drawingml/2006/main">
              <a:ext uri="{FF2B5EF4-FFF2-40B4-BE49-F238E27FC236}">
                <a16:creationId xmlns:a16="http://schemas.microsoft.com/office/drawing/2014/main" id="{879F7FFC-54AC-4DE5-899C-014F968AC758}"/>
              </a:ext>
            </a:extLst>
          </p:cNvPr>
          <p:cNvSpPr>
            <a:spLocks xmlns:a="http://schemas.openxmlformats.org/drawingml/2006/main" noGrp="1"/>
          </p:cNvSpPr>
          <p:nvPr/>
        </p:nvSpPr>
        <p:spPr>
          <a:xfrm xmlns:a="http://schemas.openxmlformats.org/drawingml/2006/main">
            <a:off x="819150" y="3714750"/>
            <a:ext cx="457200" cy="457200"/>
          </a:xfrm>
          <a:prstGeom xmlns:a="http://schemas.openxmlformats.org/drawingml/2006/main" prst="ellipse">
            <a:avLst/>
          </a:prstGeom>
          <a:solidFill xmlns:a="http://schemas.openxmlformats.org/drawingml/2006/main">
            <a:srgbClr val="F7B84B"/>
          </a:solidFill>
          <a:ln xmlns:a="http://schemas.openxmlformats.org/drawingml/2006/main" w="0">
            <a:solidFill>
              <a:srgbClr val="F7B84B"/>
            </a:solidFill>
            <a:prstDash val="solid"/>
          </a:ln>
        </p:spPr>
      </p:sp>
      <p:sp>
        <p:nvSpPr>
          <p:cNvPr id="15" name="">
            <a:extLst xmlns:a="http://schemas.openxmlformats.org/drawingml/2006/main">
              <a:ext uri="{FF2B5EF4-FFF2-40B4-BE49-F238E27FC236}">
                <a16:creationId xmlns:a16="http://schemas.microsoft.com/office/drawing/2014/main" id="{8EEF2555-B093-462F-9F40-FDE0019557D6}"/>
              </a:ext>
            </a:extLst>
          </p:cNvPr>
          <p:cNvSpPr>
            <a:spLocks xmlns:a="http://schemas.openxmlformats.org/drawingml/2006/main" noGrp="1"/>
          </p:cNvSpPr>
          <p:nvPr/>
        </p:nvSpPr>
        <p:spPr>
          <a:xfrm xmlns:a="http://schemas.openxmlformats.org/drawingml/2006/main">
            <a:off x="819150" y="3810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FFFFF"/>
                </a:solidFill>
              </a:defRPr>
            </a:pPr>
            <a:r>
              <a:rPr sz="1650" b="1">
                <a:solidFill>
                  <a:srgbClr val="FFFFFF"/>
                </a:solidFill>
              </a:rPr>
              <a:t>3</a:t>
            </a:r>
          </a:p>
        </p:txBody>
      </p:sp>
      <p:sp>
        <p:nvSpPr>
          <p:cNvPr id="16" name="">
            <a:extLst xmlns:a="http://schemas.openxmlformats.org/drawingml/2006/main">
              <a:ext uri="{FF2B5EF4-FFF2-40B4-BE49-F238E27FC236}">
                <a16:creationId xmlns:a16="http://schemas.microsoft.com/office/drawing/2014/main" id="{9C39D5DC-7E0C-4CBE-BBB5-FC5316BF8E4D}"/>
              </a:ext>
            </a:extLst>
          </p:cNvPr>
          <p:cNvSpPr>
            <a:spLocks xmlns:a="http://schemas.openxmlformats.org/drawingml/2006/main" noGrp="1"/>
          </p:cNvSpPr>
          <p:nvPr/>
        </p:nvSpPr>
        <p:spPr>
          <a:xfrm xmlns:a="http://schemas.openxmlformats.org/drawingml/2006/main">
            <a:off x="1428750" y="3714750"/>
            <a:ext cx="40100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07162B"/>
                </a:solidFill>
              </a:defRPr>
            </a:pPr>
            <a:r>
              <a:rPr sz="1650" b="1">
                <a:solidFill>
                  <a:srgbClr val="07162B"/>
                </a:solidFill>
              </a:rPr>
              <a:t>PEA verifies</a:t>
            </a:r>
          </a:p>
        </p:txBody>
      </p:sp>
      <p:sp>
        <p:nvSpPr>
          <p:cNvPr id="17" name="">
            <a:extLst xmlns:a="http://schemas.openxmlformats.org/drawingml/2006/main">
              <a:ext uri="{FF2B5EF4-FFF2-40B4-BE49-F238E27FC236}">
                <a16:creationId xmlns:a16="http://schemas.microsoft.com/office/drawing/2014/main" id="{DEF65698-AEC1-4BE9-89A7-F9E18866C809}"/>
              </a:ext>
            </a:extLst>
          </p:cNvPr>
          <p:cNvSpPr>
            <a:spLocks xmlns:a="http://schemas.openxmlformats.org/drawingml/2006/main" noGrp="1"/>
          </p:cNvSpPr>
          <p:nvPr/>
        </p:nvSpPr>
        <p:spPr>
          <a:xfrm xmlns:a="http://schemas.openxmlformats.org/drawingml/2006/main">
            <a:off x="1428750" y="4076700"/>
            <a:ext cx="40100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233044"/>
                </a:solidFill>
              </a:defRPr>
            </a:pPr>
            <a:r>
              <a:rPr sz="1200" b="0">
                <a:solidFill>
                  <a:srgbClr val="233044"/>
                </a:solidFill>
              </a:rPr>
              <a:t>Did evidence match the time and location?</a:t>
            </a:r>
          </a:p>
        </p:txBody>
      </p:sp>
      <p:sp>
        <p:nvSpPr>
          <p:cNvPr id="18" name="">
            <a:extLst xmlns:a="http://schemas.openxmlformats.org/drawingml/2006/main">
              <a:ext uri="{FF2B5EF4-FFF2-40B4-BE49-F238E27FC236}">
                <a16:creationId xmlns:a16="http://schemas.microsoft.com/office/drawing/2014/main" id="{C30B2716-B857-4D51-85C4-44563C96FBD5}"/>
              </a:ext>
            </a:extLst>
          </p:cNvPr>
          <p:cNvSpPr>
            <a:spLocks xmlns:a="http://schemas.openxmlformats.org/drawingml/2006/main" noGrp="1"/>
          </p:cNvSpPr>
          <p:nvPr/>
        </p:nvSpPr>
        <p:spPr>
          <a:xfrm xmlns:a="http://schemas.openxmlformats.org/drawingml/2006/main">
            <a:off x="6610350" y="3714750"/>
            <a:ext cx="457200" cy="457200"/>
          </a:xfrm>
          <a:prstGeom xmlns:a="http://schemas.openxmlformats.org/drawingml/2006/main" prst="ellipse">
            <a:avLst/>
          </a:prstGeom>
          <a:solidFill xmlns:a="http://schemas.openxmlformats.org/drawingml/2006/main">
            <a:srgbClr val="35B76A"/>
          </a:solidFill>
          <a:ln xmlns:a="http://schemas.openxmlformats.org/drawingml/2006/main" w="0">
            <a:solidFill>
              <a:srgbClr val="35B76A"/>
            </a:solidFill>
            <a:prstDash val="solid"/>
          </a:ln>
        </p:spPr>
      </p:sp>
      <p:sp>
        <p:nvSpPr>
          <p:cNvPr id="19" name="">
            <a:extLst xmlns:a="http://schemas.openxmlformats.org/drawingml/2006/main">
              <a:ext uri="{FF2B5EF4-FFF2-40B4-BE49-F238E27FC236}">
                <a16:creationId xmlns:a16="http://schemas.microsoft.com/office/drawing/2014/main" id="{1897E8E7-4224-4CA5-9456-C147C5656699}"/>
              </a:ext>
            </a:extLst>
          </p:cNvPr>
          <p:cNvSpPr>
            <a:spLocks xmlns:a="http://schemas.openxmlformats.org/drawingml/2006/main" noGrp="1"/>
          </p:cNvSpPr>
          <p:nvPr/>
        </p:nvSpPr>
        <p:spPr>
          <a:xfrm xmlns:a="http://schemas.openxmlformats.org/drawingml/2006/main">
            <a:off x="6610350" y="3810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FFFFF"/>
                </a:solidFill>
              </a:defRPr>
            </a:pPr>
            <a:r>
              <a:rPr sz="1650" b="1">
                <a:solidFill>
                  <a:srgbClr val="FFFFFF"/>
                </a:solidFill>
              </a:rPr>
              <a:t>4</a:t>
            </a:r>
          </a:p>
        </p:txBody>
      </p:sp>
      <p:sp>
        <p:nvSpPr>
          <p:cNvPr id="20" name="">
            <a:extLst xmlns:a="http://schemas.openxmlformats.org/drawingml/2006/main">
              <a:ext uri="{FF2B5EF4-FFF2-40B4-BE49-F238E27FC236}">
                <a16:creationId xmlns:a16="http://schemas.microsoft.com/office/drawing/2014/main" id="{5BDC4772-6AED-429A-9DAB-CE5638B2C330}"/>
              </a:ext>
            </a:extLst>
          </p:cNvPr>
          <p:cNvSpPr>
            <a:spLocks xmlns:a="http://schemas.openxmlformats.org/drawingml/2006/main" noGrp="1"/>
          </p:cNvSpPr>
          <p:nvPr/>
        </p:nvSpPr>
        <p:spPr>
          <a:xfrm xmlns:a="http://schemas.openxmlformats.org/drawingml/2006/main">
            <a:off x="7219950" y="3714750"/>
            <a:ext cx="40100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07162B"/>
                </a:solidFill>
              </a:defRPr>
            </a:pPr>
            <a:r>
              <a:rPr sz="1650" b="1">
                <a:solidFill>
                  <a:srgbClr val="07162B"/>
                </a:solidFill>
              </a:rPr>
              <a:t>PEA responds safely</a:t>
            </a:r>
          </a:p>
        </p:txBody>
      </p:sp>
      <p:sp>
        <p:nvSpPr>
          <p:cNvPr id="21" name="">
            <a:extLst xmlns:a="http://schemas.openxmlformats.org/drawingml/2006/main">
              <a:ext uri="{FF2B5EF4-FFF2-40B4-BE49-F238E27FC236}">
                <a16:creationId xmlns:a16="http://schemas.microsoft.com/office/drawing/2014/main" id="{7B733AC8-9BAD-4194-8C6E-E98404CE00F9}"/>
              </a:ext>
            </a:extLst>
          </p:cNvPr>
          <p:cNvSpPr>
            <a:spLocks xmlns:a="http://schemas.openxmlformats.org/drawingml/2006/main" noGrp="1"/>
          </p:cNvSpPr>
          <p:nvPr/>
        </p:nvSpPr>
        <p:spPr>
          <a:xfrm xmlns:a="http://schemas.openxmlformats.org/drawingml/2006/main">
            <a:off x="7219950" y="4076700"/>
            <a:ext cx="40100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233044"/>
                </a:solidFill>
              </a:defRPr>
            </a:pPr>
            <a:r>
              <a:rPr sz="1200" b="0">
                <a:solidFill>
                  <a:srgbClr val="233044"/>
                </a:solidFill>
              </a:rPr>
              <a:t>Status, shadow ETR candidate, or review lane.</a:t>
            </a:r>
          </a:p>
        </p:txBody>
      </p:sp>
      <p:sp>
        <p:nvSpPr>
          <p:cNvPr id="22" name="">
            <a:extLst xmlns:a="http://schemas.openxmlformats.org/drawingml/2006/main">
              <a:ext uri="{FF2B5EF4-FFF2-40B4-BE49-F238E27FC236}">
                <a16:creationId xmlns:a16="http://schemas.microsoft.com/office/drawing/2014/main" id="{A973A0C3-72D9-4741-A5FE-12B4F3E3FDE7}"/>
              </a:ext>
            </a:extLst>
          </p:cNvPr>
          <p:cNvSpPr>
            <a:spLocks xmlns:a="http://schemas.openxmlformats.org/drawingml/2006/main" noGrp="1"/>
          </p:cNvSpPr>
          <p:nvPr/>
        </p:nvSpPr>
        <p:spPr>
          <a:xfrm xmlns:a="http://schemas.openxmlformats.org/drawingml/2006/main">
            <a:off x="2000250" y="5334000"/>
            <a:ext cx="819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7162B"/>
                </a:solidFill>
              </a:defRPr>
            </a:pPr>
            <a:r>
              <a:rPr sz="1800" b="1">
                <a:solidFill>
                  <a:srgbClr val="07162B"/>
                </a:solidFill>
              </a:rPr>
              <a:t>No code needed for the story: ask -&gt; trace -&gt; verify -&gt; respond.</a:t>
            </a:r>
          </a:p>
        </p:txBody>
      </p:sp>
      <p:sp>
        <p:nvSpPr>
          <p:cNvPr id="23" name="">
            <a:extLst xmlns:a="http://schemas.openxmlformats.org/drawingml/2006/main">
              <a:ext uri="{FF2B5EF4-FFF2-40B4-BE49-F238E27FC236}">
                <a16:creationId xmlns:a16="http://schemas.microsoft.com/office/drawing/2014/main" id="{3FEF66A7-801A-4790-AA12-58EC979CA798}"/>
              </a:ext>
            </a:extLst>
          </p:cNvPr>
          <p:cNvSpPr>
            <a:spLocks xmlns:a="http://schemas.openxmlformats.org/drawingml/2006/main" noGrp="1"/>
          </p:cNvSpPr>
          <p:nvPr/>
        </p:nvSpPr>
        <p:spPr>
          <a:xfrm xmlns:a="http://schemas.openxmlformats.org/drawingml/2006/main">
            <a:off x="3381375" y="6305550"/>
            <a:ext cx="5429250" cy="323850"/>
          </a:xfrm>
          <a:prstGeom xmlns:a="http://schemas.openxmlformats.org/drawingml/2006/main" prst="roundRect">
            <a:avLst>
              <a:gd name="adj" fmla="val 23529"/>
            </a:avLst>
          </a:prstGeom>
          <a:solidFill xmlns:a="http://schemas.openxmlformats.org/drawingml/2006/main">
            <a:srgbClr val="F1F6FC"/>
          </a:solidFill>
          <a:ln xmlns:a="http://schemas.openxmlformats.org/drawingml/2006/main" w="9525">
            <a:solidFill>
              <a:srgbClr val="CAD6E6"/>
            </a:solidFill>
            <a:prstDash val="solid"/>
          </a:ln>
        </p:spPr>
      </p:sp>
      <p:sp>
        <p:nvSpPr>
          <p:cNvPr id="24" name="">
            <a:extLst xmlns:a="http://schemas.openxmlformats.org/drawingml/2006/main">
              <a:ext uri="{FF2B5EF4-FFF2-40B4-BE49-F238E27FC236}">
                <a16:creationId xmlns:a16="http://schemas.microsoft.com/office/drawing/2014/main" id="{CF12D45B-258A-4E5E-BF1B-7FF3B6507D29}"/>
              </a:ext>
            </a:extLst>
          </p:cNvPr>
          <p:cNvSpPr>
            <a:spLocks xmlns:a="http://schemas.openxmlformats.org/drawingml/2006/main" noGrp="1"/>
          </p:cNvSpPr>
          <p:nvPr/>
        </p:nvSpPr>
        <p:spPr>
          <a:xfrm xmlns:a="http://schemas.openxmlformats.org/drawingml/2006/main">
            <a:off x="3543300" y="6362700"/>
            <a:ext cx="5105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24334A"/>
                </a:solidFill>
              </a:defRPr>
            </a:pPr>
            <a:r>
              <a:rPr sz="975" b="1">
                <a:solidFill>
                  <a:srgbClr val="24334A"/>
                </a:solidFill>
              </a:rPr>
              <a:t>mode = shadow | production_send = blocked | Auto ETR not customer-facing yet</a:t>
            </a:r>
          </a:p>
        </p:txBody>
      </p:sp>
    </p:spTree>
    <p:extLst>
      <p:ext uri="{BB962C8B-B14F-4D97-AF65-F5344CB8AC3E}">
        <p14:creationId xmlns:p14="http://schemas.microsoft.com/office/powerpoint/2010/main" val="1333382070"/>
      </p:ext>
    </p:extLst>
  </p:cSld>
</p:sld>
</file>

<file path=ppt/slides/slide6.xml><?xml version="1.0" encoding="utf-8"?>
<p:sld xmlns:p="http://schemas.openxmlformats.org/presentationml/2006/main">
  <p:cSld>
    <p:bg>
      <p:bgPr>
        <a:solidFill xmlns:a="http://schemas.openxmlformats.org/drawingml/2006/main">
          <a:srgbClr val="F6FA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01C5561-AC60-485F-A197-6336DA811CB2}"/>
              </a:ext>
            </a:extLst>
          </p:cNvPr>
          <p:cNvSpPr>
            <a:spLocks xmlns:a="http://schemas.openxmlformats.org/drawingml/2006/main" noGrp="1"/>
          </p:cNvSpPr>
          <p:nvPr/>
        </p:nvSpPr>
        <p:spPr>
          <a:xfrm xmlns:a="http://schemas.openxmlformats.org/drawingml/2006/main">
            <a:off x="533400" y="419100"/>
            <a:ext cx="666750" cy="47625"/>
          </a:xfrm>
          <a:prstGeom xmlns:a="http://schemas.openxmlformats.org/drawingml/2006/main" prst="rect">
            <a:avLst/>
          </a:prstGeom>
          <a:solidFill xmlns:a="http://schemas.openxmlformats.org/drawingml/2006/main">
            <a:srgbClr val="7B57C8"/>
          </a:solidFill>
          <a:ln xmlns:a="http://schemas.openxmlformats.org/drawingml/2006/main" w="0">
            <a:solidFill>
              <a:srgbClr val="7B57C8"/>
            </a:solidFill>
            <a:prstDash val="solid"/>
          </a:ln>
        </p:spPr>
      </p:sp>
      <p:sp>
        <p:nvSpPr>
          <p:cNvPr id="2" name="">
            <a:extLst xmlns:a="http://schemas.openxmlformats.org/drawingml/2006/main">
              <a:ext uri="{FF2B5EF4-FFF2-40B4-BE49-F238E27FC236}">
                <a16:creationId xmlns:a16="http://schemas.microsoft.com/office/drawing/2014/main" id="{937DBB47-D1AF-494D-AF8B-913EFAD5EE0D}"/>
              </a:ext>
            </a:extLst>
          </p:cNvPr>
          <p:cNvSpPr>
            <a:spLocks xmlns:a="http://schemas.openxmlformats.org/drawingml/2006/main" noGrp="1"/>
          </p:cNvSpPr>
          <p:nvPr/>
        </p:nvSpPr>
        <p:spPr>
          <a:xfrm xmlns:a="http://schemas.openxmlformats.org/drawingml/2006/main">
            <a:off x="1257300" y="419100"/>
            <a:ext cx="666750" cy="47625"/>
          </a:xfrm>
          <a:prstGeom xmlns:a="http://schemas.openxmlformats.org/drawingml/2006/main" prst="rect">
            <a:avLst/>
          </a:prstGeom>
          <a:solidFill xmlns:a="http://schemas.openxmlformats.org/drawingml/2006/main">
            <a:srgbClr val="18B8C8"/>
          </a:solidFill>
          <a:ln xmlns:a="http://schemas.openxmlformats.org/drawingml/2006/main" w="0">
            <a:solidFill>
              <a:srgbClr val="18B8C8"/>
            </a:solidFill>
            <a:prstDash val="solid"/>
          </a:ln>
        </p:spPr>
      </p:sp>
      <p:sp>
        <p:nvSpPr>
          <p:cNvPr id="3" name="">
            <a:extLst xmlns:a="http://schemas.openxmlformats.org/drawingml/2006/main">
              <a:ext uri="{FF2B5EF4-FFF2-40B4-BE49-F238E27FC236}">
                <a16:creationId xmlns:a16="http://schemas.microsoft.com/office/drawing/2014/main" id="{71510E58-FD5D-4E5F-B66A-FFAE5F2B98E4}"/>
              </a:ext>
            </a:extLst>
          </p:cNvPr>
          <p:cNvSpPr>
            <a:spLocks xmlns:a="http://schemas.openxmlformats.org/drawingml/2006/main" noGrp="1"/>
          </p:cNvSpPr>
          <p:nvPr/>
        </p:nvSpPr>
        <p:spPr>
          <a:xfrm xmlns:a="http://schemas.openxmlformats.org/drawingml/2006/main">
            <a:off x="533400" y="5905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617088"/>
                </a:solidFill>
              </a:defRPr>
            </a:pPr>
            <a:r>
              <a:rPr sz="975" b="1">
                <a:solidFill>
                  <a:srgbClr val="617088"/>
                </a:solidFill>
              </a:rPr>
              <a:t>CURRENT MVP</a:t>
            </a:r>
          </a:p>
        </p:txBody>
      </p:sp>
      <p:sp>
        <p:nvSpPr>
          <p:cNvPr id="4" name="">
            <a:extLst xmlns:a="http://schemas.openxmlformats.org/drawingml/2006/main">
              <a:ext uri="{FF2B5EF4-FFF2-40B4-BE49-F238E27FC236}">
                <a16:creationId xmlns:a16="http://schemas.microsoft.com/office/drawing/2014/main" id="{0790BB04-47CB-4114-A8BA-BBAD31653E0E}"/>
              </a:ext>
            </a:extLst>
          </p:cNvPr>
          <p:cNvSpPr>
            <a:spLocks xmlns:a="http://schemas.openxmlformats.org/drawingml/2006/main" noGrp="1"/>
          </p:cNvSpPr>
          <p:nvPr/>
        </p:nvSpPr>
        <p:spPr>
          <a:xfrm xmlns:a="http://schemas.openxmlformats.org/drawingml/2006/main">
            <a:off x="533400" y="857250"/>
            <a:ext cx="819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7162B"/>
                </a:solidFill>
              </a:defRPr>
            </a:pPr>
            <a:r>
              <a:rPr sz="3000" b="1">
                <a:solidFill>
                  <a:srgbClr val="07162B"/>
                </a:solidFill>
              </a:rPr>
              <a:t>Cloud Shadow Pilot is already tangible</a:t>
            </a:r>
          </a:p>
        </p:txBody>
      </p:sp>
      <p:sp>
        <p:nvSpPr>
          <p:cNvPr id="5" name="">
            <a:extLst xmlns:a="http://schemas.openxmlformats.org/drawingml/2006/main">
              <a:ext uri="{FF2B5EF4-FFF2-40B4-BE49-F238E27FC236}">
                <a16:creationId xmlns:a16="http://schemas.microsoft.com/office/drawing/2014/main" id="{549C1916-5B3A-42F8-B749-B81DFD6F9B71}"/>
              </a:ext>
            </a:extLst>
          </p:cNvPr>
          <p:cNvSpPr>
            <a:spLocks xmlns:a="http://schemas.openxmlformats.org/drawingml/2006/main" noGrp="1"/>
          </p:cNvSpPr>
          <p:nvPr/>
        </p:nvSpPr>
        <p:spPr>
          <a:xfrm xmlns:a="http://schemas.openxmlformats.org/drawingml/2006/main">
            <a:off x="552450" y="1409700"/>
            <a:ext cx="800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617088"/>
                </a:solidFill>
              </a:defRPr>
            </a:pPr>
            <a:r>
              <a:rPr sz="1500" b="0">
                <a:solidFill>
                  <a:srgbClr val="617088"/>
                </a:solidFill>
              </a:rPr>
              <a:t>The pilot can receive, store, review, and audit. Production send remains blocked.</a:t>
            </a:r>
          </a:p>
        </p:txBody>
      </p:sp>
      <p:sp>
        <p:nvSpPr>
          <p:cNvPr id="6" name="">
            <a:extLst xmlns:a="http://schemas.openxmlformats.org/drawingml/2006/main">
              <a:ext uri="{FF2B5EF4-FFF2-40B4-BE49-F238E27FC236}">
                <a16:creationId xmlns:a16="http://schemas.microsoft.com/office/drawing/2014/main" id="{827B6286-3813-4B7F-98AC-84CC76665422}"/>
              </a:ext>
            </a:extLst>
          </p:cNvPr>
          <p:cNvSpPr>
            <a:spLocks xmlns:a="http://schemas.openxmlformats.org/drawingml/2006/main" noGrp="1"/>
          </p:cNvSpPr>
          <p:nvPr/>
        </p:nvSpPr>
        <p:spPr>
          <a:xfrm xmlns:a="http://schemas.openxmlformats.org/drawingml/2006/main">
            <a:off x="704850" y="2247900"/>
            <a:ext cx="2428875" cy="1952625"/>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AFA98543-0836-4C29-8ED2-C681CBDE2593}"/>
              </a:ext>
            </a:extLst>
          </p:cNvPr>
          <p:cNvSpPr>
            <a:spLocks xmlns:a="http://schemas.openxmlformats.org/drawingml/2006/main" noGrp="1"/>
          </p:cNvSpPr>
          <p:nvPr/>
        </p:nvSpPr>
        <p:spPr>
          <a:xfrm xmlns:a="http://schemas.openxmlformats.org/drawingml/2006/main">
            <a:off x="704850" y="2247900"/>
            <a:ext cx="66675" cy="1952625"/>
          </a:xfrm>
          <a:prstGeom xmlns:a="http://schemas.openxmlformats.org/drawingml/2006/main" prst="rect">
            <a:avLst/>
          </a:prstGeom>
          <a:solidFill xmlns:a="http://schemas.openxmlformats.org/drawingml/2006/main">
            <a:srgbClr val="7B57C8"/>
          </a:solidFill>
          <a:ln xmlns:a="http://schemas.openxmlformats.org/drawingml/2006/main" w="0">
            <a:solidFill>
              <a:srgbClr val="7B57C8"/>
            </a:solidFill>
            <a:prstDash val="solid"/>
          </a:ln>
        </p:spPr>
      </p:sp>
      <p:sp>
        <p:nvSpPr>
          <p:cNvPr id="8" name="">
            <a:extLst xmlns:a="http://schemas.openxmlformats.org/drawingml/2006/main">
              <a:ext uri="{FF2B5EF4-FFF2-40B4-BE49-F238E27FC236}">
                <a16:creationId xmlns:a16="http://schemas.microsoft.com/office/drawing/2014/main" id="{6279ABF8-F0FB-45B7-9FB0-0EB573909733}"/>
              </a:ext>
            </a:extLst>
          </p:cNvPr>
          <p:cNvSpPr>
            <a:spLocks xmlns:a="http://schemas.openxmlformats.org/drawingml/2006/main" noGrp="1"/>
          </p:cNvSpPr>
          <p:nvPr/>
        </p:nvSpPr>
        <p:spPr>
          <a:xfrm xmlns:a="http://schemas.openxmlformats.org/drawingml/2006/main">
            <a:off x="933450" y="2438400"/>
            <a:ext cx="20097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7162B"/>
                </a:solidFill>
              </a:defRPr>
            </a:pPr>
            <a:r>
              <a:rPr sz="1800" b="1">
                <a:solidFill>
                  <a:srgbClr val="07162B"/>
                </a:solidFill>
              </a:rPr>
              <a:t>Cloud API</a:t>
            </a:r>
          </a:p>
        </p:txBody>
      </p:sp>
      <p:sp>
        <p:nvSpPr>
          <p:cNvPr id="9" name="">
            <a:extLst xmlns:a="http://schemas.openxmlformats.org/drawingml/2006/main">
              <a:ext uri="{FF2B5EF4-FFF2-40B4-BE49-F238E27FC236}">
                <a16:creationId xmlns:a16="http://schemas.microsoft.com/office/drawing/2014/main" id="{15CDFC8C-C8ED-472B-B15E-B91396B53141}"/>
              </a:ext>
            </a:extLst>
          </p:cNvPr>
          <p:cNvSpPr>
            <a:spLocks xmlns:a="http://schemas.openxmlformats.org/drawingml/2006/main" noGrp="1"/>
          </p:cNvSpPr>
          <p:nvPr/>
        </p:nvSpPr>
        <p:spPr>
          <a:xfrm xmlns:a="http://schemas.openxmlformats.org/drawingml/2006/main">
            <a:off x="933450" y="2838450"/>
            <a:ext cx="200977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233044"/>
                </a:solidFill>
              </a:defRPr>
            </a:pPr>
            <a:r>
              <a:rPr sz="1350" b="0">
                <a:solidFill>
                  <a:srgbClr val="233044"/>
                </a:solidFill>
              </a:rPr>
              <a:t>POST request accepted</a:t>
            </a:r>
          </a:p>
          <a:p xmlns:a="http://schemas.openxmlformats.org/drawingml/2006/main">
            <a:pPr>
              <a:defRPr sz="1350" b="0">
                <a:solidFill>
                  <a:srgbClr val="233044"/>
                </a:solidFill>
              </a:defRPr>
            </a:pPr>
            <a:r>
              <a:rPr sz="1350" b="0">
                <a:solidFill>
                  <a:srgbClr val="233044"/>
                </a:solidFill>
              </a:rPr>
              <a:t>Status lookup available</a:t>
            </a:r>
          </a:p>
          <a:p xmlns:a="http://schemas.openxmlformats.org/drawingml/2006/main">
            <a:pPr>
              <a:defRPr sz="1350" b="0">
                <a:solidFill>
                  <a:srgbClr val="233044"/>
                </a:solidFill>
              </a:defRPr>
            </a:pPr>
            <a:r>
              <a:rPr sz="1350" b="0">
                <a:solidFill>
                  <a:srgbClr val="233044"/>
                </a:solidFill>
              </a:rPr>
              <a:t>Duplicate-safe request_id</a:t>
            </a:r>
          </a:p>
        </p:txBody>
      </p:sp>
      <p:sp>
        <p:nvSpPr>
          <p:cNvPr id="10" name="">
            <a:extLst xmlns:a="http://schemas.openxmlformats.org/drawingml/2006/main">
              <a:ext uri="{FF2B5EF4-FFF2-40B4-BE49-F238E27FC236}">
                <a16:creationId xmlns:a16="http://schemas.microsoft.com/office/drawing/2014/main" id="{8A7F1C4A-C6B2-46D2-886B-2CABF37165BD}"/>
              </a:ext>
            </a:extLst>
          </p:cNvPr>
          <p:cNvSpPr>
            <a:spLocks xmlns:a="http://schemas.openxmlformats.org/drawingml/2006/main" noGrp="1"/>
          </p:cNvSpPr>
          <p:nvPr/>
        </p:nvSpPr>
        <p:spPr>
          <a:xfrm xmlns:a="http://schemas.openxmlformats.org/drawingml/2006/main">
            <a:off x="3476625" y="2247900"/>
            <a:ext cx="2428875" cy="1952625"/>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F2663341-62DC-4E24-945C-ADD688714B5B}"/>
              </a:ext>
            </a:extLst>
          </p:cNvPr>
          <p:cNvSpPr>
            <a:spLocks xmlns:a="http://schemas.openxmlformats.org/drawingml/2006/main" noGrp="1"/>
          </p:cNvSpPr>
          <p:nvPr/>
        </p:nvSpPr>
        <p:spPr>
          <a:xfrm xmlns:a="http://schemas.openxmlformats.org/drawingml/2006/main">
            <a:off x="3476625" y="2247900"/>
            <a:ext cx="66675" cy="1952625"/>
          </a:xfrm>
          <a:prstGeom xmlns:a="http://schemas.openxmlformats.org/drawingml/2006/main" prst="rect">
            <a:avLst/>
          </a:prstGeom>
          <a:solidFill xmlns:a="http://schemas.openxmlformats.org/drawingml/2006/main">
            <a:srgbClr val="18B8C8"/>
          </a:solidFill>
          <a:ln xmlns:a="http://schemas.openxmlformats.org/drawingml/2006/main" w="0">
            <a:solidFill>
              <a:srgbClr val="18B8C8"/>
            </a:solidFill>
            <a:prstDash val="solid"/>
          </a:ln>
        </p:spPr>
      </p:sp>
      <p:sp>
        <p:nvSpPr>
          <p:cNvPr id="12" name="">
            <a:extLst xmlns:a="http://schemas.openxmlformats.org/drawingml/2006/main">
              <a:ext uri="{FF2B5EF4-FFF2-40B4-BE49-F238E27FC236}">
                <a16:creationId xmlns:a16="http://schemas.microsoft.com/office/drawing/2014/main" id="{2B4BDB33-C8CA-4C40-B8D5-2B20902911D5}"/>
              </a:ext>
            </a:extLst>
          </p:cNvPr>
          <p:cNvSpPr>
            <a:spLocks xmlns:a="http://schemas.openxmlformats.org/drawingml/2006/main" noGrp="1"/>
          </p:cNvSpPr>
          <p:nvPr/>
        </p:nvSpPr>
        <p:spPr>
          <a:xfrm xmlns:a="http://schemas.openxmlformats.org/drawingml/2006/main">
            <a:off x="3705225" y="2438400"/>
            <a:ext cx="20097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7162B"/>
                </a:solidFill>
              </a:defRPr>
            </a:pPr>
            <a:r>
              <a:rPr sz="1800" b="1">
                <a:solidFill>
                  <a:srgbClr val="07162B"/>
                </a:solidFill>
              </a:rPr>
              <a:t>PostgreSQL</a:t>
            </a:r>
          </a:p>
        </p:txBody>
      </p:sp>
      <p:sp>
        <p:nvSpPr>
          <p:cNvPr id="13" name="">
            <a:extLst xmlns:a="http://schemas.openxmlformats.org/drawingml/2006/main">
              <a:ext uri="{FF2B5EF4-FFF2-40B4-BE49-F238E27FC236}">
                <a16:creationId xmlns:a16="http://schemas.microsoft.com/office/drawing/2014/main" id="{A2BC679D-C4BA-477B-9418-21DD18F3AC8A}"/>
              </a:ext>
            </a:extLst>
          </p:cNvPr>
          <p:cNvSpPr>
            <a:spLocks xmlns:a="http://schemas.openxmlformats.org/drawingml/2006/main" noGrp="1"/>
          </p:cNvSpPr>
          <p:nvPr/>
        </p:nvSpPr>
        <p:spPr>
          <a:xfrm xmlns:a="http://schemas.openxmlformats.org/drawingml/2006/main">
            <a:off x="3705225" y="2838450"/>
            <a:ext cx="200977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233044"/>
                </a:solidFill>
              </a:defRPr>
            </a:pPr>
            <a:r>
              <a:rPr sz="1350" b="0">
                <a:solidFill>
                  <a:srgbClr val="233044"/>
                </a:solidFill>
              </a:rPr>
              <a:t>Durable evidence store</a:t>
            </a:r>
          </a:p>
          <a:p xmlns:a="http://schemas.openxmlformats.org/drawingml/2006/main">
            <a:pPr>
              <a:defRPr sz="1350" b="0">
                <a:solidFill>
                  <a:srgbClr val="233044"/>
                </a:solidFill>
              </a:defRPr>
            </a:pPr>
            <a:r>
              <a:rPr sz="1350" b="0">
                <a:solidFill>
                  <a:srgbClr val="233044"/>
                </a:solidFill>
              </a:rPr>
              <a:t>Queryable audit trail</a:t>
            </a:r>
          </a:p>
          <a:p xmlns:a="http://schemas.openxmlformats.org/drawingml/2006/main">
            <a:pPr>
              <a:defRPr sz="1350" b="0">
                <a:solidFill>
                  <a:srgbClr val="233044"/>
                </a:solidFill>
              </a:defRPr>
            </a:pPr>
            <a:r>
              <a:rPr sz="1350" b="0">
                <a:solidFill>
                  <a:srgbClr val="233044"/>
                </a:solidFill>
              </a:rPr>
              <a:t>Cloud-ready path</a:t>
            </a:r>
          </a:p>
        </p:txBody>
      </p:sp>
      <p:sp>
        <p:nvSpPr>
          <p:cNvPr id="14" name="">
            <a:extLst xmlns:a="http://schemas.openxmlformats.org/drawingml/2006/main">
              <a:ext uri="{FF2B5EF4-FFF2-40B4-BE49-F238E27FC236}">
                <a16:creationId xmlns:a16="http://schemas.microsoft.com/office/drawing/2014/main" id="{6DD927DC-4EDE-4AD7-9E27-56966F0C0873}"/>
              </a:ext>
            </a:extLst>
          </p:cNvPr>
          <p:cNvSpPr>
            <a:spLocks xmlns:a="http://schemas.openxmlformats.org/drawingml/2006/main" noGrp="1"/>
          </p:cNvSpPr>
          <p:nvPr/>
        </p:nvSpPr>
        <p:spPr>
          <a:xfrm xmlns:a="http://schemas.openxmlformats.org/drawingml/2006/main">
            <a:off x="6248400" y="2247900"/>
            <a:ext cx="2428875" cy="1952625"/>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2792D09C-0FFF-48A4-85C8-D5F3BC3EE6C3}"/>
              </a:ext>
            </a:extLst>
          </p:cNvPr>
          <p:cNvSpPr>
            <a:spLocks xmlns:a="http://schemas.openxmlformats.org/drawingml/2006/main" noGrp="1"/>
          </p:cNvSpPr>
          <p:nvPr/>
        </p:nvSpPr>
        <p:spPr>
          <a:xfrm xmlns:a="http://schemas.openxmlformats.org/drawingml/2006/main">
            <a:off x="6248400" y="2247900"/>
            <a:ext cx="66675" cy="1952625"/>
          </a:xfrm>
          <a:prstGeom xmlns:a="http://schemas.openxmlformats.org/drawingml/2006/main" prst="rect">
            <a:avLst/>
          </a:prstGeom>
          <a:solidFill xmlns:a="http://schemas.openxmlformats.org/drawingml/2006/main">
            <a:srgbClr val="35B76A"/>
          </a:solidFill>
          <a:ln xmlns:a="http://schemas.openxmlformats.org/drawingml/2006/main" w="0">
            <a:solidFill>
              <a:srgbClr val="35B76A"/>
            </a:solidFill>
            <a:prstDash val="solid"/>
          </a:ln>
        </p:spPr>
      </p:sp>
      <p:sp>
        <p:nvSpPr>
          <p:cNvPr id="16" name="">
            <a:extLst xmlns:a="http://schemas.openxmlformats.org/drawingml/2006/main">
              <a:ext uri="{FF2B5EF4-FFF2-40B4-BE49-F238E27FC236}">
                <a16:creationId xmlns:a16="http://schemas.microsoft.com/office/drawing/2014/main" id="{BDD54754-F96E-499A-91C3-CDA5C157526A}"/>
              </a:ext>
            </a:extLst>
          </p:cNvPr>
          <p:cNvSpPr>
            <a:spLocks xmlns:a="http://schemas.openxmlformats.org/drawingml/2006/main" noGrp="1"/>
          </p:cNvSpPr>
          <p:nvPr/>
        </p:nvSpPr>
        <p:spPr>
          <a:xfrm xmlns:a="http://schemas.openxmlformats.org/drawingml/2006/main">
            <a:off x="6477000" y="2438400"/>
            <a:ext cx="20097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7162B"/>
                </a:solidFill>
              </a:defRPr>
            </a:pPr>
            <a:r>
              <a:rPr sz="1800" b="1">
                <a:solidFill>
                  <a:srgbClr val="07162B"/>
                </a:solidFill>
              </a:rPr>
              <a:t>Web Console</a:t>
            </a:r>
          </a:p>
        </p:txBody>
      </p:sp>
      <p:sp>
        <p:nvSpPr>
          <p:cNvPr id="17" name="">
            <a:extLst xmlns:a="http://schemas.openxmlformats.org/drawingml/2006/main">
              <a:ext uri="{FF2B5EF4-FFF2-40B4-BE49-F238E27FC236}">
                <a16:creationId xmlns:a16="http://schemas.microsoft.com/office/drawing/2014/main" id="{71084838-3BAC-4515-A618-7D89D06342C7}"/>
              </a:ext>
            </a:extLst>
          </p:cNvPr>
          <p:cNvSpPr>
            <a:spLocks xmlns:a="http://schemas.openxmlformats.org/drawingml/2006/main" noGrp="1"/>
          </p:cNvSpPr>
          <p:nvPr/>
        </p:nvSpPr>
        <p:spPr>
          <a:xfrm xmlns:a="http://schemas.openxmlformats.org/drawingml/2006/main">
            <a:off x="6477000" y="2838450"/>
            <a:ext cx="200977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233044"/>
                </a:solidFill>
              </a:defRPr>
            </a:pPr>
            <a:r>
              <a:rPr sz="1350" b="0">
                <a:solidFill>
                  <a:srgbClr val="233044"/>
                </a:solidFill>
              </a:rPr>
              <a:t>Operator view</a:t>
            </a:r>
          </a:p>
          <a:p xmlns:a="http://schemas.openxmlformats.org/drawingml/2006/main">
            <a:pPr>
              <a:defRPr sz="1350" b="0">
                <a:solidFill>
                  <a:srgbClr val="233044"/>
                </a:solidFill>
              </a:defRPr>
            </a:pPr>
            <a:r>
              <a:rPr sz="1350" b="0">
                <a:solidFill>
                  <a:srgbClr val="233044"/>
                </a:solidFill>
              </a:rPr>
              <a:t>Demo flow</a:t>
            </a:r>
          </a:p>
          <a:p xmlns:a="http://schemas.openxmlformats.org/drawingml/2006/main">
            <a:pPr>
              <a:defRPr sz="1350" b="0">
                <a:solidFill>
                  <a:srgbClr val="233044"/>
                </a:solidFill>
              </a:defRPr>
            </a:pPr>
            <a:r>
              <a:rPr sz="1350" b="0">
                <a:solidFill>
                  <a:srgbClr val="233044"/>
                </a:solidFill>
              </a:rPr>
              <a:t>No fallback story needed</a:t>
            </a:r>
          </a:p>
        </p:txBody>
      </p:sp>
      <p:sp>
        <p:nvSpPr>
          <p:cNvPr id="18" name="">
            <a:extLst xmlns:a="http://schemas.openxmlformats.org/drawingml/2006/main">
              <a:ext uri="{FF2B5EF4-FFF2-40B4-BE49-F238E27FC236}">
                <a16:creationId xmlns:a16="http://schemas.microsoft.com/office/drawing/2014/main" id="{1003ACB4-AA4C-4843-8338-D846CCD56226}"/>
              </a:ext>
            </a:extLst>
          </p:cNvPr>
          <p:cNvSpPr>
            <a:spLocks xmlns:a="http://schemas.openxmlformats.org/drawingml/2006/main" noGrp="1"/>
          </p:cNvSpPr>
          <p:nvPr/>
        </p:nvSpPr>
        <p:spPr>
          <a:xfrm xmlns:a="http://schemas.openxmlformats.org/drawingml/2006/main">
            <a:off x="9020175" y="2247900"/>
            <a:ext cx="2428875" cy="1952625"/>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ECEDAD73-1332-47A2-B355-05B8D209A033}"/>
              </a:ext>
            </a:extLst>
          </p:cNvPr>
          <p:cNvSpPr>
            <a:spLocks xmlns:a="http://schemas.openxmlformats.org/drawingml/2006/main" noGrp="1"/>
          </p:cNvSpPr>
          <p:nvPr/>
        </p:nvSpPr>
        <p:spPr>
          <a:xfrm xmlns:a="http://schemas.openxmlformats.org/drawingml/2006/main">
            <a:off x="9020175" y="2247900"/>
            <a:ext cx="66675" cy="1952625"/>
          </a:xfrm>
          <a:prstGeom xmlns:a="http://schemas.openxmlformats.org/drawingml/2006/main" prst="rect">
            <a:avLst/>
          </a:prstGeom>
          <a:solidFill xmlns:a="http://schemas.openxmlformats.org/drawingml/2006/main">
            <a:srgbClr val="F7B84B"/>
          </a:solidFill>
          <a:ln xmlns:a="http://schemas.openxmlformats.org/drawingml/2006/main" w="0">
            <a:solidFill>
              <a:srgbClr val="F7B84B"/>
            </a:solidFill>
            <a:prstDash val="solid"/>
          </a:ln>
        </p:spPr>
      </p:sp>
      <p:sp>
        <p:nvSpPr>
          <p:cNvPr id="20" name="">
            <a:extLst xmlns:a="http://schemas.openxmlformats.org/drawingml/2006/main">
              <a:ext uri="{FF2B5EF4-FFF2-40B4-BE49-F238E27FC236}">
                <a16:creationId xmlns:a16="http://schemas.microsoft.com/office/drawing/2014/main" id="{61D7BAF8-5CA2-4964-A31E-A867751C37A3}"/>
              </a:ext>
            </a:extLst>
          </p:cNvPr>
          <p:cNvSpPr>
            <a:spLocks xmlns:a="http://schemas.openxmlformats.org/drawingml/2006/main" noGrp="1"/>
          </p:cNvSpPr>
          <p:nvPr/>
        </p:nvSpPr>
        <p:spPr>
          <a:xfrm xmlns:a="http://schemas.openxmlformats.org/drawingml/2006/main">
            <a:off x="9248775" y="2438400"/>
            <a:ext cx="20097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7162B"/>
                </a:solidFill>
              </a:defRPr>
            </a:pPr>
            <a:r>
              <a:rPr sz="1800" b="1">
                <a:solidFill>
                  <a:srgbClr val="07162B"/>
                </a:solidFill>
              </a:rPr>
              <a:t>Guardrail</a:t>
            </a:r>
          </a:p>
        </p:txBody>
      </p:sp>
      <p:sp>
        <p:nvSpPr>
          <p:cNvPr id="21" name="">
            <a:extLst xmlns:a="http://schemas.openxmlformats.org/drawingml/2006/main">
              <a:ext uri="{FF2B5EF4-FFF2-40B4-BE49-F238E27FC236}">
                <a16:creationId xmlns:a16="http://schemas.microsoft.com/office/drawing/2014/main" id="{EF35475E-9296-40BE-BA9C-2E002C5EECC0}"/>
              </a:ext>
            </a:extLst>
          </p:cNvPr>
          <p:cNvSpPr>
            <a:spLocks xmlns:a="http://schemas.openxmlformats.org/drawingml/2006/main" noGrp="1"/>
          </p:cNvSpPr>
          <p:nvPr/>
        </p:nvSpPr>
        <p:spPr>
          <a:xfrm xmlns:a="http://schemas.openxmlformats.org/drawingml/2006/main">
            <a:off x="9248775" y="2838450"/>
            <a:ext cx="200977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233044"/>
                </a:solidFill>
              </a:defRPr>
            </a:pPr>
            <a:r>
              <a:rPr sz="1350" b="0">
                <a:solidFill>
                  <a:srgbClr val="233044"/>
                </a:solidFill>
              </a:rPr>
              <a:t>production_send</a:t>
            </a:r>
          </a:p>
          <a:p xmlns:a="http://schemas.openxmlformats.org/drawingml/2006/main">
            <a:pPr>
              <a:defRPr sz="1350" b="0">
                <a:solidFill>
                  <a:srgbClr val="233044"/>
                </a:solidFill>
              </a:defRPr>
            </a:pPr>
            <a:r>
              <a:rPr sz="1350" b="0">
                <a:solidFill>
                  <a:srgbClr val="233044"/>
                </a:solidFill>
              </a:rPr>
              <a:t>remains blocked</a:t>
            </a:r>
          </a:p>
          <a:p xmlns:a="http://schemas.openxmlformats.org/drawingml/2006/main">
            <a:pPr>
              <a:defRPr sz="1350" b="0">
                <a:solidFill>
                  <a:srgbClr val="233044"/>
                </a:solidFill>
              </a:defRPr>
            </a:pPr>
            <a:r>
              <a:rPr sz="1350" b="0">
                <a:solidFill>
                  <a:srgbClr val="233044"/>
                </a:solidFill>
              </a:rPr>
              <a:t>No customer-facing Auto ETR</a:t>
            </a:r>
          </a:p>
        </p:txBody>
      </p:sp>
      <p:sp>
        <p:nvSpPr>
          <p:cNvPr id="22" name="">
            <a:extLst xmlns:a="http://schemas.openxmlformats.org/drawingml/2006/main">
              <a:ext uri="{FF2B5EF4-FFF2-40B4-BE49-F238E27FC236}">
                <a16:creationId xmlns:a16="http://schemas.microsoft.com/office/drawing/2014/main" id="{BB39804F-4D79-4A04-A8FF-AADE162D8099}"/>
              </a:ext>
            </a:extLst>
          </p:cNvPr>
          <p:cNvSpPr>
            <a:spLocks xmlns:a="http://schemas.openxmlformats.org/drawingml/2006/main" noGrp="1"/>
          </p:cNvSpPr>
          <p:nvPr/>
        </p:nvSpPr>
        <p:spPr>
          <a:xfrm xmlns:a="http://schemas.openxmlformats.org/drawingml/2006/main">
            <a:off x="2152650" y="5000625"/>
            <a:ext cx="78867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9E3F0"/>
            </a:solidFill>
            <a:prstDash val="solid"/>
          </a:ln>
        </p:spPr>
      </p:sp>
      <p:sp>
        <p:nvSpPr>
          <p:cNvPr id="23" name="">
            <a:extLst xmlns:a="http://schemas.openxmlformats.org/drawingml/2006/main">
              <a:ext uri="{FF2B5EF4-FFF2-40B4-BE49-F238E27FC236}">
                <a16:creationId xmlns:a16="http://schemas.microsoft.com/office/drawing/2014/main" id="{28F1B335-97E8-4433-A81A-B13811EC250F}"/>
              </a:ext>
            </a:extLst>
          </p:cNvPr>
          <p:cNvSpPr>
            <a:spLocks xmlns:a="http://schemas.openxmlformats.org/drawingml/2006/main" noGrp="1"/>
          </p:cNvSpPr>
          <p:nvPr/>
        </p:nvSpPr>
        <p:spPr>
          <a:xfrm xmlns:a="http://schemas.openxmlformats.org/drawingml/2006/main">
            <a:off x="2343150" y="5162550"/>
            <a:ext cx="7505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7162B"/>
                </a:solidFill>
              </a:defRPr>
            </a:pPr>
            <a:r>
              <a:rPr sz="1650" b="1">
                <a:solidFill>
                  <a:srgbClr val="07162B"/>
                </a:solidFill>
              </a:rPr>
              <a:t>Built enough to prove flow. Conservative enough to protect production.</a:t>
            </a:r>
          </a:p>
        </p:txBody>
      </p:sp>
      <p:sp>
        <p:nvSpPr>
          <p:cNvPr id="24" name="">
            <a:extLst xmlns:a="http://schemas.openxmlformats.org/drawingml/2006/main">
              <a:ext uri="{FF2B5EF4-FFF2-40B4-BE49-F238E27FC236}">
                <a16:creationId xmlns:a16="http://schemas.microsoft.com/office/drawing/2014/main" id="{7A66D5AC-D2A9-4EEF-B8E7-290AA3ABE625}"/>
              </a:ext>
            </a:extLst>
          </p:cNvPr>
          <p:cNvSpPr>
            <a:spLocks xmlns:a="http://schemas.openxmlformats.org/drawingml/2006/main" noGrp="1"/>
          </p:cNvSpPr>
          <p:nvPr/>
        </p:nvSpPr>
        <p:spPr>
          <a:xfrm xmlns:a="http://schemas.openxmlformats.org/drawingml/2006/main">
            <a:off x="3381375" y="6305550"/>
            <a:ext cx="5429250" cy="323850"/>
          </a:xfrm>
          <a:prstGeom xmlns:a="http://schemas.openxmlformats.org/drawingml/2006/main" prst="roundRect">
            <a:avLst>
              <a:gd name="adj" fmla="val 23529"/>
            </a:avLst>
          </a:prstGeom>
          <a:solidFill xmlns:a="http://schemas.openxmlformats.org/drawingml/2006/main">
            <a:srgbClr val="F1F6FC"/>
          </a:solidFill>
          <a:ln xmlns:a="http://schemas.openxmlformats.org/drawingml/2006/main" w="9525">
            <a:solidFill>
              <a:srgbClr val="CAD6E6"/>
            </a:solidFill>
            <a:prstDash val="solid"/>
          </a:ln>
        </p:spPr>
      </p:sp>
      <p:sp>
        <p:nvSpPr>
          <p:cNvPr id="25" name="">
            <a:extLst xmlns:a="http://schemas.openxmlformats.org/drawingml/2006/main">
              <a:ext uri="{FF2B5EF4-FFF2-40B4-BE49-F238E27FC236}">
                <a16:creationId xmlns:a16="http://schemas.microsoft.com/office/drawing/2014/main" id="{95259884-1592-4FC8-9ADD-88F6621156E6}"/>
              </a:ext>
            </a:extLst>
          </p:cNvPr>
          <p:cNvSpPr>
            <a:spLocks xmlns:a="http://schemas.openxmlformats.org/drawingml/2006/main" noGrp="1"/>
          </p:cNvSpPr>
          <p:nvPr/>
        </p:nvSpPr>
        <p:spPr>
          <a:xfrm xmlns:a="http://schemas.openxmlformats.org/drawingml/2006/main">
            <a:off x="3543300" y="6362700"/>
            <a:ext cx="5105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24334A"/>
                </a:solidFill>
              </a:defRPr>
            </a:pPr>
            <a:r>
              <a:rPr sz="975" b="1">
                <a:solidFill>
                  <a:srgbClr val="24334A"/>
                </a:solidFill>
              </a:rPr>
              <a:t>mode = shadow | production_send = blocked | Auto ETR not customer-facing yet</a:t>
            </a:r>
          </a:p>
        </p:txBody>
      </p:sp>
    </p:spTree>
    <p:extLst>
      <p:ext uri="{BB962C8B-B14F-4D97-AF65-F5344CB8AC3E}">
        <p14:creationId xmlns:p14="http://schemas.microsoft.com/office/powerpoint/2010/main" val="10910710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BE19EA9-4B32-4A15-B5BC-DCF43F668BB8}"/>
              </a:ext>
            </a:extLst>
          </p:cNvPr>
          <p:cNvSpPr>
            <a:spLocks xmlns:a="http://schemas.openxmlformats.org/drawingml/2006/main" noGrp="1"/>
          </p:cNvSpPr>
          <p:nvPr/>
        </p:nvSpPr>
        <p:spPr>
          <a:xfrm xmlns:a="http://schemas.openxmlformats.org/drawingml/2006/main">
            <a:off x="533400" y="419100"/>
            <a:ext cx="666750" cy="47625"/>
          </a:xfrm>
          <a:prstGeom xmlns:a="http://schemas.openxmlformats.org/drawingml/2006/main" prst="rect">
            <a:avLst/>
          </a:prstGeom>
          <a:solidFill xmlns:a="http://schemas.openxmlformats.org/drawingml/2006/main">
            <a:srgbClr val="7B57C8"/>
          </a:solidFill>
          <a:ln xmlns:a="http://schemas.openxmlformats.org/drawingml/2006/main" w="0">
            <a:solidFill>
              <a:srgbClr val="7B57C8"/>
            </a:solidFill>
            <a:prstDash val="solid"/>
          </a:ln>
        </p:spPr>
      </p:sp>
      <p:sp>
        <p:nvSpPr>
          <p:cNvPr id="2" name="">
            <a:extLst xmlns:a="http://schemas.openxmlformats.org/drawingml/2006/main">
              <a:ext uri="{FF2B5EF4-FFF2-40B4-BE49-F238E27FC236}">
                <a16:creationId xmlns:a16="http://schemas.microsoft.com/office/drawing/2014/main" id="{E70D8E5D-54CE-4145-A2EC-1762584B2914}"/>
              </a:ext>
            </a:extLst>
          </p:cNvPr>
          <p:cNvSpPr>
            <a:spLocks xmlns:a="http://schemas.openxmlformats.org/drawingml/2006/main" noGrp="1"/>
          </p:cNvSpPr>
          <p:nvPr/>
        </p:nvSpPr>
        <p:spPr>
          <a:xfrm xmlns:a="http://schemas.openxmlformats.org/drawingml/2006/main">
            <a:off x="1257300" y="419100"/>
            <a:ext cx="666750" cy="47625"/>
          </a:xfrm>
          <a:prstGeom xmlns:a="http://schemas.openxmlformats.org/drawingml/2006/main" prst="rect">
            <a:avLst/>
          </a:prstGeom>
          <a:solidFill xmlns:a="http://schemas.openxmlformats.org/drawingml/2006/main">
            <a:srgbClr val="18B8C8"/>
          </a:solidFill>
          <a:ln xmlns:a="http://schemas.openxmlformats.org/drawingml/2006/main" w="0">
            <a:solidFill>
              <a:srgbClr val="18B8C8"/>
            </a:solidFill>
            <a:prstDash val="solid"/>
          </a:ln>
        </p:spPr>
      </p:sp>
      <p:sp>
        <p:nvSpPr>
          <p:cNvPr id="3" name="">
            <a:extLst xmlns:a="http://schemas.openxmlformats.org/drawingml/2006/main">
              <a:ext uri="{FF2B5EF4-FFF2-40B4-BE49-F238E27FC236}">
                <a16:creationId xmlns:a16="http://schemas.microsoft.com/office/drawing/2014/main" id="{4468FD48-B1B8-4CA8-BA8B-EB8003992D3F}"/>
              </a:ext>
            </a:extLst>
          </p:cNvPr>
          <p:cNvSpPr>
            <a:spLocks xmlns:a="http://schemas.openxmlformats.org/drawingml/2006/main" noGrp="1"/>
          </p:cNvSpPr>
          <p:nvPr/>
        </p:nvSpPr>
        <p:spPr>
          <a:xfrm xmlns:a="http://schemas.openxmlformats.org/drawingml/2006/main">
            <a:off x="533400" y="5905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617088"/>
                </a:solidFill>
              </a:defRPr>
            </a:pPr>
            <a:r>
              <a:rPr sz="975" b="1">
                <a:solidFill>
                  <a:srgbClr val="617088"/>
                </a:solidFill>
              </a:rPr>
              <a:t>DEMO FLOW</a:t>
            </a:r>
          </a:p>
        </p:txBody>
      </p:sp>
      <p:sp>
        <p:nvSpPr>
          <p:cNvPr id="4" name="">
            <a:extLst xmlns:a="http://schemas.openxmlformats.org/drawingml/2006/main">
              <a:ext uri="{FF2B5EF4-FFF2-40B4-BE49-F238E27FC236}">
                <a16:creationId xmlns:a16="http://schemas.microsoft.com/office/drawing/2014/main" id="{5FA50F1B-4D22-49C4-BEFB-1BE2E1B5902D}"/>
              </a:ext>
            </a:extLst>
          </p:cNvPr>
          <p:cNvSpPr>
            <a:spLocks xmlns:a="http://schemas.openxmlformats.org/drawingml/2006/main" noGrp="1"/>
          </p:cNvSpPr>
          <p:nvPr/>
        </p:nvSpPr>
        <p:spPr>
          <a:xfrm xmlns:a="http://schemas.openxmlformats.org/drawingml/2006/main">
            <a:off x="533400" y="857250"/>
            <a:ext cx="819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7162B"/>
                </a:solidFill>
              </a:defRPr>
            </a:pPr>
            <a:r>
              <a:rPr sz="3000" b="1">
                <a:solidFill>
                  <a:srgbClr val="07162B"/>
                </a:solidFill>
              </a:rPr>
              <a:t>A five-step mission the judges can follow</a:t>
            </a:r>
          </a:p>
        </p:txBody>
      </p:sp>
      <p:sp>
        <p:nvSpPr>
          <p:cNvPr id="5" name="">
            <a:extLst xmlns:a="http://schemas.openxmlformats.org/drawingml/2006/main">
              <a:ext uri="{FF2B5EF4-FFF2-40B4-BE49-F238E27FC236}">
                <a16:creationId xmlns:a16="http://schemas.microsoft.com/office/drawing/2014/main" id="{B83033C4-4D88-4BC4-BFDB-EB69B0827A26}"/>
              </a:ext>
            </a:extLst>
          </p:cNvPr>
          <p:cNvSpPr>
            <a:spLocks xmlns:a="http://schemas.openxmlformats.org/drawingml/2006/main" noGrp="1"/>
          </p:cNvSpPr>
          <p:nvPr/>
        </p:nvSpPr>
        <p:spPr>
          <a:xfrm xmlns:a="http://schemas.openxmlformats.org/drawingml/2006/main">
            <a:off x="552450" y="1409700"/>
            <a:ext cx="800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617088"/>
                </a:solidFill>
              </a:defRPr>
            </a:pPr>
            <a:r>
              <a:rPr sz="1500" b="0">
                <a:solidFill>
                  <a:srgbClr val="617088"/>
                </a:solidFill>
              </a:rPr>
              <a:t>This is the exact story to show during the interactive demo.</a:t>
            </a:r>
          </a:p>
        </p:txBody>
      </p:sp>
      <p:sp>
        <p:nvSpPr>
          <p:cNvPr id="6" name="">
            <a:extLst xmlns:a="http://schemas.openxmlformats.org/drawingml/2006/main">
              <a:ext uri="{FF2B5EF4-FFF2-40B4-BE49-F238E27FC236}">
                <a16:creationId xmlns:a16="http://schemas.microsoft.com/office/drawing/2014/main" id="{422A7D79-93F6-4079-AA48-8B7D50F83008}"/>
              </a:ext>
            </a:extLst>
          </p:cNvPr>
          <p:cNvSpPr>
            <a:spLocks xmlns:a="http://schemas.openxmlformats.org/drawingml/2006/main" noGrp="1"/>
          </p:cNvSpPr>
          <p:nvPr/>
        </p:nvSpPr>
        <p:spPr>
          <a:xfrm xmlns:a="http://schemas.openxmlformats.org/drawingml/2006/main">
            <a:off x="552450" y="2476500"/>
            <a:ext cx="1847850" cy="1809750"/>
          </a:xfrm>
          <a:prstGeom xmlns:a="http://schemas.openxmlformats.org/drawingml/2006/main" prst="roundRect">
            <a:avLst>
              <a:gd name="adj" fmla="val 6316"/>
            </a:avLst>
          </a:prstGeom>
          <a:solidFill xmlns:a="http://schemas.openxmlformats.org/drawingml/2006/main">
            <a:srgbClr val="F8FB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138ECB3E-1114-48B8-BC95-ACF9E61B9DA8}"/>
              </a:ext>
            </a:extLst>
          </p:cNvPr>
          <p:cNvSpPr>
            <a:spLocks xmlns:a="http://schemas.openxmlformats.org/drawingml/2006/main" noGrp="1"/>
          </p:cNvSpPr>
          <p:nvPr/>
        </p:nvSpPr>
        <p:spPr>
          <a:xfrm xmlns:a="http://schemas.openxmlformats.org/drawingml/2006/main">
            <a:off x="1181100" y="2667000"/>
            <a:ext cx="590550" cy="590550"/>
          </a:xfrm>
          <a:prstGeom xmlns:a="http://schemas.openxmlformats.org/drawingml/2006/main" prst="ellipse">
            <a:avLst/>
          </a:prstGeom>
          <a:solidFill xmlns:a="http://schemas.openxmlformats.org/drawingml/2006/main">
            <a:srgbClr val="7B57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A48343F-3CE3-411C-B4AF-AAC645D9FFA1}"/>
              </a:ext>
            </a:extLst>
          </p:cNvPr>
          <p:cNvSpPr>
            <a:spLocks xmlns:a="http://schemas.openxmlformats.org/drawingml/2006/main" noGrp="1"/>
          </p:cNvSpPr>
          <p:nvPr/>
        </p:nvSpPr>
        <p:spPr>
          <a:xfrm xmlns:a="http://schemas.openxmlformats.org/drawingml/2006/main">
            <a:off x="1181100" y="280035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FFFF"/>
                </a:solidFill>
              </a:defRPr>
            </a:pPr>
            <a:r>
              <a:rPr sz="1800" b="1">
                <a:solidFill>
                  <a:srgbClr val="FFFFFF"/>
                </a:solidFill>
              </a:rPr>
              <a:t>1</a:t>
            </a:r>
          </a:p>
        </p:txBody>
      </p:sp>
      <p:sp>
        <p:nvSpPr>
          <p:cNvPr id="9" name="">
            <a:extLst xmlns:a="http://schemas.openxmlformats.org/drawingml/2006/main">
              <a:ext uri="{FF2B5EF4-FFF2-40B4-BE49-F238E27FC236}">
                <a16:creationId xmlns:a16="http://schemas.microsoft.com/office/drawing/2014/main" id="{EDD88C3B-B3E2-44FB-8228-660F2B06E942}"/>
              </a:ext>
            </a:extLst>
          </p:cNvPr>
          <p:cNvSpPr>
            <a:spLocks xmlns:a="http://schemas.openxmlformats.org/drawingml/2006/main" noGrp="1"/>
          </p:cNvSpPr>
          <p:nvPr/>
        </p:nvSpPr>
        <p:spPr>
          <a:xfrm xmlns:a="http://schemas.openxmlformats.org/drawingml/2006/main">
            <a:off x="723900" y="340995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7162B"/>
                </a:solidFill>
              </a:defRPr>
            </a:pPr>
            <a:r>
              <a:rPr sz="1575" b="1">
                <a:solidFill>
                  <a:srgbClr val="07162B"/>
                </a:solidFill>
              </a:rPr>
              <a:t>AIS sends</a:t>
            </a:r>
          </a:p>
        </p:txBody>
      </p:sp>
      <p:sp>
        <p:nvSpPr>
          <p:cNvPr id="10" name="">
            <a:extLst xmlns:a="http://schemas.openxmlformats.org/drawingml/2006/main">
              <a:ext uri="{FF2B5EF4-FFF2-40B4-BE49-F238E27FC236}">
                <a16:creationId xmlns:a16="http://schemas.microsoft.com/office/drawing/2014/main" id="{683897C4-DCC1-4AFF-B39C-1C9BF2E9FDF9}"/>
              </a:ext>
            </a:extLst>
          </p:cNvPr>
          <p:cNvSpPr>
            <a:spLocks xmlns:a="http://schemas.openxmlformats.org/drawingml/2006/main" noGrp="1"/>
          </p:cNvSpPr>
          <p:nvPr/>
        </p:nvSpPr>
        <p:spPr>
          <a:xfrm xmlns:a="http://schemas.openxmlformats.org/drawingml/2006/main">
            <a:off x="723900" y="3752850"/>
            <a:ext cx="1504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233044"/>
                </a:solidFill>
              </a:defRPr>
            </a:pPr>
            <a:r>
              <a:rPr sz="1125" b="0">
                <a:solidFill>
                  <a:srgbClr val="233044"/>
                </a:solidFill>
              </a:rPr>
              <a:t>API request</a:t>
            </a:r>
          </a:p>
        </p:txBody>
      </p:sp>
      <p:sp>
        <p:nvSpPr>
          <p:cNvPr id="11" name="">
            <a:extLst xmlns:a="http://schemas.openxmlformats.org/drawingml/2006/main">
              <a:ext uri="{FF2B5EF4-FFF2-40B4-BE49-F238E27FC236}">
                <a16:creationId xmlns:a16="http://schemas.microsoft.com/office/drawing/2014/main" id="{50DEA14A-3201-4692-9145-E3EEE29BBF7F}"/>
              </a:ext>
            </a:extLst>
          </p:cNvPr>
          <p:cNvSpPr>
            <a:spLocks xmlns:a="http://schemas.openxmlformats.org/drawingml/2006/main" noGrp="1"/>
          </p:cNvSpPr>
          <p:nvPr/>
        </p:nvSpPr>
        <p:spPr>
          <a:xfrm xmlns:a="http://schemas.openxmlformats.org/drawingml/2006/main">
            <a:off x="2495550" y="3143250"/>
            <a:ext cx="34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617088"/>
                </a:solidFill>
              </a:defRPr>
            </a:pPr>
            <a:r>
              <a:rPr sz="2250" b="1">
                <a:solidFill>
                  <a:srgbClr val="617088"/>
                </a:solidFill>
              </a:rPr>
              <a:t>-&gt;</a:t>
            </a:r>
          </a:p>
        </p:txBody>
      </p:sp>
      <p:sp>
        <p:nvSpPr>
          <p:cNvPr id="12" name="">
            <a:extLst xmlns:a="http://schemas.openxmlformats.org/drawingml/2006/main">
              <a:ext uri="{FF2B5EF4-FFF2-40B4-BE49-F238E27FC236}">
                <a16:creationId xmlns:a16="http://schemas.microsoft.com/office/drawing/2014/main" id="{0BFED6C2-DA91-4B0C-96DE-6134EA4C8070}"/>
              </a:ext>
            </a:extLst>
          </p:cNvPr>
          <p:cNvSpPr>
            <a:spLocks xmlns:a="http://schemas.openxmlformats.org/drawingml/2006/main" noGrp="1"/>
          </p:cNvSpPr>
          <p:nvPr/>
        </p:nvSpPr>
        <p:spPr>
          <a:xfrm xmlns:a="http://schemas.openxmlformats.org/drawingml/2006/main">
            <a:off x="2857500" y="2476500"/>
            <a:ext cx="1847850" cy="1809750"/>
          </a:xfrm>
          <a:prstGeom xmlns:a="http://schemas.openxmlformats.org/drawingml/2006/main" prst="roundRect">
            <a:avLst>
              <a:gd name="adj" fmla="val 6316"/>
            </a:avLst>
          </a:prstGeom>
          <a:solidFill xmlns:a="http://schemas.openxmlformats.org/drawingml/2006/main">
            <a:srgbClr val="F8FB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DFA0EEDE-9FA7-4C94-974A-8232BEC474BA}"/>
              </a:ext>
            </a:extLst>
          </p:cNvPr>
          <p:cNvSpPr>
            <a:spLocks xmlns:a="http://schemas.openxmlformats.org/drawingml/2006/main" noGrp="1"/>
          </p:cNvSpPr>
          <p:nvPr/>
        </p:nvSpPr>
        <p:spPr>
          <a:xfrm xmlns:a="http://schemas.openxmlformats.org/drawingml/2006/main">
            <a:off x="3486150" y="2667000"/>
            <a:ext cx="590550" cy="590550"/>
          </a:xfrm>
          <a:prstGeom xmlns:a="http://schemas.openxmlformats.org/drawingml/2006/main" prst="ellipse">
            <a:avLst/>
          </a:prstGeom>
          <a:solidFill xmlns:a="http://schemas.openxmlformats.org/drawingml/2006/main">
            <a:srgbClr val="18B8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A668ACF-5BB0-41F7-85B1-C917D01726CC}"/>
              </a:ext>
            </a:extLst>
          </p:cNvPr>
          <p:cNvSpPr>
            <a:spLocks xmlns:a="http://schemas.openxmlformats.org/drawingml/2006/main" noGrp="1"/>
          </p:cNvSpPr>
          <p:nvPr/>
        </p:nvSpPr>
        <p:spPr>
          <a:xfrm xmlns:a="http://schemas.openxmlformats.org/drawingml/2006/main">
            <a:off x="3486150" y="280035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FFFF"/>
                </a:solidFill>
              </a:defRPr>
            </a:pPr>
            <a:r>
              <a:rPr sz="1800" b="1">
                <a:solidFill>
                  <a:srgbClr val="FFFFFF"/>
                </a:solidFill>
              </a:rPr>
              <a:t>2</a:t>
            </a:r>
          </a:p>
        </p:txBody>
      </p:sp>
      <p:sp>
        <p:nvSpPr>
          <p:cNvPr id="15" name="">
            <a:extLst xmlns:a="http://schemas.openxmlformats.org/drawingml/2006/main">
              <a:ext uri="{FF2B5EF4-FFF2-40B4-BE49-F238E27FC236}">
                <a16:creationId xmlns:a16="http://schemas.microsoft.com/office/drawing/2014/main" id="{880AFE86-55D1-47B2-9793-008A20048C6E}"/>
              </a:ext>
            </a:extLst>
          </p:cNvPr>
          <p:cNvSpPr>
            <a:spLocks xmlns:a="http://schemas.openxmlformats.org/drawingml/2006/main" noGrp="1"/>
          </p:cNvSpPr>
          <p:nvPr/>
        </p:nvSpPr>
        <p:spPr>
          <a:xfrm xmlns:a="http://schemas.openxmlformats.org/drawingml/2006/main">
            <a:off x="3028950" y="340995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7162B"/>
                </a:solidFill>
              </a:defRPr>
            </a:pPr>
            <a:r>
              <a:rPr sz="1575" b="1">
                <a:solidFill>
                  <a:srgbClr val="07162B"/>
                </a:solidFill>
              </a:rPr>
              <a:t>PEA accepts</a:t>
            </a:r>
          </a:p>
        </p:txBody>
      </p:sp>
      <p:sp>
        <p:nvSpPr>
          <p:cNvPr id="16" name="">
            <a:extLst xmlns:a="http://schemas.openxmlformats.org/drawingml/2006/main">
              <a:ext uri="{FF2B5EF4-FFF2-40B4-BE49-F238E27FC236}">
                <a16:creationId xmlns:a16="http://schemas.microsoft.com/office/drawing/2014/main" id="{6DD88F4C-EDC4-435C-B146-A30E0CDD8DBB}"/>
              </a:ext>
            </a:extLst>
          </p:cNvPr>
          <p:cNvSpPr>
            <a:spLocks xmlns:a="http://schemas.openxmlformats.org/drawingml/2006/main" noGrp="1"/>
          </p:cNvSpPr>
          <p:nvPr/>
        </p:nvSpPr>
        <p:spPr>
          <a:xfrm xmlns:a="http://schemas.openxmlformats.org/drawingml/2006/main">
            <a:off x="3028950" y="3752850"/>
            <a:ext cx="1504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233044"/>
                </a:solidFill>
              </a:defRPr>
            </a:pPr>
            <a:r>
              <a:rPr sz="1125" b="0">
                <a:solidFill>
                  <a:srgbClr val="233044"/>
                </a:solidFill>
              </a:rPr>
              <a:t>202 Accepted</a:t>
            </a:r>
          </a:p>
        </p:txBody>
      </p:sp>
      <p:sp>
        <p:nvSpPr>
          <p:cNvPr id="17" name="">
            <a:extLst xmlns:a="http://schemas.openxmlformats.org/drawingml/2006/main">
              <a:ext uri="{FF2B5EF4-FFF2-40B4-BE49-F238E27FC236}">
                <a16:creationId xmlns:a16="http://schemas.microsoft.com/office/drawing/2014/main" id="{09928CB8-B36F-4607-B2BC-FF4134459B0C}"/>
              </a:ext>
            </a:extLst>
          </p:cNvPr>
          <p:cNvSpPr>
            <a:spLocks xmlns:a="http://schemas.openxmlformats.org/drawingml/2006/main" noGrp="1"/>
          </p:cNvSpPr>
          <p:nvPr/>
        </p:nvSpPr>
        <p:spPr>
          <a:xfrm xmlns:a="http://schemas.openxmlformats.org/drawingml/2006/main">
            <a:off x="4800600" y="3143250"/>
            <a:ext cx="34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617088"/>
                </a:solidFill>
              </a:defRPr>
            </a:pPr>
            <a:r>
              <a:rPr sz="2250" b="1">
                <a:solidFill>
                  <a:srgbClr val="617088"/>
                </a:solidFill>
              </a:rPr>
              <a:t>-&gt;</a:t>
            </a:r>
          </a:p>
        </p:txBody>
      </p:sp>
      <p:sp>
        <p:nvSpPr>
          <p:cNvPr id="18" name="">
            <a:extLst xmlns:a="http://schemas.openxmlformats.org/drawingml/2006/main">
              <a:ext uri="{FF2B5EF4-FFF2-40B4-BE49-F238E27FC236}">
                <a16:creationId xmlns:a16="http://schemas.microsoft.com/office/drawing/2014/main" id="{6ED5E429-F4A5-4219-8DF2-097BAC7F759C}"/>
              </a:ext>
            </a:extLst>
          </p:cNvPr>
          <p:cNvSpPr>
            <a:spLocks xmlns:a="http://schemas.openxmlformats.org/drawingml/2006/main" noGrp="1"/>
          </p:cNvSpPr>
          <p:nvPr/>
        </p:nvSpPr>
        <p:spPr>
          <a:xfrm xmlns:a="http://schemas.openxmlformats.org/drawingml/2006/main">
            <a:off x="5162550" y="2476500"/>
            <a:ext cx="1847850" cy="1809750"/>
          </a:xfrm>
          <a:prstGeom xmlns:a="http://schemas.openxmlformats.org/drawingml/2006/main" prst="roundRect">
            <a:avLst>
              <a:gd name="adj" fmla="val 6316"/>
            </a:avLst>
          </a:prstGeom>
          <a:solidFill xmlns:a="http://schemas.openxmlformats.org/drawingml/2006/main">
            <a:srgbClr val="F8FB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D11B013B-7A74-43AE-B817-5959842DCFF4}"/>
              </a:ext>
            </a:extLst>
          </p:cNvPr>
          <p:cNvSpPr>
            <a:spLocks xmlns:a="http://schemas.openxmlformats.org/drawingml/2006/main" noGrp="1"/>
          </p:cNvSpPr>
          <p:nvPr/>
        </p:nvSpPr>
        <p:spPr>
          <a:xfrm xmlns:a="http://schemas.openxmlformats.org/drawingml/2006/main">
            <a:off x="5791200" y="2667000"/>
            <a:ext cx="590550" cy="590550"/>
          </a:xfrm>
          <a:prstGeom xmlns:a="http://schemas.openxmlformats.org/drawingml/2006/main" prst="ellipse">
            <a:avLst/>
          </a:prstGeom>
          <a:solidFill xmlns:a="http://schemas.openxmlformats.org/drawingml/2006/main">
            <a:srgbClr val="35B76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6CA4723-1655-4168-91A1-25816EB95B8C}"/>
              </a:ext>
            </a:extLst>
          </p:cNvPr>
          <p:cNvSpPr>
            <a:spLocks xmlns:a="http://schemas.openxmlformats.org/drawingml/2006/main" noGrp="1"/>
          </p:cNvSpPr>
          <p:nvPr/>
        </p:nvSpPr>
        <p:spPr>
          <a:xfrm xmlns:a="http://schemas.openxmlformats.org/drawingml/2006/main">
            <a:off x="5791200" y="280035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FFFF"/>
                </a:solidFill>
              </a:defRPr>
            </a:pPr>
            <a:r>
              <a:rPr sz="1800" b="1">
                <a:solidFill>
                  <a:srgbClr val="FFFFFF"/>
                </a:solidFill>
              </a:rPr>
              <a:t>3</a:t>
            </a:r>
          </a:p>
        </p:txBody>
      </p:sp>
      <p:sp>
        <p:nvSpPr>
          <p:cNvPr id="21" name="">
            <a:extLst xmlns:a="http://schemas.openxmlformats.org/drawingml/2006/main">
              <a:ext uri="{FF2B5EF4-FFF2-40B4-BE49-F238E27FC236}">
                <a16:creationId xmlns:a16="http://schemas.microsoft.com/office/drawing/2014/main" id="{501D571F-832B-4B7F-9B72-EA2912CCF848}"/>
              </a:ext>
            </a:extLst>
          </p:cNvPr>
          <p:cNvSpPr>
            <a:spLocks xmlns:a="http://schemas.openxmlformats.org/drawingml/2006/main" noGrp="1"/>
          </p:cNvSpPr>
          <p:nvPr/>
        </p:nvSpPr>
        <p:spPr>
          <a:xfrm xmlns:a="http://schemas.openxmlformats.org/drawingml/2006/main">
            <a:off x="5334000" y="340995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7162B"/>
                </a:solidFill>
              </a:defRPr>
            </a:pPr>
            <a:r>
              <a:rPr sz="1575" b="1">
                <a:solidFill>
                  <a:srgbClr val="07162B"/>
                </a:solidFill>
              </a:rPr>
              <a:t>PEA traces</a:t>
            </a:r>
          </a:p>
        </p:txBody>
      </p:sp>
      <p:sp>
        <p:nvSpPr>
          <p:cNvPr id="22" name="">
            <a:extLst xmlns:a="http://schemas.openxmlformats.org/drawingml/2006/main">
              <a:ext uri="{FF2B5EF4-FFF2-40B4-BE49-F238E27FC236}">
                <a16:creationId xmlns:a16="http://schemas.microsoft.com/office/drawing/2014/main" id="{3E44705F-F7E5-4315-A813-A7C9116E07CD}"/>
              </a:ext>
            </a:extLst>
          </p:cNvPr>
          <p:cNvSpPr>
            <a:spLocks xmlns:a="http://schemas.openxmlformats.org/drawingml/2006/main" noGrp="1"/>
          </p:cNvSpPr>
          <p:nvPr/>
        </p:nvSpPr>
        <p:spPr>
          <a:xfrm xmlns:a="http://schemas.openxmlformats.org/drawingml/2006/main">
            <a:off x="5334000" y="3752850"/>
            <a:ext cx="1504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233044"/>
                </a:solidFill>
              </a:defRPr>
            </a:pPr>
            <a:r>
              <a:rPr sz="1125" b="0">
                <a:solidFill>
                  <a:srgbClr val="233044"/>
                </a:solidFill>
              </a:rPr>
              <a:t>meter/site -&gt; grid</a:t>
            </a:r>
          </a:p>
        </p:txBody>
      </p:sp>
      <p:sp>
        <p:nvSpPr>
          <p:cNvPr id="23" name="">
            <a:extLst xmlns:a="http://schemas.openxmlformats.org/drawingml/2006/main">
              <a:ext uri="{FF2B5EF4-FFF2-40B4-BE49-F238E27FC236}">
                <a16:creationId xmlns:a16="http://schemas.microsoft.com/office/drawing/2014/main" id="{BDE3159A-C253-45DD-A7DA-EEDEEB0BF9B2}"/>
              </a:ext>
            </a:extLst>
          </p:cNvPr>
          <p:cNvSpPr>
            <a:spLocks xmlns:a="http://schemas.openxmlformats.org/drawingml/2006/main" noGrp="1"/>
          </p:cNvSpPr>
          <p:nvPr/>
        </p:nvSpPr>
        <p:spPr>
          <a:xfrm xmlns:a="http://schemas.openxmlformats.org/drawingml/2006/main">
            <a:off x="7105650" y="3143250"/>
            <a:ext cx="34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617088"/>
                </a:solidFill>
              </a:defRPr>
            </a:pPr>
            <a:r>
              <a:rPr sz="2250" b="1">
                <a:solidFill>
                  <a:srgbClr val="617088"/>
                </a:solidFill>
              </a:rPr>
              <a:t>-&gt;</a:t>
            </a:r>
          </a:p>
        </p:txBody>
      </p:sp>
      <p:sp>
        <p:nvSpPr>
          <p:cNvPr id="24" name="">
            <a:extLst xmlns:a="http://schemas.openxmlformats.org/drawingml/2006/main">
              <a:ext uri="{FF2B5EF4-FFF2-40B4-BE49-F238E27FC236}">
                <a16:creationId xmlns:a16="http://schemas.microsoft.com/office/drawing/2014/main" id="{645B0D04-9F8A-494B-BFAB-0395627EFE56}"/>
              </a:ext>
            </a:extLst>
          </p:cNvPr>
          <p:cNvSpPr>
            <a:spLocks xmlns:a="http://schemas.openxmlformats.org/drawingml/2006/main" noGrp="1"/>
          </p:cNvSpPr>
          <p:nvPr/>
        </p:nvSpPr>
        <p:spPr>
          <a:xfrm xmlns:a="http://schemas.openxmlformats.org/drawingml/2006/main">
            <a:off x="7467600" y="2476500"/>
            <a:ext cx="1847850" cy="1809750"/>
          </a:xfrm>
          <a:prstGeom xmlns:a="http://schemas.openxmlformats.org/drawingml/2006/main" prst="roundRect">
            <a:avLst>
              <a:gd name="adj" fmla="val 6316"/>
            </a:avLst>
          </a:prstGeom>
          <a:solidFill xmlns:a="http://schemas.openxmlformats.org/drawingml/2006/main">
            <a:srgbClr val="F8FBFF"/>
          </a:solidFill>
          <a:ln xmlns:a="http://schemas.openxmlformats.org/drawingml/2006/main" w="9525">
            <a:solidFill>
              <a:srgbClr val="F7B84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098F56C5-75AF-400A-BDD4-B04999FA7AC7}"/>
              </a:ext>
            </a:extLst>
          </p:cNvPr>
          <p:cNvSpPr>
            <a:spLocks xmlns:a="http://schemas.openxmlformats.org/drawingml/2006/main" noGrp="1"/>
          </p:cNvSpPr>
          <p:nvPr/>
        </p:nvSpPr>
        <p:spPr>
          <a:xfrm xmlns:a="http://schemas.openxmlformats.org/drawingml/2006/main">
            <a:off x="8096250" y="2667000"/>
            <a:ext cx="590550" cy="590550"/>
          </a:xfrm>
          <a:prstGeom xmlns:a="http://schemas.openxmlformats.org/drawingml/2006/main" prst="ellipse">
            <a:avLst/>
          </a:prstGeom>
          <a:solidFill xmlns:a="http://schemas.openxmlformats.org/drawingml/2006/main">
            <a:srgbClr val="F7B84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CB971C8-4E09-4EF6-8B56-E5C516577D60}"/>
              </a:ext>
            </a:extLst>
          </p:cNvPr>
          <p:cNvSpPr>
            <a:spLocks xmlns:a="http://schemas.openxmlformats.org/drawingml/2006/main" noGrp="1"/>
          </p:cNvSpPr>
          <p:nvPr/>
        </p:nvSpPr>
        <p:spPr>
          <a:xfrm xmlns:a="http://schemas.openxmlformats.org/drawingml/2006/main">
            <a:off x="8096250" y="280035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FFFF"/>
                </a:solidFill>
              </a:defRPr>
            </a:pPr>
            <a:r>
              <a:rPr sz="1800" b="1">
                <a:solidFill>
                  <a:srgbClr val="FFFFFF"/>
                </a:solidFill>
              </a:rPr>
              <a:t>4</a:t>
            </a:r>
          </a:p>
        </p:txBody>
      </p:sp>
      <p:sp>
        <p:nvSpPr>
          <p:cNvPr id="27" name="">
            <a:extLst xmlns:a="http://schemas.openxmlformats.org/drawingml/2006/main">
              <a:ext uri="{FF2B5EF4-FFF2-40B4-BE49-F238E27FC236}">
                <a16:creationId xmlns:a16="http://schemas.microsoft.com/office/drawing/2014/main" id="{4E77FEBA-771C-45BC-A54D-CF3CA0757526}"/>
              </a:ext>
            </a:extLst>
          </p:cNvPr>
          <p:cNvSpPr>
            <a:spLocks xmlns:a="http://schemas.openxmlformats.org/drawingml/2006/main" noGrp="1"/>
          </p:cNvSpPr>
          <p:nvPr/>
        </p:nvSpPr>
        <p:spPr>
          <a:xfrm xmlns:a="http://schemas.openxmlformats.org/drawingml/2006/main">
            <a:off x="7639050" y="340995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7162B"/>
                </a:solidFill>
              </a:defRPr>
            </a:pPr>
            <a:r>
              <a:rPr sz="1575" b="1">
                <a:solidFill>
                  <a:srgbClr val="07162B"/>
                </a:solidFill>
              </a:rPr>
              <a:t>Evidence gate</a:t>
            </a:r>
          </a:p>
        </p:txBody>
      </p:sp>
      <p:sp>
        <p:nvSpPr>
          <p:cNvPr id="28" name="">
            <a:extLst xmlns:a="http://schemas.openxmlformats.org/drawingml/2006/main">
              <a:ext uri="{FF2B5EF4-FFF2-40B4-BE49-F238E27FC236}">
                <a16:creationId xmlns:a16="http://schemas.microsoft.com/office/drawing/2014/main" id="{EE5205C8-1910-4DC0-83F5-F206198A53C5}"/>
              </a:ext>
            </a:extLst>
          </p:cNvPr>
          <p:cNvSpPr>
            <a:spLocks xmlns:a="http://schemas.openxmlformats.org/drawingml/2006/main" noGrp="1"/>
          </p:cNvSpPr>
          <p:nvPr/>
        </p:nvSpPr>
        <p:spPr>
          <a:xfrm xmlns:a="http://schemas.openxmlformats.org/drawingml/2006/main">
            <a:off x="7639050" y="3752850"/>
            <a:ext cx="1504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233044"/>
                </a:solidFill>
              </a:defRPr>
            </a:pPr>
            <a:r>
              <a:rPr sz="1125" b="0">
                <a:solidFill>
                  <a:srgbClr val="233044"/>
                </a:solidFill>
              </a:rPr>
              <a:t>confidence lane</a:t>
            </a:r>
          </a:p>
        </p:txBody>
      </p:sp>
      <p:sp>
        <p:nvSpPr>
          <p:cNvPr id="29" name="">
            <a:extLst xmlns:a="http://schemas.openxmlformats.org/drawingml/2006/main">
              <a:ext uri="{FF2B5EF4-FFF2-40B4-BE49-F238E27FC236}">
                <a16:creationId xmlns:a16="http://schemas.microsoft.com/office/drawing/2014/main" id="{C2570C51-59E5-4110-BBE8-B603A9620060}"/>
              </a:ext>
            </a:extLst>
          </p:cNvPr>
          <p:cNvSpPr>
            <a:spLocks xmlns:a="http://schemas.openxmlformats.org/drawingml/2006/main" noGrp="1"/>
          </p:cNvSpPr>
          <p:nvPr/>
        </p:nvSpPr>
        <p:spPr>
          <a:xfrm xmlns:a="http://schemas.openxmlformats.org/drawingml/2006/main">
            <a:off x="9410700" y="3143250"/>
            <a:ext cx="34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617088"/>
                </a:solidFill>
              </a:defRPr>
            </a:pPr>
            <a:r>
              <a:rPr sz="2250" b="1">
                <a:solidFill>
                  <a:srgbClr val="617088"/>
                </a:solidFill>
              </a:rPr>
              <a:t>-&gt;</a:t>
            </a:r>
          </a:p>
        </p:txBody>
      </p:sp>
      <p:sp>
        <p:nvSpPr>
          <p:cNvPr id="30" name="">
            <a:extLst xmlns:a="http://schemas.openxmlformats.org/drawingml/2006/main">
              <a:ext uri="{FF2B5EF4-FFF2-40B4-BE49-F238E27FC236}">
                <a16:creationId xmlns:a16="http://schemas.microsoft.com/office/drawing/2014/main" id="{60EABD71-1489-4BFA-BA8A-BDF664487C69}"/>
              </a:ext>
            </a:extLst>
          </p:cNvPr>
          <p:cNvSpPr>
            <a:spLocks xmlns:a="http://schemas.openxmlformats.org/drawingml/2006/main" noGrp="1"/>
          </p:cNvSpPr>
          <p:nvPr/>
        </p:nvSpPr>
        <p:spPr>
          <a:xfrm xmlns:a="http://schemas.openxmlformats.org/drawingml/2006/main">
            <a:off x="9772650" y="2476500"/>
            <a:ext cx="1847850" cy="1809750"/>
          </a:xfrm>
          <a:prstGeom xmlns:a="http://schemas.openxmlformats.org/drawingml/2006/main" prst="roundRect">
            <a:avLst>
              <a:gd name="adj" fmla="val 6316"/>
            </a:avLst>
          </a:prstGeom>
          <a:solidFill xmlns:a="http://schemas.openxmlformats.org/drawingml/2006/main">
            <a:srgbClr val="F8FB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157FEEC6-791B-4BE9-978A-E875B80F8122}"/>
              </a:ext>
            </a:extLst>
          </p:cNvPr>
          <p:cNvSpPr>
            <a:spLocks xmlns:a="http://schemas.openxmlformats.org/drawingml/2006/main" noGrp="1"/>
          </p:cNvSpPr>
          <p:nvPr/>
        </p:nvSpPr>
        <p:spPr>
          <a:xfrm xmlns:a="http://schemas.openxmlformats.org/drawingml/2006/main">
            <a:off x="10401300" y="2667000"/>
            <a:ext cx="590550" cy="590550"/>
          </a:xfrm>
          <a:prstGeom xmlns:a="http://schemas.openxmlformats.org/drawingml/2006/main" prst="ellipse">
            <a:avLst/>
          </a:prstGeom>
          <a:solidFill xmlns:a="http://schemas.openxmlformats.org/drawingml/2006/main">
            <a:srgbClr val="24334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A9B1230-599A-4797-AEA7-6BD3F6C1BB59}"/>
              </a:ext>
            </a:extLst>
          </p:cNvPr>
          <p:cNvSpPr>
            <a:spLocks xmlns:a="http://schemas.openxmlformats.org/drawingml/2006/main" noGrp="1"/>
          </p:cNvSpPr>
          <p:nvPr/>
        </p:nvSpPr>
        <p:spPr>
          <a:xfrm xmlns:a="http://schemas.openxmlformats.org/drawingml/2006/main">
            <a:off x="10401300" y="280035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FFFF"/>
                </a:solidFill>
              </a:defRPr>
            </a:pPr>
            <a:r>
              <a:rPr sz="1800" b="1">
                <a:solidFill>
                  <a:srgbClr val="FFFFFF"/>
                </a:solidFill>
              </a:rPr>
              <a:t>5</a:t>
            </a:r>
          </a:p>
        </p:txBody>
      </p:sp>
      <p:sp>
        <p:nvSpPr>
          <p:cNvPr id="33" name="">
            <a:extLst xmlns:a="http://schemas.openxmlformats.org/drawingml/2006/main">
              <a:ext uri="{FF2B5EF4-FFF2-40B4-BE49-F238E27FC236}">
                <a16:creationId xmlns:a16="http://schemas.microsoft.com/office/drawing/2014/main" id="{D0F33F90-D6B8-496D-ADC1-3D027487D2DC}"/>
              </a:ext>
            </a:extLst>
          </p:cNvPr>
          <p:cNvSpPr>
            <a:spLocks xmlns:a="http://schemas.openxmlformats.org/drawingml/2006/main" noGrp="1"/>
          </p:cNvSpPr>
          <p:nvPr/>
        </p:nvSpPr>
        <p:spPr>
          <a:xfrm xmlns:a="http://schemas.openxmlformats.org/drawingml/2006/main">
            <a:off x="9944100" y="340995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7162B"/>
                </a:solidFill>
              </a:defRPr>
            </a:pPr>
            <a:r>
              <a:rPr sz="1575" b="1">
                <a:solidFill>
                  <a:srgbClr val="07162B"/>
                </a:solidFill>
              </a:rPr>
              <a:t>Shadow review</a:t>
            </a:r>
          </a:p>
        </p:txBody>
      </p:sp>
      <p:sp>
        <p:nvSpPr>
          <p:cNvPr id="34" name="">
            <a:extLst xmlns:a="http://schemas.openxmlformats.org/drawingml/2006/main">
              <a:ext uri="{FF2B5EF4-FFF2-40B4-BE49-F238E27FC236}">
                <a16:creationId xmlns:a16="http://schemas.microsoft.com/office/drawing/2014/main" id="{4720EA50-75D6-4B18-A623-9A6160610FC7}"/>
              </a:ext>
            </a:extLst>
          </p:cNvPr>
          <p:cNvSpPr>
            <a:spLocks xmlns:a="http://schemas.openxmlformats.org/drawingml/2006/main" noGrp="1"/>
          </p:cNvSpPr>
          <p:nvPr/>
        </p:nvSpPr>
        <p:spPr>
          <a:xfrm xmlns:a="http://schemas.openxmlformats.org/drawingml/2006/main">
            <a:off x="9944100" y="3752850"/>
            <a:ext cx="1504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233044"/>
                </a:solidFill>
              </a:defRPr>
            </a:pPr>
            <a:r>
              <a:rPr sz="1125" b="0">
                <a:solidFill>
                  <a:srgbClr val="233044"/>
                </a:solidFill>
              </a:rPr>
              <a:t>recorded, not sent</a:t>
            </a:r>
          </a:p>
        </p:txBody>
      </p:sp>
      <p:sp>
        <p:nvSpPr>
          <p:cNvPr id="35" name="">
            <a:extLst xmlns:a="http://schemas.openxmlformats.org/drawingml/2006/main">
              <a:ext uri="{FF2B5EF4-FFF2-40B4-BE49-F238E27FC236}">
                <a16:creationId xmlns:a16="http://schemas.microsoft.com/office/drawing/2014/main" id="{277AD5B6-989E-413F-B0AF-6F86586B1047}"/>
              </a:ext>
            </a:extLst>
          </p:cNvPr>
          <p:cNvSpPr>
            <a:spLocks xmlns:a="http://schemas.openxmlformats.org/drawingml/2006/main" noGrp="1"/>
          </p:cNvSpPr>
          <p:nvPr/>
        </p:nvSpPr>
        <p:spPr>
          <a:xfrm xmlns:a="http://schemas.openxmlformats.org/drawingml/2006/main">
            <a:off x="2000250" y="5095875"/>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7162B"/>
                </a:solidFill>
              </a:defRPr>
            </a:pPr>
            <a:r>
              <a:rPr sz="1800" b="1">
                <a:solidFill>
                  <a:srgbClr val="07162B"/>
                </a:solidFill>
              </a:rPr>
              <a:t>Demo line: API is simple; the evidence gate is the innovation.</a:t>
            </a:r>
          </a:p>
        </p:txBody>
      </p:sp>
      <p:sp>
        <p:nvSpPr>
          <p:cNvPr id="36" name="">
            <a:extLst xmlns:a="http://schemas.openxmlformats.org/drawingml/2006/main">
              <a:ext uri="{FF2B5EF4-FFF2-40B4-BE49-F238E27FC236}">
                <a16:creationId xmlns:a16="http://schemas.microsoft.com/office/drawing/2014/main" id="{61E6FE95-D9B9-489A-904D-734EA1009A52}"/>
              </a:ext>
            </a:extLst>
          </p:cNvPr>
          <p:cNvSpPr>
            <a:spLocks xmlns:a="http://schemas.openxmlformats.org/drawingml/2006/main" noGrp="1"/>
          </p:cNvSpPr>
          <p:nvPr/>
        </p:nvSpPr>
        <p:spPr>
          <a:xfrm xmlns:a="http://schemas.openxmlformats.org/drawingml/2006/main">
            <a:off x="3381375" y="6305550"/>
            <a:ext cx="5429250" cy="323850"/>
          </a:xfrm>
          <a:prstGeom xmlns:a="http://schemas.openxmlformats.org/drawingml/2006/main" prst="roundRect">
            <a:avLst>
              <a:gd name="adj" fmla="val 23529"/>
            </a:avLst>
          </a:prstGeom>
          <a:solidFill xmlns:a="http://schemas.openxmlformats.org/drawingml/2006/main">
            <a:srgbClr val="F1F6FC"/>
          </a:solidFill>
          <a:ln xmlns:a="http://schemas.openxmlformats.org/drawingml/2006/main" w="9525">
            <a:solidFill>
              <a:srgbClr val="CAD6E6"/>
            </a:solidFill>
            <a:prstDash val="solid"/>
          </a:ln>
        </p:spPr>
      </p:sp>
      <p:sp>
        <p:nvSpPr>
          <p:cNvPr id="37" name="">
            <a:extLst xmlns:a="http://schemas.openxmlformats.org/drawingml/2006/main">
              <a:ext uri="{FF2B5EF4-FFF2-40B4-BE49-F238E27FC236}">
                <a16:creationId xmlns:a16="http://schemas.microsoft.com/office/drawing/2014/main" id="{BF58CFB9-37CC-4AC7-8289-6E5D690FC547}"/>
              </a:ext>
            </a:extLst>
          </p:cNvPr>
          <p:cNvSpPr>
            <a:spLocks xmlns:a="http://schemas.openxmlformats.org/drawingml/2006/main" noGrp="1"/>
          </p:cNvSpPr>
          <p:nvPr/>
        </p:nvSpPr>
        <p:spPr>
          <a:xfrm xmlns:a="http://schemas.openxmlformats.org/drawingml/2006/main">
            <a:off x="3543300" y="6362700"/>
            <a:ext cx="5105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24334A"/>
                </a:solidFill>
              </a:defRPr>
            </a:pPr>
            <a:r>
              <a:rPr sz="975" b="1">
                <a:solidFill>
                  <a:srgbClr val="24334A"/>
                </a:solidFill>
              </a:rPr>
              <a:t>mode = shadow | production_send = blocked | Auto ETR not customer-facing yet</a:t>
            </a:r>
          </a:p>
        </p:txBody>
      </p:sp>
    </p:spTree>
    <p:extLst>
      <p:ext uri="{BB962C8B-B14F-4D97-AF65-F5344CB8AC3E}">
        <p14:creationId xmlns:p14="http://schemas.microsoft.com/office/powerpoint/2010/main" val="1183827601"/>
      </p:ext>
    </p:extLst>
  </p:cSld>
</p:sld>
</file>

<file path=ppt/slides/slide8.xml><?xml version="1.0" encoding="utf-8"?>
<p:sld xmlns:p="http://schemas.openxmlformats.org/presentationml/2006/main">
  <p:cSld>
    <p:bg>
      <p:bgPr>
        <a:solidFill xmlns:a="http://schemas.openxmlformats.org/drawingml/2006/main">
          <a:srgbClr val="F6FA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0AD5E30-FD85-4791-A1AA-57BEAFF56451}"/>
              </a:ext>
            </a:extLst>
          </p:cNvPr>
          <p:cNvSpPr>
            <a:spLocks xmlns:a="http://schemas.openxmlformats.org/drawingml/2006/main" noGrp="1"/>
          </p:cNvSpPr>
          <p:nvPr/>
        </p:nvSpPr>
        <p:spPr>
          <a:xfrm xmlns:a="http://schemas.openxmlformats.org/drawingml/2006/main">
            <a:off x="533400" y="419100"/>
            <a:ext cx="666750" cy="47625"/>
          </a:xfrm>
          <a:prstGeom xmlns:a="http://schemas.openxmlformats.org/drawingml/2006/main" prst="rect">
            <a:avLst/>
          </a:prstGeom>
          <a:solidFill xmlns:a="http://schemas.openxmlformats.org/drawingml/2006/main">
            <a:srgbClr val="7B57C8"/>
          </a:solidFill>
          <a:ln xmlns:a="http://schemas.openxmlformats.org/drawingml/2006/main" w="0">
            <a:solidFill>
              <a:srgbClr val="7B57C8"/>
            </a:solidFill>
            <a:prstDash val="solid"/>
          </a:ln>
        </p:spPr>
      </p:sp>
      <p:sp>
        <p:nvSpPr>
          <p:cNvPr id="2" name="">
            <a:extLst xmlns:a="http://schemas.openxmlformats.org/drawingml/2006/main">
              <a:ext uri="{FF2B5EF4-FFF2-40B4-BE49-F238E27FC236}">
                <a16:creationId xmlns:a16="http://schemas.microsoft.com/office/drawing/2014/main" id="{432A82E9-99B8-4477-939F-8D484B8252A0}"/>
              </a:ext>
            </a:extLst>
          </p:cNvPr>
          <p:cNvSpPr>
            <a:spLocks xmlns:a="http://schemas.openxmlformats.org/drawingml/2006/main" noGrp="1"/>
          </p:cNvSpPr>
          <p:nvPr/>
        </p:nvSpPr>
        <p:spPr>
          <a:xfrm xmlns:a="http://schemas.openxmlformats.org/drawingml/2006/main">
            <a:off x="1257300" y="419100"/>
            <a:ext cx="666750" cy="47625"/>
          </a:xfrm>
          <a:prstGeom xmlns:a="http://schemas.openxmlformats.org/drawingml/2006/main" prst="rect">
            <a:avLst/>
          </a:prstGeom>
          <a:solidFill xmlns:a="http://schemas.openxmlformats.org/drawingml/2006/main">
            <a:srgbClr val="18B8C8"/>
          </a:solidFill>
          <a:ln xmlns:a="http://schemas.openxmlformats.org/drawingml/2006/main" w="0">
            <a:solidFill>
              <a:srgbClr val="18B8C8"/>
            </a:solidFill>
            <a:prstDash val="solid"/>
          </a:ln>
        </p:spPr>
      </p:sp>
      <p:sp>
        <p:nvSpPr>
          <p:cNvPr id="3" name="">
            <a:extLst xmlns:a="http://schemas.openxmlformats.org/drawingml/2006/main">
              <a:ext uri="{FF2B5EF4-FFF2-40B4-BE49-F238E27FC236}">
                <a16:creationId xmlns:a16="http://schemas.microsoft.com/office/drawing/2014/main" id="{44B6F887-A958-48CC-86CA-7DB6B439E268}"/>
              </a:ext>
            </a:extLst>
          </p:cNvPr>
          <p:cNvSpPr>
            <a:spLocks xmlns:a="http://schemas.openxmlformats.org/drawingml/2006/main" noGrp="1"/>
          </p:cNvSpPr>
          <p:nvPr/>
        </p:nvSpPr>
        <p:spPr>
          <a:xfrm xmlns:a="http://schemas.openxmlformats.org/drawingml/2006/main">
            <a:off x="533400" y="5905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617088"/>
                </a:solidFill>
              </a:defRPr>
            </a:pPr>
            <a:r>
              <a:rPr sz="975" b="1">
                <a:solidFill>
                  <a:srgbClr val="617088"/>
                </a:solidFill>
              </a:rPr>
              <a:t>TARGET ARCHITECTURE</a:t>
            </a:r>
          </a:p>
        </p:txBody>
      </p:sp>
      <p:sp>
        <p:nvSpPr>
          <p:cNvPr id="4" name="">
            <a:extLst xmlns:a="http://schemas.openxmlformats.org/drawingml/2006/main">
              <a:ext uri="{FF2B5EF4-FFF2-40B4-BE49-F238E27FC236}">
                <a16:creationId xmlns:a16="http://schemas.microsoft.com/office/drawing/2014/main" id="{F532A3B7-1E5C-47EF-8D31-FD3110A47508}"/>
              </a:ext>
            </a:extLst>
          </p:cNvPr>
          <p:cNvSpPr>
            <a:spLocks xmlns:a="http://schemas.openxmlformats.org/drawingml/2006/main" noGrp="1"/>
          </p:cNvSpPr>
          <p:nvPr/>
        </p:nvSpPr>
        <p:spPr>
          <a:xfrm xmlns:a="http://schemas.openxmlformats.org/drawingml/2006/main">
            <a:off x="533400" y="857250"/>
            <a:ext cx="819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7162B"/>
                </a:solidFill>
              </a:defRPr>
            </a:pPr>
            <a:r>
              <a:rPr sz="3000" b="1">
                <a:solidFill>
                  <a:srgbClr val="07162B"/>
                </a:solidFill>
              </a:rPr>
              <a:t>Production path: four controlled lanes</a:t>
            </a:r>
          </a:p>
        </p:txBody>
      </p:sp>
      <p:sp>
        <p:nvSpPr>
          <p:cNvPr id="5" name="">
            <a:extLst xmlns:a="http://schemas.openxmlformats.org/drawingml/2006/main">
              <a:ext uri="{FF2B5EF4-FFF2-40B4-BE49-F238E27FC236}">
                <a16:creationId xmlns:a16="http://schemas.microsoft.com/office/drawing/2014/main" id="{75B57C0E-ED77-4339-9022-69E874172B4C}"/>
              </a:ext>
            </a:extLst>
          </p:cNvPr>
          <p:cNvSpPr>
            <a:spLocks xmlns:a="http://schemas.openxmlformats.org/drawingml/2006/main" noGrp="1"/>
          </p:cNvSpPr>
          <p:nvPr/>
        </p:nvSpPr>
        <p:spPr>
          <a:xfrm xmlns:a="http://schemas.openxmlformats.org/drawingml/2006/main">
            <a:off x="552450" y="1409700"/>
            <a:ext cx="800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617088"/>
                </a:solidFill>
              </a:defRPr>
            </a:pPr>
            <a:r>
              <a:rPr sz="1500" b="0">
                <a:solidFill>
                  <a:srgbClr val="617088"/>
                </a:solidFill>
              </a:rPr>
              <a:t>Future integrations require owner approval, redaction, and production controls.</a:t>
            </a:r>
          </a:p>
        </p:txBody>
      </p:sp>
      <p:sp>
        <p:nvSpPr>
          <p:cNvPr id="6" name="">
            <a:extLst xmlns:a="http://schemas.openxmlformats.org/drawingml/2006/main">
              <a:ext uri="{FF2B5EF4-FFF2-40B4-BE49-F238E27FC236}">
                <a16:creationId xmlns:a16="http://schemas.microsoft.com/office/drawing/2014/main" id="{D367274F-AEAD-42A7-A5A2-55E291F67C19}"/>
              </a:ext>
            </a:extLst>
          </p:cNvPr>
          <p:cNvSpPr>
            <a:spLocks xmlns:a="http://schemas.openxmlformats.org/drawingml/2006/main" noGrp="1"/>
          </p:cNvSpPr>
          <p:nvPr/>
        </p:nvSpPr>
        <p:spPr>
          <a:xfrm xmlns:a="http://schemas.openxmlformats.org/drawingml/2006/main">
            <a:off x="1666875" y="2038350"/>
            <a:ext cx="88582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7B57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9BB11313-A772-41F4-BC62-7E7DD8CB54AF}"/>
              </a:ext>
            </a:extLst>
          </p:cNvPr>
          <p:cNvSpPr>
            <a:spLocks xmlns:a="http://schemas.openxmlformats.org/drawingml/2006/main" noGrp="1"/>
          </p:cNvSpPr>
          <p:nvPr/>
        </p:nvSpPr>
        <p:spPr>
          <a:xfrm xmlns:a="http://schemas.openxmlformats.org/drawingml/2006/main">
            <a:off x="1981200" y="217170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07162B"/>
                </a:solidFill>
              </a:defRPr>
            </a:pPr>
            <a:r>
              <a:rPr sz="1650" b="1">
                <a:solidFill>
                  <a:srgbClr val="07162B"/>
                </a:solidFill>
              </a:rPr>
              <a:t>Trigger lane</a:t>
            </a:r>
          </a:p>
        </p:txBody>
      </p:sp>
      <p:sp>
        <p:nvSpPr>
          <p:cNvPr id="8" name="">
            <a:extLst xmlns:a="http://schemas.openxmlformats.org/drawingml/2006/main">
              <a:ext uri="{FF2B5EF4-FFF2-40B4-BE49-F238E27FC236}">
                <a16:creationId xmlns:a16="http://schemas.microsoft.com/office/drawing/2014/main" id="{44E950EF-8FF1-4E22-9C95-3FAC3F97DB50}"/>
              </a:ext>
            </a:extLst>
          </p:cNvPr>
          <p:cNvSpPr>
            <a:spLocks xmlns:a="http://schemas.openxmlformats.org/drawingml/2006/main" noGrp="1"/>
          </p:cNvSpPr>
          <p:nvPr/>
        </p:nvSpPr>
        <p:spPr>
          <a:xfrm xmlns:a="http://schemas.openxmlformats.org/drawingml/2006/main">
            <a:off x="4476750" y="2181225"/>
            <a:ext cx="533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233044"/>
                </a:solidFill>
              </a:defRPr>
            </a:pPr>
            <a:r>
              <a:rPr sz="1500" b="0">
                <a:solidFill>
                  <a:srgbClr val="233044"/>
                </a:solidFill>
              </a:rPr>
              <a:t>AIS request now | AMR Last Gasp later</a:t>
            </a:r>
          </a:p>
        </p:txBody>
      </p:sp>
      <p:sp>
        <p:nvSpPr>
          <p:cNvPr id="9" name="">
            <a:extLst xmlns:a="http://schemas.openxmlformats.org/drawingml/2006/main">
              <a:ext uri="{FF2B5EF4-FFF2-40B4-BE49-F238E27FC236}">
                <a16:creationId xmlns:a16="http://schemas.microsoft.com/office/drawing/2014/main" id="{D63FA189-8063-47B0-AC05-FF00DF66D8D8}"/>
              </a:ext>
            </a:extLst>
          </p:cNvPr>
          <p:cNvSpPr>
            <a:spLocks xmlns:a="http://schemas.openxmlformats.org/drawingml/2006/main" noGrp="1"/>
          </p:cNvSpPr>
          <p:nvPr/>
        </p:nvSpPr>
        <p:spPr>
          <a:xfrm xmlns:a="http://schemas.openxmlformats.org/drawingml/2006/main">
            <a:off x="1666875" y="2819400"/>
            <a:ext cx="88582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18B8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F520183B-048D-4CF3-B218-24F134CBB8F7}"/>
              </a:ext>
            </a:extLst>
          </p:cNvPr>
          <p:cNvSpPr>
            <a:spLocks xmlns:a="http://schemas.openxmlformats.org/drawingml/2006/main" noGrp="1"/>
          </p:cNvSpPr>
          <p:nvPr/>
        </p:nvSpPr>
        <p:spPr>
          <a:xfrm xmlns:a="http://schemas.openxmlformats.org/drawingml/2006/main">
            <a:off x="1981200" y="295275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07162B"/>
                </a:solidFill>
              </a:defRPr>
            </a:pPr>
            <a:r>
              <a:rPr sz="1650" b="1">
                <a:solidFill>
                  <a:srgbClr val="07162B"/>
                </a:solidFill>
              </a:rPr>
              <a:t>Context lane</a:t>
            </a:r>
          </a:p>
        </p:txBody>
      </p:sp>
      <p:sp>
        <p:nvSpPr>
          <p:cNvPr id="11" name="">
            <a:extLst xmlns:a="http://schemas.openxmlformats.org/drawingml/2006/main">
              <a:ext uri="{FF2B5EF4-FFF2-40B4-BE49-F238E27FC236}">
                <a16:creationId xmlns:a16="http://schemas.microsoft.com/office/drawing/2014/main" id="{56F44FBF-5970-403F-8C9D-0B2C7E3D6269}"/>
              </a:ext>
            </a:extLst>
          </p:cNvPr>
          <p:cNvSpPr>
            <a:spLocks xmlns:a="http://schemas.openxmlformats.org/drawingml/2006/main" noGrp="1"/>
          </p:cNvSpPr>
          <p:nvPr/>
        </p:nvSpPr>
        <p:spPr>
          <a:xfrm xmlns:a="http://schemas.openxmlformats.org/drawingml/2006/main">
            <a:off x="4476750" y="2962275"/>
            <a:ext cx="533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233044"/>
                </a:solidFill>
              </a:defRPr>
            </a:pPr>
            <a:r>
              <a:rPr sz="1500" b="0">
                <a:solidFill>
                  <a:srgbClr val="233044"/>
                </a:solidFill>
              </a:rPr>
              <a:t>Topology + protection evidence</a:t>
            </a:r>
          </a:p>
        </p:txBody>
      </p:sp>
      <p:sp>
        <p:nvSpPr>
          <p:cNvPr id="12" name="">
            <a:extLst xmlns:a="http://schemas.openxmlformats.org/drawingml/2006/main">
              <a:ext uri="{FF2B5EF4-FFF2-40B4-BE49-F238E27FC236}">
                <a16:creationId xmlns:a16="http://schemas.microsoft.com/office/drawing/2014/main" id="{F5FE562E-6A4F-4747-8BCE-0C1217DA56A6}"/>
              </a:ext>
            </a:extLst>
          </p:cNvPr>
          <p:cNvSpPr>
            <a:spLocks xmlns:a="http://schemas.openxmlformats.org/drawingml/2006/main" noGrp="1"/>
          </p:cNvSpPr>
          <p:nvPr/>
        </p:nvSpPr>
        <p:spPr>
          <a:xfrm xmlns:a="http://schemas.openxmlformats.org/drawingml/2006/main">
            <a:off x="1666875" y="3600450"/>
            <a:ext cx="88582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35B76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2983B2BE-3619-4578-9119-123411FBF36B}"/>
              </a:ext>
            </a:extLst>
          </p:cNvPr>
          <p:cNvSpPr>
            <a:spLocks xmlns:a="http://schemas.openxmlformats.org/drawingml/2006/main" noGrp="1"/>
          </p:cNvSpPr>
          <p:nvPr/>
        </p:nvSpPr>
        <p:spPr>
          <a:xfrm xmlns:a="http://schemas.openxmlformats.org/drawingml/2006/main">
            <a:off x="1981200" y="373380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07162B"/>
                </a:solidFill>
              </a:defRPr>
            </a:pPr>
            <a:r>
              <a:rPr sz="1650" b="1">
                <a:solidFill>
                  <a:srgbClr val="07162B"/>
                </a:solidFill>
              </a:rPr>
              <a:t>Reasoning lane</a:t>
            </a:r>
          </a:p>
        </p:txBody>
      </p:sp>
      <p:sp>
        <p:nvSpPr>
          <p:cNvPr id="14" name="">
            <a:extLst xmlns:a="http://schemas.openxmlformats.org/drawingml/2006/main">
              <a:ext uri="{FF2B5EF4-FFF2-40B4-BE49-F238E27FC236}">
                <a16:creationId xmlns:a16="http://schemas.microsoft.com/office/drawing/2014/main" id="{FDA00E03-58CE-4F39-BE22-CC0E2F616B0B}"/>
              </a:ext>
            </a:extLst>
          </p:cNvPr>
          <p:cNvSpPr>
            <a:spLocks xmlns:a="http://schemas.openxmlformats.org/drawingml/2006/main" noGrp="1"/>
          </p:cNvSpPr>
          <p:nvPr/>
        </p:nvSpPr>
        <p:spPr>
          <a:xfrm xmlns:a="http://schemas.openxmlformats.org/drawingml/2006/main">
            <a:off x="4476750" y="3743325"/>
            <a:ext cx="533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233044"/>
                </a:solidFill>
              </a:defRPr>
            </a:pPr>
            <a:r>
              <a:rPr sz="1500" b="0">
                <a:solidFill>
                  <a:srgbClr val="233044"/>
                </a:solidFill>
              </a:rPr>
              <a:t>Rule/model ETR candidate</a:t>
            </a:r>
          </a:p>
        </p:txBody>
      </p:sp>
      <p:sp>
        <p:nvSpPr>
          <p:cNvPr id="15" name="">
            <a:extLst xmlns:a="http://schemas.openxmlformats.org/drawingml/2006/main">
              <a:ext uri="{FF2B5EF4-FFF2-40B4-BE49-F238E27FC236}">
                <a16:creationId xmlns:a16="http://schemas.microsoft.com/office/drawing/2014/main" id="{69C02589-9CDE-4C46-9A42-86204CA6094B}"/>
              </a:ext>
            </a:extLst>
          </p:cNvPr>
          <p:cNvSpPr>
            <a:spLocks xmlns:a="http://schemas.openxmlformats.org/drawingml/2006/main" noGrp="1"/>
          </p:cNvSpPr>
          <p:nvPr/>
        </p:nvSpPr>
        <p:spPr>
          <a:xfrm xmlns:a="http://schemas.openxmlformats.org/drawingml/2006/main">
            <a:off x="1666875" y="4381500"/>
            <a:ext cx="88582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F7B84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2E5DB343-0F78-400C-9CF3-5B94F2B336E1}"/>
              </a:ext>
            </a:extLst>
          </p:cNvPr>
          <p:cNvSpPr>
            <a:spLocks xmlns:a="http://schemas.openxmlformats.org/drawingml/2006/main" noGrp="1"/>
          </p:cNvSpPr>
          <p:nvPr/>
        </p:nvSpPr>
        <p:spPr>
          <a:xfrm xmlns:a="http://schemas.openxmlformats.org/drawingml/2006/main">
            <a:off x="1981200" y="451485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07162B"/>
                </a:solidFill>
              </a:defRPr>
            </a:pPr>
            <a:r>
              <a:rPr sz="1650" b="1">
                <a:solidFill>
                  <a:srgbClr val="07162B"/>
                </a:solidFill>
              </a:rPr>
              <a:t>Delivery lane</a:t>
            </a:r>
          </a:p>
        </p:txBody>
      </p:sp>
      <p:sp>
        <p:nvSpPr>
          <p:cNvPr id="17" name="">
            <a:extLst xmlns:a="http://schemas.openxmlformats.org/drawingml/2006/main">
              <a:ext uri="{FF2B5EF4-FFF2-40B4-BE49-F238E27FC236}">
                <a16:creationId xmlns:a16="http://schemas.microsoft.com/office/drawing/2014/main" id="{90A349A9-7D35-409B-9857-4DD824283F89}"/>
              </a:ext>
            </a:extLst>
          </p:cNvPr>
          <p:cNvSpPr>
            <a:spLocks xmlns:a="http://schemas.openxmlformats.org/drawingml/2006/main" noGrp="1"/>
          </p:cNvSpPr>
          <p:nvPr/>
        </p:nvSpPr>
        <p:spPr>
          <a:xfrm xmlns:a="http://schemas.openxmlformats.org/drawingml/2006/main">
            <a:off x="4476750" y="4524375"/>
            <a:ext cx="533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233044"/>
                </a:solidFill>
              </a:defRPr>
            </a:pPr>
            <a:r>
              <a:rPr sz="1500" b="0">
                <a:solidFill>
                  <a:srgbClr val="233044"/>
                </a:solidFill>
              </a:rPr>
              <a:t>API / callback / audit trail</a:t>
            </a:r>
          </a:p>
        </p:txBody>
      </p:sp>
      <p:sp>
        <p:nvSpPr>
          <p:cNvPr id="18" name="">
            <a:extLst xmlns:a="http://schemas.openxmlformats.org/drawingml/2006/main">
              <a:ext uri="{FF2B5EF4-FFF2-40B4-BE49-F238E27FC236}">
                <a16:creationId xmlns:a16="http://schemas.microsoft.com/office/drawing/2014/main" id="{DF3AD486-FA60-48E9-9B0D-D3BF310D240E}"/>
              </a:ext>
            </a:extLst>
          </p:cNvPr>
          <p:cNvSpPr>
            <a:spLocks xmlns:a="http://schemas.openxmlformats.org/drawingml/2006/main" noGrp="1"/>
          </p:cNvSpPr>
          <p:nvPr/>
        </p:nvSpPr>
        <p:spPr>
          <a:xfrm xmlns:a="http://schemas.openxmlformats.org/drawingml/2006/main">
            <a:off x="1676400" y="5410200"/>
            <a:ext cx="8839200" cy="495300"/>
          </a:xfrm>
          <a:prstGeom xmlns:a="http://schemas.openxmlformats.org/drawingml/2006/main" prst="roundRect">
            <a:avLst>
              <a:gd name="adj" fmla="val 15385"/>
            </a:avLst>
          </a:prstGeom>
          <a:solidFill xmlns:a="http://schemas.openxmlformats.org/drawingml/2006/main">
            <a:srgbClr val="FFF7DF"/>
          </a:solidFill>
          <a:ln xmlns:a="http://schemas.openxmlformats.org/drawingml/2006/main" w="9525">
            <a:solidFill>
              <a:srgbClr val="F2D28B"/>
            </a:solidFill>
            <a:prstDash val="solid"/>
          </a:ln>
        </p:spPr>
      </p:sp>
      <p:sp>
        <p:nvSpPr>
          <p:cNvPr id="19" name="">
            <a:extLst xmlns:a="http://schemas.openxmlformats.org/drawingml/2006/main">
              <a:ext uri="{FF2B5EF4-FFF2-40B4-BE49-F238E27FC236}">
                <a16:creationId xmlns:a16="http://schemas.microsoft.com/office/drawing/2014/main" id="{DC5C37AD-0F22-4227-9710-CDB37A7FA02A}"/>
              </a:ext>
            </a:extLst>
          </p:cNvPr>
          <p:cNvSpPr>
            <a:spLocks xmlns:a="http://schemas.openxmlformats.org/drawingml/2006/main" noGrp="1"/>
          </p:cNvSpPr>
          <p:nvPr/>
        </p:nvSpPr>
        <p:spPr>
          <a:xfrm xmlns:a="http://schemas.openxmlformats.org/drawingml/2006/main">
            <a:off x="1962150" y="5562600"/>
            <a:ext cx="826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24334A"/>
                </a:solidFill>
              </a:defRPr>
            </a:pPr>
            <a:r>
              <a:rPr sz="1275" b="1">
                <a:solidFill>
                  <a:srgbClr val="24334A"/>
                </a:solidFill>
              </a:rPr>
              <a:t>Guardrail: Last Gasp, SCADA, and operation-text mining require owner approval before production use.</a:t>
            </a:r>
          </a:p>
        </p:txBody>
      </p:sp>
      <p:sp>
        <p:nvSpPr>
          <p:cNvPr id="20" name="">
            <a:extLst xmlns:a="http://schemas.openxmlformats.org/drawingml/2006/main">
              <a:ext uri="{FF2B5EF4-FFF2-40B4-BE49-F238E27FC236}">
                <a16:creationId xmlns:a16="http://schemas.microsoft.com/office/drawing/2014/main" id="{DC2B265D-6838-44A1-A14C-92ACAF097BA5}"/>
              </a:ext>
            </a:extLst>
          </p:cNvPr>
          <p:cNvSpPr>
            <a:spLocks xmlns:a="http://schemas.openxmlformats.org/drawingml/2006/main" noGrp="1"/>
          </p:cNvSpPr>
          <p:nvPr/>
        </p:nvSpPr>
        <p:spPr>
          <a:xfrm xmlns:a="http://schemas.openxmlformats.org/drawingml/2006/main">
            <a:off x="3381375" y="6305550"/>
            <a:ext cx="5429250" cy="323850"/>
          </a:xfrm>
          <a:prstGeom xmlns:a="http://schemas.openxmlformats.org/drawingml/2006/main" prst="roundRect">
            <a:avLst>
              <a:gd name="adj" fmla="val 23529"/>
            </a:avLst>
          </a:prstGeom>
          <a:solidFill xmlns:a="http://schemas.openxmlformats.org/drawingml/2006/main">
            <a:srgbClr val="F1F6FC"/>
          </a:solidFill>
          <a:ln xmlns:a="http://schemas.openxmlformats.org/drawingml/2006/main" w="9525">
            <a:solidFill>
              <a:srgbClr val="CAD6E6"/>
            </a:solidFill>
            <a:prstDash val="solid"/>
          </a:ln>
        </p:spPr>
      </p:sp>
      <p:sp>
        <p:nvSpPr>
          <p:cNvPr id="21" name="">
            <a:extLst xmlns:a="http://schemas.openxmlformats.org/drawingml/2006/main">
              <a:ext uri="{FF2B5EF4-FFF2-40B4-BE49-F238E27FC236}">
                <a16:creationId xmlns:a16="http://schemas.microsoft.com/office/drawing/2014/main" id="{C663F226-321F-4F82-8D2B-D6B78804328F}"/>
              </a:ext>
            </a:extLst>
          </p:cNvPr>
          <p:cNvSpPr>
            <a:spLocks xmlns:a="http://schemas.openxmlformats.org/drawingml/2006/main" noGrp="1"/>
          </p:cNvSpPr>
          <p:nvPr/>
        </p:nvSpPr>
        <p:spPr>
          <a:xfrm xmlns:a="http://schemas.openxmlformats.org/drawingml/2006/main">
            <a:off x="3543300" y="6362700"/>
            <a:ext cx="5105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24334A"/>
                </a:solidFill>
              </a:defRPr>
            </a:pPr>
            <a:r>
              <a:rPr sz="975" b="1">
                <a:solidFill>
                  <a:srgbClr val="24334A"/>
                </a:solidFill>
              </a:rPr>
              <a:t>mode = shadow | production_send = blocked | Auto ETR not customer-facing yet</a:t>
            </a:r>
          </a:p>
        </p:txBody>
      </p:sp>
    </p:spTree>
    <p:extLst>
      <p:ext uri="{BB962C8B-B14F-4D97-AF65-F5344CB8AC3E}">
        <p14:creationId xmlns:p14="http://schemas.microsoft.com/office/powerpoint/2010/main" val="21288588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E5CF7C1-D8C4-4035-81BF-6D9F39EBC34A}"/>
              </a:ext>
            </a:extLst>
          </p:cNvPr>
          <p:cNvSpPr>
            <a:spLocks xmlns:a="http://schemas.openxmlformats.org/drawingml/2006/main" noGrp="1"/>
          </p:cNvSpPr>
          <p:nvPr/>
        </p:nvSpPr>
        <p:spPr>
          <a:xfrm xmlns:a="http://schemas.openxmlformats.org/drawingml/2006/main">
            <a:off x="533400" y="419100"/>
            <a:ext cx="666750" cy="47625"/>
          </a:xfrm>
          <a:prstGeom xmlns:a="http://schemas.openxmlformats.org/drawingml/2006/main" prst="rect">
            <a:avLst/>
          </a:prstGeom>
          <a:solidFill xmlns:a="http://schemas.openxmlformats.org/drawingml/2006/main">
            <a:srgbClr val="7B57C8"/>
          </a:solidFill>
          <a:ln xmlns:a="http://schemas.openxmlformats.org/drawingml/2006/main" w="0">
            <a:solidFill>
              <a:srgbClr val="7B57C8"/>
            </a:solidFill>
            <a:prstDash val="solid"/>
          </a:ln>
        </p:spPr>
      </p:sp>
      <p:sp>
        <p:nvSpPr>
          <p:cNvPr id="2" name="">
            <a:extLst xmlns:a="http://schemas.openxmlformats.org/drawingml/2006/main">
              <a:ext uri="{FF2B5EF4-FFF2-40B4-BE49-F238E27FC236}">
                <a16:creationId xmlns:a16="http://schemas.microsoft.com/office/drawing/2014/main" id="{A8FD31B1-086E-483E-85B9-3AF648C67A2D}"/>
              </a:ext>
            </a:extLst>
          </p:cNvPr>
          <p:cNvSpPr>
            <a:spLocks xmlns:a="http://schemas.openxmlformats.org/drawingml/2006/main" noGrp="1"/>
          </p:cNvSpPr>
          <p:nvPr/>
        </p:nvSpPr>
        <p:spPr>
          <a:xfrm xmlns:a="http://schemas.openxmlformats.org/drawingml/2006/main">
            <a:off x="1257300" y="419100"/>
            <a:ext cx="666750" cy="47625"/>
          </a:xfrm>
          <a:prstGeom xmlns:a="http://schemas.openxmlformats.org/drawingml/2006/main" prst="rect">
            <a:avLst/>
          </a:prstGeom>
          <a:solidFill xmlns:a="http://schemas.openxmlformats.org/drawingml/2006/main">
            <a:srgbClr val="18B8C8"/>
          </a:solidFill>
          <a:ln xmlns:a="http://schemas.openxmlformats.org/drawingml/2006/main" w="0">
            <a:solidFill>
              <a:srgbClr val="18B8C8"/>
            </a:solidFill>
            <a:prstDash val="solid"/>
          </a:ln>
        </p:spPr>
      </p:sp>
      <p:sp>
        <p:nvSpPr>
          <p:cNvPr id="3" name="">
            <a:extLst xmlns:a="http://schemas.openxmlformats.org/drawingml/2006/main">
              <a:ext uri="{FF2B5EF4-FFF2-40B4-BE49-F238E27FC236}">
                <a16:creationId xmlns:a16="http://schemas.microsoft.com/office/drawing/2014/main" id="{88434B40-E986-432F-A0D6-FA1E4C550F18}"/>
              </a:ext>
            </a:extLst>
          </p:cNvPr>
          <p:cNvSpPr>
            <a:spLocks xmlns:a="http://schemas.openxmlformats.org/drawingml/2006/main" noGrp="1"/>
          </p:cNvSpPr>
          <p:nvPr/>
        </p:nvSpPr>
        <p:spPr>
          <a:xfrm xmlns:a="http://schemas.openxmlformats.org/drawingml/2006/main">
            <a:off x="533400" y="5905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617088"/>
                </a:solidFill>
              </a:defRPr>
            </a:pPr>
            <a:r>
              <a:rPr sz="975" b="1">
                <a:solidFill>
                  <a:srgbClr val="617088"/>
                </a:solidFill>
              </a:rPr>
              <a:t>BUSINESS MODEL</a:t>
            </a:r>
          </a:p>
        </p:txBody>
      </p:sp>
      <p:sp>
        <p:nvSpPr>
          <p:cNvPr id="4" name="">
            <a:extLst xmlns:a="http://schemas.openxmlformats.org/drawingml/2006/main">
              <a:ext uri="{FF2B5EF4-FFF2-40B4-BE49-F238E27FC236}">
                <a16:creationId xmlns:a16="http://schemas.microsoft.com/office/drawing/2014/main" id="{7FFB0428-2BBC-43FD-BE6A-52EA4351CCAC}"/>
              </a:ext>
            </a:extLst>
          </p:cNvPr>
          <p:cNvSpPr>
            <a:spLocks xmlns:a="http://schemas.openxmlformats.org/drawingml/2006/main" noGrp="1"/>
          </p:cNvSpPr>
          <p:nvPr/>
        </p:nvSpPr>
        <p:spPr>
          <a:xfrm xmlns:a="http://schemas.openxmlformats.org/drawingml/2006/main">
            <a:off x="533400" y="857250"/>
            <a:ext cx="819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7162B"/>
                </a:solidFill>
              </a:defRPr>
            </a:pPr>
            <a:r>
              <a:rPr sz="3000" b="1">
                <a:solidFill>
                  <a:srgbClr val="07162B"/>
                </a:solidFill>
              </a:rPr>
              <a:t>Data Monetization without a new hardware build</a:t>
            </a:r>
          </a:p>
        </p:txBody>
      </p:sp>
      <p:sp>
        <p:nvSpPr>
          <p:cNvPr id="5" name="">
            <a:extLst xmlns:a="http://schemas.openxmlformats.org/drawingml/2006/main">
              <a:ext uri="{FF2B5EF4-FFF2-40B4-BE49-F238E27FC236}">
                <a16:creationId xmlns:a16="http://schemas.microsoft.com/office/drawing/2014/main" id="{5D073D4D-6C74-434A-906C-A73181356EA6}"/>
              </a:ext>
            </a:extLst>
          </p:cNvPr>
          <p:cNvSpPr>
            <a:spLocks xmlns:a="http://schemas.openxmlformats.org/drawingml/2006/main" noGrp="1"/>
          </p:cNvSpPr>
          <p:nvPr/>
        </p:nvSpPr>
        <p:spPr>
          <a:xfrm xmlns:a="http://schemas.openxmlformats.org/drawingml/2006/main">
            <a:off x="552450" y="1409700"/>
            <a:ext cx="800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617088"/>
                </a:solidFill>
              </a:defRPr>
            </a:pPr>
            <a:r>
              <a:rPr sz="1500" b="0">
                <a:solidFill>
                  <a:srgbClr val="617088"/>
                </a:solidFill>
              </a:rPr>
              <a:t>Revenue path must still be validated by finance owners before formal booking.</a:t>
            </a:r>
          </a:p>
        </p:txBody>
      </p:sp>
      <p:sp>
        <p:nvSpPr>
          <p:cNvPr id="6" name="">
            <a:extLst xmlns:a="http://schemas.openxmlformats.org/drawingml/2006/main">
              <a:ext uri="{FF2B5EF4-FFF2-40B4-BE49-F238E27FC236}">
                <a16:creationId xmlns:a16="http://schemas.microsoft.com/office/drawing/2014/main" id="{D5A0C066-9600-427C-ACCD-1A1B366DAEE7}"/>
              </a:ext>
            </a:extLst>
          </p:cNvPr>
          <p:cNvSpPr>
            <a:spLocks xmlns:a="http://schemas.openxmlformats.org/drawingml/2006/main" noGrp="1"/>
          </p:cNvSpPr>
          <p:nvPr/>
        </p:nvSpPr>
        <p:spPr>
          <a:xfrm xmlns:a="http://schemas.openxmlformats.org/drawingml/2006/main">
            <a:off x="742950" y="2305050"/>
            <a:ext cx="314325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48F3EA54-0A99-408A-AA9F-58B6B6E3CFE7}"/>
              </a:ext>
            </a:extLst>
          </p:cNvPr>
          <p:cNvSpPr>
            <a:spLocks xmlns:a="http://schemas.openxmlformats.org/drawingml/2006/main" noGrp="1"/>
          </p:cNvSpPr>
          <p:nvPr/>
        </p:nvSpPr>
        <p:spPr>
          <a:xfrm xmlns:a="http://schemas.openxmlformats.org/drawingml/2006/main">
            <a:off x="742950" y="2305050"/>
            <a:ext cx="66675" cy="2190750"/>
          </a:xfrm>
          <a:prstGeom xmlns:a="http://schemas.openxmlformats.org/drawingml/2006/main" prst="rect">
            <a:avLst/>
          </a:prstGeom>
          <a:solidFill xmlns:a="http://schemas.openxmlformats.org/drawingml/2006/main">
            <a:srgbClr val="7B57C8"/>
          </a:solidFill>
          <a:ln xmlns:a="http://schemas.openxmlformats.org/drawingml/2006/main" w="0">
            <a:solidFill>
              <a:srgbClr val="7B57C8"/>
            </a:solidFill>
            <a:prstDash val="solid"/>
          </a:ln>
        </p:spPr>
      </p:sp>
      <p:sp>
        <p:nvSpPr>
          <p:cNvPr id="8" name="">
            <a:extLst xmlns:a="http://schemas.openxmlformats.org/drawingml/2006/main">
              <a:ext uri="{FF2B5EF4-FFF2-40B4-BE49-F238E27FC236}">
                <a16:creationId xmlns:a16="http://schemas.microsoft.com/office/drawing/2014/main" id="{DB121F1B-5BBF-4BB6-8015-9D938E5B37A9}"/>
              </a:ext>
            </a:extLst>
          </p:cNvPr>
          <p:cNvSpPr>
            <a:spLocks xmlns:a="http://schemas.openxmlformats.org/drawingml/2006/main" noGrp="1"/>
          </p:cNvSpPr>
          <p:nvPr/>
        </p:nvSpPr>
        <p:spPr>
          <a:xfrm xmlns:a="http://schemas.openxmlformats.org/drawingml/2006/main">
            <a:off x="971550" y="2495550"/>
            <a:ext cx="272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7162B"/>
                </a:solidFill>
              </a:defRPr>
            </a:pPr>
            <a:r>
              <a:rPr sz="1800" b="1">
                <a:solidFill>
                  <a:srgbClr val="07162B"/>
                </a:solidFill>
              </a:rPr>
              <a:t>Subscription</a:t>
            </a:r>
          </a:p>
        </p:txBody>
      </p:sp>
      <p:sp>
        <p:nvSpPr>
          <p:cNvPr id="9" name="">
            <a:extLst xmlns:a="http://schemas.openxmlformats.org/drawingml/2006/main">
              <a:ext uri="{FF2B5EF4-FFF2-40B4-BE49-F238E27FC236}">
                <a16:creationId xmlns:a16="http://schemas.microsoft.com/office/drawing/2014/main" id="{298453BC-6E50-4567-BEF0-325084E7ECFD}"/>
              </a:ext>
            </a:extLst>
          </p:cNvPr>
          <p:cNvSpPr>
            <a:spLocks xmlns:a="http://schemas.openxmlformats.org/drawingml/2006/main" noGrp="1"/>
          </p:cNvSpPr>
          <p:nvPr/>
        </p:nvSpPr>
        <p:spPr>
          <a:xfrm xmlns:a="http://schemas.openxmlformats.org/drawingml/2006/main">
            <a:off x="971550" y="2895600"/>
            <a:ext cx="27241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233044"/>
                </a:solidFill>
              </a:defRPr>
            </a:pPr>
            <a:r>
              <a:rPr sz="1350" b="0">
                <a:solidFill>
                  <a:srgbClr val="233044"/>
                </a:solidFill>
              </a:rPr>
              <a:t>1.5-2M THB/year/region</a:t>
            </a:r>
          </a:p>
          <a:p xmlns:a="http://schemas.openxmlformats.org/drawingml/2006/main">
            <a:pPr>
              <a:defRPr sz="1350" b="0">
                <a:solidFill>
                  <a:srgbClr val="233044"/>
                </a:solidFill>
              </a:defRPr>
            </a:pPr>
            <a:r>
              <a:rPr sz="1350" b="0">
                <a:solidFill>
                  <a:srgbClr val="233044"/>
                </a:solidFill>
              </a:rPr>
              <a:t>Premium outage-context data service</a:t>
            </a:r>
          </a:p>
        </p:txBody>
      </p:sp>
      <p:sp>
        <p:nvSpPr>
          <p:cNvPr id="10" name="">
            <a:extLst xmlns:a="http://schemas.openxmlformats.org/drawingml/2006/main">
              <a:ext uri="{FF2B5EF4-FFF2-40B4-BE49-F238E27FC236}">
                <a16:creationId xmlns:a16="http://schemas.microsoft.com/office/drawing/2014/main" id="{B51194C8-5178-49E6-B3C4-2EF7461143B9}"/>
              </a:ext>
            </a:extLst>
          </p:cNvPr>
          <p:cNvSpPr>
            <a:spLocks xmlns:a="http://schemas.openxmlformats.org/drawingml/2006/main" noGrp="1"/>
          </p:cNvSpPr>
          <p:nvPr/>
        </p:nvSpPr>
        <p:spPr>
          <a:xfrm xmlns:a="http://schemas.openxmlformats.org/drawingml/2006/main">
            <a:off x="4524375" y="2305050"/>
            <a:ext cx="314325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0B72A7FB-4873-4CAF-A093-DA42639A2C1B}"/>
              </a:ext>
            </a:extLst>
          </p:cNvPr>
          <p:cNvSpPr>
            <a:spLocks xmlns:a="http://schemas.openxmlformats.org/drawingml/2006/main" noGrp="1"/>
          </p:cNvSpPr>
          <p:nvPr/>
        </p:nvSpPr>
        <p:spPr>
          <a:xfrm xmlns:a="http://schemas.openxmlformats.org/drawingml/2006/main">
            <a:off x="4524375" y="2305050"/>
            <a:ext cx="66675" cy="2190750"/>
          </a:xfrm>
          <a:prstGeom xmlns:a="http://schemas.openxmlformats.org/drawingml/2006/main" prst="rect">
            <a:avLst/>
          </a:prstGeom>
          <a:solidFill xmlns:a="http://schemas.openxmlformats.org/drawingml/2006/main">
            <a:srgbClr val="18B8C8"/>
          </a:solidFill>
          <a:ln xmlns:a="http://schemas.openxmlformats.org/drawingml/2006/main" w="0">
            <a:solidFill>
              <a:srgbClr val="18B8C8"/>
            </a:solidFill>
            <a:prstDash val="solid"/>
          </a:ln>
        </p:spPr>
      </p:sp>
      <p:sp>
        <p:nvSpPr>
          <p:cNvPr id="12" name="">
            <a:extLst xmlns:a="http://schemas.openxmlformats.org/drawingml/2006/main">
              <a:ext uri="{FF2B5EF4-FFF2-40B4-BE49-F238E27FC236}">
                <a16:creationId xmlns:a16="http://schemas.microsoft.com/office/drawing/2014/main" id="{C6B44A03-5199-42D5-9830-EE7069D94EE3}"/>
              </a:ext>
            </a:extLst>
          </p:cNvPr>
          <p:cNvSpPr>
            <a:spLocks xmlns:a="http://schemas.openxmlformats.org/drawingml/2006/main" noGrp="1"/>
          </p:cNvSpPr>
          <p:nvPr/>
        </p:nvSpPr>
        <p:spPr>
          <a:xfrm xmlns:a="http://schemas.openxmlformats.org/drawingml/2006/main">
            <a:off x="4752975" y="2495550"/>
            <a:ext cx="272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7162B"/>
                </a:solidFill>
              </a:defRPr>
            </a:pPr>
            <a:r>
              <a:rPr sz="1800" b="1">
                <a:solidFill>
                  <a:srgbClr val="07162B"/>
                </a:solidFill>
              </a:rPr>
              <a:t>Usage upside</a:t>
            </a:r>
          </a:p>
        </p:txBody>
      </p:sp>
      <p:sp>
        <p:nvSpPr>
          <p:cNvPr id="13" name="">
            <a:extLst xmlns:a="http://schemas.openxmlformats.org/drawingml/2006/main">
              <a:ext uri="{FF2B5EF4-FFF2-40B4-BE49-F238E27FC236}">
                <a16:creationId xmlns:a16="http://schemas.microsoft.com/office/drawing/2014/main" id="{E35E1E13-8C40-473F-B919-F24EF56FEF44}"/>
              </a:ext>
            </a:extLst>
          </p:cNvPr>
          <p:cNvSpPr>
            <a:spLocks xmlns:a="http://schemas.openxmlformats.org/drawingml/2006/main" noGrp="1"/>
          </p:cNvSpPr>
          <p:nvPr/>
        </p:nvSpPr>
        <p:spPr>
          <a:xfrm xmlns:a="http://schemas.openxmlformats.org/drawingml/2006/main">
            <a:off x="4752975" y="2895600"/>
            <a:ext cx="27241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233044"/>
                </a:solidFill>
              </a:defRPr>
            </a:pPr>
            <a:r>
              <a:rPr sz="1350" b="0">
                <a:solidFill>
                  <a:srgbClr val="233044"/>
                </a:solidFill>
              </a:rPr>
              <a:t>Pay-per-API-call</a:t>
            </a:r>
          </a:p>
          <a:p xmlns:a="http://schemas.openxmlformats.org/drawingml/2006/main">
            <a:pPr>
              <a:defRPr sz="1350" b="0">
                <a:solidFill>
                  <a:srgbClr val="233044"/>
                </a:solidFill>
              </a:defRPr>
            </a:pPr>
            <a:r>
              <a:rPr sz="1350" b="0">
                <a:solidFill>
                  <a:srgbClr val="233044"/>
                </a:solidFill>
              </a:rPr>
              <a:t>Aligned to actual incident demand</a:t>
            </a:r>
          </a:p>
        </p:txBody>
      </p:sp>
      <p:sp>
        <p:nvSpPr>
          <p:cNvPr id="14" name="">
            <a:extLst xmlns:a="http://schemas.openxmlformats.org/drawingml/2006/main">
              <a:ext uri="{FF2B5EF4-FFF2-40B4-BE49-F238E27FC236}">
                <a16:creationId xmlns:a16="http://schemas.microsoft.com/office/drawing/2014/main" id="{12101BE5-72FB-42D5-B5D9-0E142AF90812}"/>
              </a:ext>
            </a:extLst>
          </p:cNvPr>
          <p:cNvSpPr>
            <a:spLocks xmlns:a="http://schemas.openxmlformats.org/drawingml/2006/main" noGrp="1"/>
          </p:cNvSpPr>
          <p:nvPr/>
        </p:nvSpPr>
        <p:spPr>
          <a:xfrm xmlns:a="http://schemas.openxmlformats.org/drawingml/2006/main">
            <a:off x="8305800" y="2305050"/>
            <a:ext cx="314325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38811CDA-F3E4-42F5-8F24-D7C632214767}"/>
              </a:ext>
            </a:extLst>
          </p:cNvPr>
          <p:cNvSpPr>
            <a:spLocks xmlns:a="http://schemas.openxmlformats.org/drawingml/2006/main" noGrp="1"/>
          </p:cNvSpPr>
          <p:nvPr/>
        </p:nvSpPr>
        <p:spPr>
          <a:xfrm xmlns:a="http://schemas.openxmlformats.org/drawingml/2006/main">
            <a:off x="8305800" y="2305050"/>
            <a:ext cx="66675" cy="2190750"/>
          </a:xfrm>
          <a:prstGeom xmlns:a="http://schemas.openxmlformats.org/drawingml/2006/main" prst="rect">
            <a:avLst/>
          </a:prstGeom>
          <a:solidFill xmlns:a="http://schemas.openxmlformats.org/drawingml/2006/main">
            <a:srgbClr val="F7B84B"/>
          </a:solidFill>
          <a:ln xmlns:a="http://schemas.openxmlformats.org/drawingml/2006/main" w="0">
            <a:solidFill>
              <a:srgbClr val="F7B84B"/>
            </a:solidFill>
            <a:prstDash val="solid"/>
          </a:ln>
        </p:spPr>
      </p:sp>
      <p:sp>
        <p:nvSpPr>
          <p:cNvPr id="16" name="">
            <a:extLst xmlns:a="http://schemas.openxmlformats.org/drawingml/2006/main">
              <a:ext uri="{FF2B5EF4-FFF2-40B4-BE49-F238E27FC236}">
                <a16:creationId xmlns:a16="http://schemas.microsoft.com/office/drawing/2014/main" id="{75F00FE6-CBA4-46FE-B053-5396500081F1}"/>
              </a:ext>
            </a:extLst>
          </p:cNvPr>
          <p:cNvSpPr>
            <a:spLocks xmlns:a="http://schemas.openxmlformats.org/drawingml/2006/main" noGrp="1"/>
          </p:cNvSpPr>
          <p:nvPr/>
        </p:nvSpPr>
        <p:spPr>
          <a:xfrm xmlns:a="http://schemas.openxmlformats.org/drawingml/2006/main">
            <a:off x="8534400" y="2495550"/>
            <a:ext cx="272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7162B"/>
                </a:solidFill>
              </a:defRPr>
            </a:pPr>
            <a:r>
              <a:rPr sz="1800" b="1">
                <a:solidFill>
                  <a:srgbClr val="07162B"/>
                </a:solidFill>
              </a:rPr>
              <a:t>National upside</a:t>
            </a:r>
          </a:p>
        </p:txBody>
      </p:sp>
      <p:sp>
        <p:nvSpPr>
          <p:cNvPr id="17" name="">
            <a:extLst xmlns:a="http://schemas.openxmlformats.org/drawingml/2006/main">
              <a:ext uri="{FF2B5EF4-FFF2-40B4-BE49-F238E27FC236}">
                <a16:creationId xmlns:a16="http://schemas.microsoft.com/office/drawing/2014/main" id="{7205EB4E-BCD9-4CEF-88FD-1EC8389BD504}"/>
              </a:ext>
            </a:extLst>
          </p:cNvPr>
          <p:cNvSpPr>
            <a:spLocks xmlns:a="http://schemas.openxmlformats.org/drawingml/2006/main" noGrp="1"/>
          </p:cNvSpPr>
          <p:nvPr/>
        </p:nvSpPr>
        <p:spPr>
          <a:xfrm xmlns:a="http://schemas.openxmlformats.org/drawingml/2006/main">
            <a:off x="8534400" y="2895600"/>
            <a:ext cx="27241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233044"/>
                </a:solidFill>
              </a:defRPr>
            </a:pPr>
            <a:r>
              <a:rPr sz="1350" b="0">
                <a:solidFill>
                  <a:srgbClr val="233044"/>
                </a:solidFill>
              </a:rPr>
              <a:t>6-8M THB/year potential</a:t>
            </a:r>
          </a:p>
          <a:p xmlns:a="http://schemas.openxmlformats.org/drawingml/2006/main">
            <a:pPr>
              <a:defRPr sz="1350" b="0">
                <a:solidFill>
                  <a:srgbClr val="233044"/>
                </a:solidFill>
              </a:defRPr>
            </a:pPr>
            <a:r>
              <a:rPr sz="1350" b="0">
                <a:solidFill>
                  <a:srgbClr val="233044"/>
                </a:solidFill>
              </a:rPr>
              <a:t>Zero-CAPEX path using existing PEA capability</a:t>
            </a:r>
          </a:p>
        </p:txBody>
      </p:sp>
      <p:sp>
        <p:nvSpPr>
          <p:cNvPr id="18" name="">
            <a:extLst xmlns:a="http://schemas.openxmlformats.org/drawingml/2006/main">
              <a:ext uri="{FF2B5EF4-FFF2-40B4-BE49-F238E27FC236}">
                <a16:creationId xmlns:a16="http://schemas.microsoft.com/office/drawing/2014/main" id="{8F053B62-1F4A-41DB-A61C-13E8A87719BF}"/>
              </a:ext>
            </a:extLst>
          </p:cNvPr>
          <p:cNvSpPr>
            <a:spLocks xmlns:a="http://schemas.openxmlformats.org/drawingml/2006/main" noGrp="1"/>
          </p:cNvSpPr>
          <p:nvPr/>
        </p:nvSpPr>
        <p:spPr>
          <a:xfrm xmlns:a="http://schemas.openxmlformats.org/drawingml/2006/main">
            <a:off x="1762125" y="5191125"/>
            <a:ext cx="866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7162B"/>
                </a:solidFill>
              </a:defRPr>
            </a:pPr>
            <a:r>
              <a:rPr sz="1800" b="1">
                <a:solidFill>
                  <a:srgbClr val="07162B"/>
                </a:solidFill>
              </a:rPr>
              <a:t>Financial posture: strategic upside now, not audited realized revenue yet.</a:t>
            </a:r>
          </a:p>
        </p:txBody>
      </p:sp>
      <p:sp>
        <p:nvSpPr>
          <p:cNvPr id="19" name="">
            <a:extLst xmlns:a="http://schemas.openxmlformats.org/drawingml/2006/main">
              <a:ext uri="{FF2B5EF4-FFF2-40B4-BE49-F238E27FC236}">
                <a16:creationId xmlns:a16="http://schemas.microsoft.com/office/drawing/2014/main" id="{6ABA8383-9C6C-4148-AA7C-721268252C5C}"/>
              </a:ext>
            </a:extLst>
          </p:cNvPr>
          <p:cNvSpPr>
            <a:spLocks xmlns:a="http://schemas.openxmlformats.org/drawingml/2006/main" noGrp="1"/>
          </p:cNvSpPr>
          <p:nvPr/>
        </p:nvSpPr>
        <p:spPr>
          <a:xfrm xmlns:a="http://schemas.openxmlformats.org/drawingml/2006/main">
            <a:off x="3381375" y="6305550"/>
            <a:ext cx="5429250" cy="323850"/>
          </a:xfrm>
          <a:prstGeom xmlns:a="http://schemas.openxmlformats.org/drawingml/2006/main" prst="roundRect">
            <a:avLst>
              <a:gd name="adj" fmla="val 23529"/>
            </a:avLst>
          </a:prstGeom>
          <a:solidFill xmlns:a="http://schemas.openxmlformats.org/drawingml/2006/main">
            <a:srgbClr val="F1F6FC"/>
          </a:solidFill>
          <a:ln xmlns:a="http://schemas.openxmlformats.org/drawingml/2006/main" w="9525">
            <a:solidFill>
              <a:srgbClr val="CAD6E6"/>
            </a:solidFill>
            <a:prstDash val="solid"/>
          </a:ln>
        </p:spPr>
      </p:sp>
      <p:sp>
        <p:nvSpPr>
          <p:cNvPr id="20" name="">
            <a:extLst xmlns:a="http://schemas.openxmlformats.org/drawingml/2006/main">
              <a:ext uri="{FF2B5EF4-FFF2-40B4-BE49-F238E27FC236}">
                <a16:creationId xmlns:a16="http://schemas.microsoft.com/office/drawing/2014/main" id="{1C0D2636-4909-41A1-AC66-64C54BB0C889}"/>
              </a:ext>
            </a:extLst>
          </p:cNvPr>
          <p:cNvSpPr>
            <a:spLocks xmlns:a="http://schemas.openxmlformats.org/drawingml/2006/main" noGrp="1"/>
          </p:cNvSpPr>
          <p:nvPr/>
        </p:nvSpPr>
        <p:spPr>
          <a:xfrm xmlns:a="http://schemas.openxmlformats.org/drawingml/2006/main">
            <a:off x="3543300" y="6362700"/>
            <a:ext cx="5105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24334A"/>
                </a:solidFill>
              </a:defRPr>
            </a:pPr>
            <a:r>
              <a:rPr sz="975" b="1">
                <a:solidFill>
                  <a:srgbClr val="24334A"/>
                </a:solidFill>
              </a:rPr>
              <a:t>mode = shadow | production_send = blocked | Auto ETR not customer-facing yet</a:t>
            </a:r>
          </a:p>
        </p:txBody>
      </p:sp>
    </p:spTree>
    <p:extLst>
      <p:ext uri="{BB962C8B-B14F-4D97-AF65-F5344CB8AC3E}">
        <p14:creationId xmlns:p14="http://schemas.microsoft.com/office/powerpoint/2010/main" val="2106605194"/>
      </p:ext>
    </p:extLst>
  </p:cSld>
</p:sld>
</file>

<file path=ppt/slides/slide10.xml><?xml version="1.0" encoding="utf-8"?>
<p:sld xmlns:p="http://schemas.openxmlformats.org/presentationml/2006/main">
  <p:cSld>
    <p:bg>
      <p:bgPr>
        <a:solidFill xmlns:a="http://schemas.openxmlformats.org/drawingml/2006/main">
          <a:srgbClr val="F6FA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932FFC9-2077-4408-8C6B-4D8C917B2BC3}"/>
              </a:ext>
            </a:extLst>
          </p:cNvPr>
          <p:cNvSpPr>
            <a:spLocks xmlns:a="http://schemas.openxmlformats.org/drawingml/2006/main" noGrp="1"/>
          </p:cNvSpPr>
          <p:nvPr/>
        </p:nvSpPr>
        <p:spPr>
          <a:xfrm xmlns:a="http://schemas.openxmlformats.org/drawingml/2006/main">
            <a:off x="533400" y="419100"/>
            <a:ext cx="666750" cy="47625"/>
          </a:xfrm>
          <a:prstGeom xmlns:a="http://schemas.openxmlformats.org/drawingml/2006/main" prst="rect">
            <a:avLst/>
          </a:prstGeom>
          <a:solidFill xmlns:a="http://schemas.openxmlformats.org/drawingml/2006/main">
            <a:srgbClr val="7B57C8"/>
          </a:solidFill>
          <a:ln xmlns:a="http://schemas.openxmlformats.org/drawingml/2006/main" w="0">
            <a:solidFill>
              <a:srgbClr val="7B57C8"/>
            </a:solidFill>
            <a:prstDash val="solid"/>
          </a:ln>
        </p:spPr>
      </p:sp>
      <p:sp>
        <p:nvSpPr>
          <p:cNvPr id="2" name="">
            <a:extLst xmlns:a="http://schemas.openxmlformats.org/drawingml/2006/main">
              <a:ext uri="{FF2B5EF4-FFF2-40B4-BE49-F238E27FC236}">
                <a16:creationId xmlns:a16="http://schemas.microsoft.com/office/drawing/2014/main" id="{34C2655F-8758-4C5C-A783-BAF014EA7666}"/>
              </a:ext>
            </a:extLst>
          </p:cNvPr>
          <p:cNvSpPr>
            <a:spLocks xmlns:a="http://schemas.openxmlformats.org/drawingml/2006/main" noGrp="1"/>
          </p:cNvSpPr>
          <p:nvPr/>
        </p:nvSpPr>
        <p:spPr>
          <a:xfrm xmlns:a="http://schemas.openxmlformats.org/drawingml/2006/main">
            <a:off x="1257300" y="419100"/>
            <a:ext cx="666750" cy="47625"/>
          </a:xfrm>
          <a:prstGeom xmlns:a="http://schemas.openxmlformats.org/drawingml/2006/main" prst="rect">
            <a:avLst/>
          </a:prstGeom>
          <a:solidFill xmlns:a="http://schemas.openxmlformats.org/drawingml/2006/main">
            <a:srgbClr val="18B8C8"/>
          </a:solidFill>
          <a:ln xmlns:a="http://schemas.openxmlformats.org/drawingml/2006/main" w="0">
            <a:solidFill>
              <a:srgbClr val="18B8C8"/>
            </a:solidFill>
            <a:prstDash val="solid"/>
          </a:ln>
        </p:spPr>
      </p:sp>
      <p:sp>
        <p:nvSpPr>
          <p:cNvPr id="3" name="">
            <a:extLst xmlns:a="http://schemas.openxmlformats.org/drawingml/2006/main">
              <a:ext uri="{FF2B5EF4-FFF2-40B4-BE49-F238E27FC236}">
                <a16:creationId xmlns:a16="http://schemas.microsoft.com/office/drawing/2014/main" id="{EA0EB966-A77C-4582-93FE-BAB43088AE18}"/>
              </a:ext>
            </a:extLst>
          </p:cNvPr>
          <p:cNvSpPr>
            <a:spLocks xmlns:a="http://schemas.openxmlformats.org/drawingml/2006/main" noGrp="1"/>
          </p:cNvSpPr>
          <p:nvPr/>
        </p:nvSpPr>
        <p:spPr>
          <a:xfrm xmlns:a="http://schemas.openxmlformats.org/drawingml/2006/main">
            <a:off x="533400" y="5905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617088"/>
                </a:solidFill>
              </a:defRPr>
            </a:pPr>
            <a:r>
              <a:rPr sz="975" b="1">
                <a:solidFill>
                  <a:srgbClr val="617088"/>
                </a:solidFill>
              </a:rPr>
              <a:t>RISK CONTROL</a:t>
            </a:r>
          </a:p>
        </p:txBody>
      </p:sp>
      <p:sp>
        <p:nvSpPr>
          <p:cNvPr id="4" name="">
            <a:extLst xmlns:a="http://schemas.openxmlformats.org/drawingml/2006/main">
              <a:ext uri="{FF2B5EF4-FFF2-40B4-BE49-F238E27FC236}">
                <a16:creationId xmlns:a16="http://schemas.microsoft.com/office/drawing/2014/main" id="{CECAFC80-54E1-49A0-AD59-CA2D68771855}"/>
              </a:ext>
            </a:extLst>
          </p:cNvPr>
          <p:cNvSpPr>
            <a:spLocks xmlns:a="http://schemas.openxmlformats.org/drawingml/2006/main" noGrp="1"/>
          </p:cNvSpPr>
          <p:nvPr/>
        </p:nvSpPr>
        <p:spPr>
          <a:xfrm xmlns:a="http://schemas.openxmlformats.org/drawingml/2006/main">
            <a:off x="533400" y="857250"/>
            <a:ext cx="819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7162B"/>
                </a:solidFill>
              </a:defRPr>
            </a:pPr>
            <a:r>
              <a:rPr sz="3000" b="1">
                <a:solidFill>
                  <a:srgbClr val="07162B"/>
                </a:solidFill>
              </a:rPr>
              <a:t>Ambitious pitch, conservative system</a:t>
            </a:r>
          </a:p>
        </p:txBody>
      </p:sp>
      <p:sp>
        <p:nvSpPr>
          <p:cNvPr id="5" name="">
            <a:extLst xmlns:a="http://schemas.openxmlformats.org/drawingml/2006/main">
              <a:ext uri="{FF2B5EF4-FFF2-40B4-BE49-F238E27FC236}">
                <a16:creationId xmlns:a16="http://schemas.microsoft.com/office/drawing/2014/main" id="{9DE1E3B3-D8CD-4C6F-81B9-D811F071B4D6}"/>
              </a:ext>
            </a:extLst>
          </p:cNvPr>
          <p:cNvSpPr>
            <a:spLocks xmlns:a="http://schemas.openxmlformats.org/drawingml/2006/main" noGrp="1"/>
          </p:cNvSpPr>
          <p:nvPr/>
        </p:nvSpPr>
        <p:spPr>
          <a:xfrm xmlns:a="http://schemas.openxmlformats.org/drawingml/2006/main">
            <a:off x="552450" y="1409700"/>
            <a:ext cx="800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617088"/>
                </a:solidFill>
              </a:defRPr>
            </a:pPr>
            <a:r>
              <a:rPr sz="1500" b="0">
                <a:solidFill>
                  <a:srgbClr val="617088"/>
                </a:solidFill>
              </a:rPr>
              <a:t>The system proves value in shadow mode before any customer-facing Auto ETR.</a:t>
            </a:r>
          </a:p>
        </p:txBody>
      </p:sp>
      <p:sp>
        <p:nvSpPr>
          <p:cNvPr id="6" name="">
            <a:extLst xmlns:a="http://schemas.openxmlformats.org/drawingml/2006/main">
              <a:ext uri="{FF2B5EF4-FFF2-40B4-BE49-F238E27FC236}">
                <a16:creationId xmlns:a16="http://schemas.microsoft.com/office/drawing/2014/main" id="{D8362D27-7B6B-4F1C-A684-867320E32E64}"/>
              </a:ext>
            </a:extLst>
          </p:cNvPr>
          <p:cNvSpPr>
            <a:spLocks xmlns:a="http://schemas.openxmlformats.org/drawingml/2006/main" noGrp="1"/>
          </p:cNvSpPr>
          <p:nvPr/>
        </p:nvSpPr>
        <p:spPr>
          <a:xfrm xmlns:a="http://schemas.openxmlformats.org/drawingml/2006/main">
            <a:off x="857250" y="2190750"/>
            <a:ext cx="30480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5DDEB3A9-7862-4325-ADC5-94F042195AF0}"/>
              </a:ext>
            </a:extLst>
          </p:cNvPr>
          <p:cNvSpPr>
            <a:spLocks xmlns:a="http://schemas.openxmlformats.org/drawingml/2006/main" noGrp="1"/>
          </p:cNvSpPr>
          <p:nvPr/>
        </p:nvSpPr>
        <p:spPr>
          <a:xfrm xmlns:a="http://schemas.openxmlformats.org/drawingml/2006/main">
            <a:off x="857250" y="2190750"/>
            <a:ext cx="66675" cy="2095500"/>
          </a:xfrm>
          <a:prstGeom xmlns:a="http://schemas.openxmlformats.org/drawingml/2006/main" prst="rect">
            <a:avLst/>
          </a:prstGeom>
          <a:solidFill xmlns:a="http://schemas.openxmlformats.org/drawingml/2006/main">
            <a:srgbClr val="35B76A"/>
          </a:solidFill>
          <a:ln xmlns:a="http://schemas.openxmlformats.org/drawingml/2006/main" w="0">
            <a:solidFill>
              <a:srgbClr val="35B76A"/>
            </a:solidFill>
            <a:prstDash val="solid"/>
          </a:ln>
        </p:spPr>
      </p:sp>
      <p:sp>
        <p:nvSpPr>
          <p:cNvPr id="8" name="">
            <a:extLst xmlns:a="http://schemas.openxmlformats.org/drawingml/2006/main">
              <a:ext uri="{FF2B5EF4-FFF2-40B4-BE49-F238E27FC236}">
                <a16:creationId xmlns:a16="http://schemas.microsoft.com/office/drawing/2014/main" id="{6D6A334F-B22D-4AFF-801F-9FD9AB055E9E}"/>
              </a:ext>
            </a:extLst>
          </p:cNvPr>
          <p:cNvSpPr>
            <a:spLocks xmlns:a="http://schemas.openxmlformats.org/drawingml/2006/main" noGrp="1"/>
          </p:cNvSpPr>
          <p:nvPr/>
        </p:nvSpPr>
        <p:spPr>
          <a:xfrm xmlns:a="http://schemas.openxmlformats.org/drawingml/2006/main">
            <a:off x="1085850" y="2381250"/>
            <a:ext cx="2628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7162B"/>
                </a:solidFill>
              </a:defRPr>
            </a:pPr>
            <a:r>
              <a:rPr sz="1800" b="1">
                <a:solidFill>
                  <a:srgbClr val="07162B"/>
                </a:solidFill>
              </a:rPr>
              <a:t>Allowed now</a:t>
            </a:r>
          </a:p>
        </p:txBody>
      </p:sp>
      <p:sp>
        <p:nvSpPr>
          <p:cNvPr id="9" name="">
            <a:extLst xmlns:a="http://schemas.openxmlformats.org/drawingml/2006/main">
              <a:ext uri="{FF2B5EF4-FFF2-40B4-BE49-F238E27FC236}">
                <a16:creationId xmlns:a16="http://schemas.microsoft.com/office/drawing/2014/main" id="{6AB6B267-B4F0-4892-B7F7-376C47BF642A}"/>
              </a:ext>
            </a:extLst>
          </p:cNvPr>
          <p:cNvSpPr>
            <a:spLocks xmlns:a="http://schemas.openxmlformats.org/drawingml/2006/main" noGrp="1"/>
          </p:cNvSpPr>
          <p:nvPr/>
        </p:nvSpPr>
        <p:spPr>
          <a:xfrm xmlns:a="http://schemas.openxmlformats.org/drawingml/2006/main">
            <a:off x="1085850" y="2781300"/>
            <a:ext cx="26289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233044"/>
                </a:solidFill>
              </a:defRPr>
            </a:pPr>
            <a:r>
              <a:rPr sz="1350" b="0">
                <a:solidFill>
                  <a:srgbClr val="233044"/>
                </a:solidFill>
              </a:rPr>
              <a:t>Capture request</a:t>
            </a:r>
          </a:p>
          <a:p xmlns:a="http://schemas.openxmlformats.org/drawingml/2006/main">
            <a:pPr>
              <a:defRPr sz="1350" b="0">
                <a:solidFill>
                  <a:srgbClr val="233044"/>
                </a:solidFill>
              </a:defRPr>
            </a:pPr>
            <a:r>
              <a:rPr sz="1350" b="0">
                <a:solidFill>
                  <a:srgbClr val="233044"/>
                </a:solidFill>
              </a:rPr>
              <a:t>Audit evidence</a:t>
            </a:r>
          </a:p>
          <a:p xmlns:a="http://schemas.openxmlformats.org/drawingml/2006/main">
            <a:pPr>
              <a:defRPr sz="1350" b="0">
                <a:solidFill>
                  <a:srgbClr val="233044"/>
                </a:solidFill>
              </a:defRPr>
            </a:pPr>
            <a:r>
              <a:rPr sz="1350" b="0">
                <a:solidFill>
                  <a:srgbClr val="233044"/>
                </a:solidFill>
              </a:rPr>
              <a:t>Status/demo response</a:t>
            </a:r>
          </a:p>
          <a:p xmlns:a="http://schemas.openxmlformats.org/drawingml/2006/main">
            <a:pPr>
              <a:defRPr sz="1350" b="0">
                <a:solidFill>
                  <a:srgbClr val="233044"/>
                </a:solidFill>
              </a:defRPr>
            </a:pPr>
            <a:r>
              <a:rPr sz="1350" b="0">
                <a:solidFill>
                  <a:srgbClr val="233044"/>
                </a:solidFill>
              </a:rPr>
              <a:t>Human review</a:t>
            </a:r>
          </a:p>
        </p:txBody>
      </p:sp>
      <p:sp>
        <p:nvSpPr>
          <p:cNvPr id="10" name="">
            <a:extLst xmlns:a="http://schemas.openxmlformats.org/drawingml/2006/main">
              <a:ext uri="{FF2B5EF4-FFF2-40B4-BE49-F238E27FC236}">
                <a16:creationId xmlns:a16="http://schemas.microsoft.com/office/drawing/2014/main" id="{74472A26-80EC-4EB9-B690-B15139D4847B}"/>
              </a:ext>
            </a:extLst>
          </p:cNvPr>
          <p:cNvSpPr>
            <a:spLocks xmlns:a="http://schemas.openxmlformats.org/drawingml/2006/main" noGrp="1"/>
          </p:cNvSpPr>
          <p:nvPr/>
        </p:nvSpPr>
        <p:spPr>
          <a:xfrm xmlns:a="http://schemas.openxmlformats.org/drawingml/2006/main">
            <a:off x="4572000" y="2190750"/>
            <a:ext cx="30480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7C8A7930-72FE-440B-A54F-4AC2C0D6141B}"/>
              </a:ext>
            </a:extLst>
          </p:cNvPr>
          <p:cNvSpPr>
            <a:spLocks xmlns:a="http://schemas.openxmlformats.org/drawingml/2006/main" noGrp="1"/>
          </p:cNvSpPr>
          <p:nvPr/>
        </p:nvSpPr>
        <p:spPr>
          <a:xfrm xmlns:a="http://schemas.openxmlformats.org/drawingml/2006/main">
            <a:off x="4572000" y="2190750"/>
            <a:ext cx="66675" cy="2095500"/>
          </a:xfrm>
          <a:prstGeom xmlns:a="http://schemas.openxmlformats.org/drawingml/2006/main" prst="rect">
            <a:avLst/>
          </a:prstGeom>
          <a:solidFill xmlns:a="http://schemas.openxmlformats.org/drawingml/2006/main">
            <a:srgbClr val="E35353"/>
          </a:solidFill>
          <a:ln xmlns:a="http://schemas.openxmlformats.org/drawingml/2006/main" w="0">
            <a:solidFill>
              <a:srgbClr val="E35353"/>
            </a:solidFill>
            <a:prstDash val="solid"/>
          </a:ln>
        </p:spPr>
      </p:sp>
      <p:sp>
        <p:nvSpPr>
          <p:cNvPr id="12" name="">
            <a:extLst xmlns:a="http://schemas.openxmlformats.org/drawingml/2006/main">
              <a:ext uri="{FF2B5EF4-FFF2-40B4-BE49-F238E27FC236}">
                <a16:creationId xmlns:a16="http://schemas.microsoft.com/office/drawing/2014/main" id="{A9CFD0D2-281E-4A96-834B-95987F25D42F}"/>
              </a:ext>
            </a:extLst>
          </p:cNvPr>
          <p:cNvSpPr>
            <a:spLocks xmlns:a="http://schemas.openxmlformats.org/drawingml/2006/main" noGrp="1"/>
          </p:cNvSpPr>
          <p:nvPr/>
        </p:nvSpPr>
        <p:spPr>
          <a:xfrm xmlns:a="http://schemas.openxmlformats.org/drawingml/2006/main">
            <a:off x="4800600" y="2381250"/>
            <a:ext cx="2628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7162B"/>
                </a:solidFill>
              </a:defRPr>
            </a:pPr>
            <a:r>
              <a:rPr sz="1800" b="1">
                <a:solidFill>
                  <a:srgbClr val="07162B"/>
                </a:solidFill>
              </a:rPr>
              <a:t>Blocked now</a:t>
            </a:r>
          </a:p>
        </p:txBody>
      </p:sp>
      <p:sp>
        <p:nvSpPr>
          <p:cNvPr id="13" name="">
            <a:extLst xmlns:a="http://schemas.openxmlformats.org/drawingml/2006/main">
              <a:ext uri="{FF2B5EF4-FFF2-40B4-BE49-F238E27FC236}">
                <a16:creationId xmlns:a16="http://schemas.microsoft.com/office/drawing/2014/main" id="{C322FD5A-7AFB-425C-9779-CA58D6917625}"/>
              </a:ext>
            </a:extLst>
          </p:cNvPr>
          <p:cNvSpPr>
            <a:spLocks xmlns:a="http://schemas.openxmlformats.org/drawingml/2006/main" noGrp="1"/>
          </p:cNvSpPr>
          <p:nvPr/>
        </p:nvSpPr>
        <p:spPr>
          <a:xfrm xmlns:a="http://schemas.openxmlformats.org/drawingml/2006/main">
            <a:off x="4800600" y="2781300"/>
            <a:ext cx="26289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233044"/>
                </a:solidFill>
              </a:defRPr>
            </a:pPr>
            <a:r>
              <a:rPr sz="1350" b="0">
                <a:solidFill>
                  <a:srgbClr val="233044"/>
                </a:solidFill>
              </a:rPr>
              <a:t>Automatic production ETR</a:t>
            </a:r>
          </a:p>
          <a:p xmlns:a="http://schemas.openxmlformats.org/drawingml/2006/main">
            <a:pPr>
              <a:defRPr sz="1350" b="0">
                <a:solidFill>
                  <a:srgbClr val="233044"/>
                </a:solidFill>
              </a:defRPr>
            </a:pPr>
            <a:r>
              <a:rPr sz="1350" b="0">
                <a:solidFill>
                  <a:srgbClr val="233044"/>
                </a:solidFill>
              </a:rPr>
              <a:t>Unapproved mapping</a:t>
            </a:r>
          </a:p>
          <a:p xmlns:a="http://schemas.openxmlformats.org/drawingml/2006/main">
            <a:pPr>
              <a:defRPr sz="1350" b="0">
                <a:solidFill>
                  <a:srgbClr val="233044"/>
                </a:solidFill>
              </a:defRPr>
            </a:pPr>
            <a:r>
              <a:rPr sz="1350" b="0">
                <a:solidFill>
                  <a:srgbClr val="233044"/>
                </a:solidFill>
              </a:rPr>
              <a:t>Raw sensitive text</a:t>
            </a:r>
          </a:p>
          <a:p xmlns:a="http://schemas.openxmlformats.org/drawingml/2006/main">
            <a:pPr>
              <a:defRPr sz="1350" b="0">
                <a:solidFill>
                  <a:srgbClr val="233044"/>
                </a:solidFill>
              </a:defRPr>
            </a:pPr>
            <a:r>
              <a:rPr sz="1350" b="0">
                <a:solidFill>
                  <a:srgbClr val="233044"/>
                </a:solidFill>
              </a:rPr>
              <a:t>Full customer identity</a:t>
            </a:r>
          </a:p>
        </p:txBody>
      </p:sp>
      <p:sp>
        <p:nvSpPr>
          <p:cNvPr id="14" name="">
            <a:extLst xmlns:a="http://schemas.openxmlformats.org/drawingml/2006/main">
              <a:ext uri="{FF2B5EF4-FFF2-40B4-BE49-F238E27FC236}">
                <a16:creationId xmlns:a16="http://schemas.microsoft.com/office/drawing/2014/main" id="{5AEA791E-16D2-49A1-ABE1-05602B215C49}"/>
              </a:ext>
            </a:extLst>
          </p:cNvPr>
          <p:cNvSpPr>
            <a:spLocks xmlns:a="http://schemas.openxmlformats.org/drawingml/2006/main" noGrp="1"/>
          </p:cNvSpPr>
          <p:nvPr/>
        </p:nvSpPr>
        <p:spPr>
          <a:xfrm xmlns:a="http://schemas.openxmlformats.org/drawingml/2006/main">
            <a:off x="8286750" y="2190750"/>
            <a:ext cx="30480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C56967AF-FE6F-43A5-AD9C-5B3B984A4E5A}"/>
              </a:ext>
            </a:extLst>
          </p:cNvPr>
          <p:cNvSpPr>
            <a:spLocks xmlns:a="http://schemas.openxmlformats.org/drawingml/2006/main" noGrp="1"/>
          </p:cNvSpPr>
          <p:nvPr/>
        </p:nvSpPr>
        <p:spPr>
          <a:xfrm xmlns:a="http://schemas.openxmlformats.org/drawingml/2006/main">
            <a:off x="8286750" y="2190750"/>
            <a:ext cx="66675" cy="2095500"/>
          </a:xfrm>
          <a:prstGeom xmlns:a="http://schemas.openxmlformats.org/drawingml/2006/main" prst="rect">
            <a:avLst/>
          </a:prstGeom>
          <a:solidFill xmlns:a="http://schemas.openxmlformats.org/drawingml/2006/main">
            <a:srgbClr val="F7B84B"/>
          </a:solidFill>
          <a:ln xmlns:a="http://schemas.openxmlformats.org/drawingml/2006/main" w="0">
            <a:solidFill>
              <a:srgbClr val="F7B84B"/>
            </a:solidFill>
            <a:prstDash val="solid"/>
          </a:ln>
        </p:spPr>
      </p:sp>
      <p:sp>
        <p:nvSpPr>
          <p:cNvPr id="16" name="">
            <a:extLst xmlns:a="http://schemas.openxmlformats.org/drawingml/2006/main">
              <a:ext uri="{FF2B5EF4-FFF2-40B4-BE49-F238E27FC236}">
                <a16:creationId xmlns:a16="http://schemas.microsoft.com/office/drawing/2014/main" id="{B3ED7547-33B0-47D8-B9D1-E9D1F354A360}"/>
              </a:ext>
            </a:extLst>
          </p:cNvPr>
          <p:cNvSpPr>
            <a:spLocks xmlns:a="http://schemas.openxmlformats.org/drawingml/2006/main" noGrp="1"/>
          </p:cNvSpPr>
          <p:nvPr/>
        </p:nvSpPr>
        <p:spPr>
          <a:xfrm xmlns:a="http://schemas.openxmlformats.org/drawingml/2006/main">
            <a:off x="8515350" y="2381250"/>
            <a:ext cx="2628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7162B"/>
                </a:solidFill>
              </a:defRPr>
            </a:pPr>
            <a:r>
              <a:rPr sz="1800" b="1">
                <a:solidFill>
                  <a:srgbClr val="07162B"/>
                </a:solidFill>
              </a:rPr>
              <a:t>Gate to open</a:t>
            </a:r>
          </a:p>
        </p:txBody>
      </p:sp>
      <p:sp>
        <p:nvSpPr>
          <p:cNvPr id="17" name="">
            <a:extLst xmlns:a="http://schemas.openxmlformats.org/drawingml/2006/main">
              <a:ext uri="{FF2B5EF4-FFF2-40B4-BE49-F238E27FC236}">
                <a16:creationId xmlns:a16="http://schemas.microsoft.com/office/drawing/2014/main" id="{6AF5F57E-3C05-4F4D-A026-784E73E3C80B}"/>
              </a:ext>
            </a:extLst>
          </p:cNvPr>
          <p:cNvSpPr>
            <a:spLocks xmlns:a="http://schemas.openxmlformats.org/drawingml/2006/main" noGrp="1"/>
          </p:cNvSpPr>
          <p:nvPr/>
        </p:nvSpPr>
        <p:spPr>
          <a:xfrm xmlns:a="http://schemas.openxmlformats.org/drawingml/2006/main">
            <a:off x="8515350" y="2781300"/>
            <a:ext cx="26289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233044"/>
                </a:solidFill>
              </a:defRPr>
            </a:pPr>
            <a:r>
              <a:rPr sz="1350" b="0">
                <a:solidFill>
                  <a:srgbClr val="233044"/>
                </a:solidFill>
              </a:rPr>
              <a:t>30+ green cases</a:t>
            </a:r>
          </a:p>
          <a:p xmlns:a="http://schemas.openxmlformats.org/drawingml/2006/main">
            <a:pPr>
              <a:defRPr sz="1350" b="0">
                <a:solidFill>
                  <a:srgbClr val="233044"/>
                </a:solidFill>
              </a:defRPr>
            </a:pPr>
            <a:r>
              <a:rPr sz="1350" b="0">
                <a:solidFill>
                  <a:srgbClr val="233044"/>
                </a:solidFill>
              </a:rPr>
              <a:t>q50 MAE &lt;= 16 min</a:t>
            </a:r>
          </a:p>
          <a:p xmlns:a="http://schemas.openxmlformats.org/drawingml/2006/main">
            <a:pPr>
              <a:defRPr sz="1350" b="0">
                <a:solidFill>
                  <a:srgbClr val="233044"/>
                </a:solidFill>
              </a:defRPr>
            </a:pPr>
            <a:r>
              <a:rPr sz="1350" b="0">
                <a:solidFill>
                  <a:srgbClr val="233044"/>
                </a:solidFill>
              </a:rPr>
              <a:t>Coverage 0.75-0.90</a:t>
            </a:r>
          </a:p>
          <a:p xmlns:a="http://schemas.openxmlformats.org/drawingml/2006/main">
            <a:pPr>
              <a:defRPr sz="1350" b="0">
                <a:solidFill>
                  <a:srgbClr val="233044"/>
                </a:solidFill>
              </a:defRPr>
            </a:pPr>
            <a:r>
              <a:rPr sz="1350" b="0">
                <a:solidFill>
                  <a:srgbClr val="233044"/>
                </a:solidFill>
              </a:rPr>
              <a:t>Owner approval</a:t>
            </a:r>
          </a:p>
        </p:txBody>
      </p:sp>
      <p:sp>
        <p:nvSpPr>
          <p:cNvPr id="18" name="">
            <a:extLst xmlns:a="http://schemas.openxmlformats.org/drawingml/2006/main">
              <a:ext uri="{FF2B5EF4-FFF2-40B4-BE49-F238E27FC236}">
                <a16:creationId xmlns:a16="http://schemas.microsoft.com/office/drawing/2014/main" id="{E604585D-2C1D-4D9B-B99A-C5DA8614F59A}"/>
              </a:ext>
            </a:extLst>
          </p:cNvPr>
          <p:cNvSpPr>
            <a:spLocks xmlns:a="http://schemas.openxmlformats.org/drawingml/2006/main" noGrp="1"/>
          </p:cNvSpPr>
          <p:nvPr/>
        </p:nvSpPr>
        <p:spPr>
          <a:xfrm xmlns:a="http://schemas.openxmlformats.org/drawingml/2006/main">
            <a:off x="1381125" y="5143500"/>
            <a:ext cx="942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7162B"/>
                </a:solidFill>
              </a:defRPr>
            </a:pPr>
            <a:r>
              <a:rPr sz="1800" b="1">
                <a:solidFill>
                  <a:srgbClr val="07162B"/>
                </a:solidFill>
              </a:rPr>
              <a:t>Production send opens only after infra gate + green evidence + callback approval + owner approval.</a:t>
            </a:r>
          </a:p>
        </p:txBody>
      </p:sp>
      <p:sp>
        <p:nvSpPr>
          <p:cNvPr id="19" name="">
            <a:extLst xmlns:a="http://schemas.openxmlformats.org/drawingml/2006/main">
              <a:ext uri="{FF2B5EF4-FFF2-40B4-BE49-F238E27FC236}">
                <a16:creationId xmlns:a16="http://schemas.microsoft.com/office/drawing/2014/main" id="{A0F935A6-4B27-49AC-B932-32F8ACE8F6E2}"/>
              </a:ext>
            </a:extLst>
          </p:cNvPr>
          <p:cNvSpPr>
            <a:spLocks xmlns:a="http://schemas.openxmlformats.org/drawingml/2006/main" noGrp="1"/>
          </p:cNvSpPr>
          <p:nvPr/>
        </p:nvSpPr>
        <p:spPr>
          <a:xfrm xmlns:a="http://schemas.openxmlformats.org/drawingml/2006/main">
            <a:off x="3381375" y="6305550"/>
            <a:ext cx="5429250" cy="323850"/>
          </a:xfrm>
          <a:prstGeom xmlns:a="http://schemas.openxmlformats.org/drawingml/2006/main" prst="roundRect">
            <a:avLst>
              <a:gd name="adj" fmla="val 23529"/>
            </a:avLst>
          </a:prstGeom>
          <a:solidFill xmlns:a="http://schemas.openxmlformats.org/drawingml/2006/main">
            <a:srgbClr val="F1F6FC"/>
          </a:solidFill>
          <a:ln xmlns:a="http://schemas.openxmlformats.org/drawingml/2006/main" w="9525">
            <a:solidFill>
              <a:srgbClr val="CAD6E6"/>
            </a:solidFill>
            <a:prstDash val="solid"/>
          </a:ln>
        </p:spPr>
      </p:sp>
      <p:sp>
        <p:nvSpPr>
          <p:cNvPr id="20" name="">
            <a:extLst xmlns:a="http://schemas.openxmlformats.org/drawingml/2006/main">
              <a:ext uri="{FF2B5EF4-FFF2-40B4-BE49-F238E27FC236}">
                <a16:creationId xmlns:a16="http://schemas.microsoft.com/office/drawing/2014/main" id="{DF64BF5B-660B-4608-8383-F0CDB8DFE97E}"/>
              </a:ext>
            </a:extLst>
          </p:cNvPr>
          <p:cNvSpPr>
            <a:spLocks xmlns:a="http://schemas.openxmlformats.org/drawingml/2006/main" noGrp="1"/>
          </p:cNvSpPr>
          <p:nvPr/>
        </p:nvSpPr>
        <p:spPr>
          <a:xfrm xmlns:a="http://schemas.openxmlformats.org/drawingml/2006/main">
            <a:off x="3543300" y="6362700"/>
            <a:ext cx="5105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24334A"/>
                </a:solidFill>
              </a:defRPr>
            </a:pPr>
            <a:r>
              <a:rPr sz="975" b="1">
                <a:solidFill>
                  <a:srgbClr val="24334A"/>
                </a:solidFill>
              </a:rPr>
              <a:t>mode = shadow | production_send = blocked | Auto ETR not customer-facing yet</a:t>
            </a:r>
          </a:p>
        </p:txBody>
      </p:sp>
    </p:spTree>
    <p:extLst>
      <p:ext uri="{BB962C8B-B14F-4D97-AF65-F5344CB8AC3E}">
        <p14:creationId xmlns:p14="http://schemas.microsoft.com/office/powerpoint/2010/main" val="15544762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63C7F63-D3A9-4497-BF38-718816A96954}"/>
              </a:ext>
            </a:extLst>
          </p:cNvPr>
          <p:cNvSpPr>
            <a:spLocks xmlns:a="http://schemas.openxmlformats.org/drawingml/2006/main" noGrp="1"/>
          </p:cNvSpPr>
          <p:nvPr/>
        </p:nvSpPr>
        <p:spPr>
          <a:xfrm xmlns:a="http://schemas.openxmlformats.org/drawingml/2006/main">
            <a:off x="533400" y="419100"/>
            <a:ext cx="666750" cy="47625"/>
          </a:xfrm>
          <a:prstGeom xmlns:a="http://schemas.openxmlformats.org/drawingml/2006/main" prst="rect">
            <a:avLst/>
          </a:prstGeom>
          <a:solidFill xmlns:a="http://schemas.openxmlformats.org/drawingml/2006/main">
            <a:srgbClr val="7B57C8"/>
          </a:solidFill>
          <a:ln xmlns:a="http://schemas.openxmlformats.org/drawingml/2006/main" w="0">
            <a:solidFill>
              <a:srgbClr val="7B57C8"/>
            </a:solidFill>
            <a:prstDash val="solid"/>
          </a:ln>
        </p:spPr>
      </p:sp>
      <p:sp>
        <p:nvSpPr>
          <p:cNvPr id="2" name="">
            <a:extLst xmlns:a="http://schemas.openxmlformats.org/drawingml/2006/main">
              <a:ext uri="{FF2B5EF4-FFF2-40B4-BE49-F238E27FC236}">
                <a16:creationId xmlns:a16="http://schemas.microsoft.com/office/drawing/2014/main" id="{E984B6C8-EB56-4892-B658-40A6BF8DBAE3}"/>
              </a:ext>
            </a:extLst>
          </p:cNvPr>
          <p:cNvSpPr>
            <a:spLocks xmlns:a="http://schemas.openxmlformats.org/drawingml/2006/main" noGrp="1"/>
          </p:cNvSpPr>
          <p:nvPr/>
        </p:nvSpPr>
        <p:spPr>
          <a:xfrm xmlns:a="http://schemas.openxmlformats.org/drawingml/2006/main">
            <a:off x="1257300" y="419100"/>
            <a:ext cx="666750" cy="47625"/>
          </a:xfrm>
          <a:prstGeom xmlns:a="http://schemas.openxmlformats.org/drawingml/2006/main" prst="rect">
            <a:avLst/>
          </a:prstGeom>
          <a:solidFill xmlns:a="http://schemas.openxmlformats.org/drawingml/2006/main">
            <a:srgbClr val="18B8C8"/>
          </a:solidFill>
          <a:ln xmlns:a="http://schemas.openxmlformats.org/drawingml/2006/main" w="0">
            <a:solidFill>
              <a:srgbClr val="18B8C8"/>
            </a:solidFill>
            <a:prstDash val="solid"/>
          </a:ln>
        </p:spPr>
      </p:sp>
      <p:sp>
        <p:nvSpPr>
          <p:cNvPr id="3" name="">
            <a:extLst xmlns:a="http://schemas.openxmlformats.org/drawingml/2006/main">
              <a:ext uri="{FF2B5EF4-FFF2-40B4-BE49-F238E27FC236}">
                <a16:creationId xmlns:a16="http://schemas.microsoft.com/office/drawing/2014/main" id="{85E1A3D4-6168-46EE-8E73-6820EF7E1A40}"/>
              </a:ext>
            </a:extLst>
          </p:cNvPr>
          <p:cNvSpPr>
            <a:spLocks xmlns:a="http://schemas.openxmlformats.org/drawingml/2006/main" noGrp="1"/>
          </p:cNvSpPr>
          <p:nvPr/>
        </p:nvSpPr>
        <p:spPr>
          <a:xfrm xmlns:a="http://schemas.openxmlformats.org/drawingml/2006/main">
            <a:off x="533400" y="5905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617088"/>
                </a:solidFill>
              </a:defRPr>
            </a:pPr>
            <a:r>
              <a:rPr sz="975" b="1">
                <a:solidFill>
                  <a:srgbClr val="617088"/>
                </a:solidFill>
              </a:rPr>
              <a:t>3-MONTH PILOT</a:t>
            </a:r>
          </a:p>
        </p:txBody>
      </p:sp>
      <p:sp>
        <p:nvSpPr>
          <p:cNvPr id="4" name="">
            <a:extLst xmlns:a="http://schemas.openxmlformats.org/drawingml/2006/main">
              <a:ext uri="{FF2B5EF4-FFF2-40B4-BE49-F238E27FC236}">
                <a16:creationId xmlns:a16="http://schemas.microsoft.com/office/drawing/2014/main" id="{7493AE92-657F-4684-B6F7-22160531CC9A}"/>
              </a:ext>
            </a:extLst>
          </p:cNvPr>
          <p:cNvSpPr>
            <a:spLocks xmlns:a="http://schemas.openxmlformats.org/drawingml/2006/main" noGrp="1"/>
          </p:cNvSpPr>
          <p:nvPr/>
        </p:nvSpPr>
        <p:spPr>
          <a:xfrm xmlns:a="http://schemas.openxmlformats.org/drawingml/2006/main">
            <a:off x="533400" y="857250"/>
            <a:ext cx="819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7162B"/>
                </a:solidFill>
              </a:defRPr>
            </a:pPr>
            <a:r>
              <a:rPr sz="3000" b="1">
                <a:solidFill>
                  <a:srgbClr val="07162B"/>
                </a:solidFill>
              </a:rPr>
              <a:t>Controlled proof before scale</a:t>
            </a:r>
          </a:p>
        </p:txBody>
      </p:sp>
      <p:sp>
        <p:nvSpPr>
          <p:cNvPr id="5" name="">
            <a:extLst xmlns:a="http://schemas.openxmlformats.org/drawingml/2006/main">
              <a:ext uri="{FF2B5EF4-FFF2-40B4-BE49-F238E27FC236}">
                <a16:creationId xmlns:a16="http://schemas.microsoft.com/office/drawing/2014/main" id="{0DC5D8AA-880B-4DDC-9CEE-D668426E654E}"/>
              </a:ext>
            </a:extLst>
          </p:cNvPr>
          <p:cNvSpPr>
            <a:spLocks xmlns:a="http://schemas.openxmlformats.org/drawingml/2006/main" noGrp="1"/>
          </p:cNvSpPr>
          <p:nvPr/>
        </p:nvSpPr>
        <p:spPr>
          <a:xfrm xmlns:a="http://schemas.openxmlformats.org/drawingml/2006/main">
            <a:off x="552450" y="1409700"/>
            <a:ext cx="800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617088"/>
                </a:solidFill>
              </a:defRPr>
            </a:pPr>
            <a:r>
              <a:rPr sz="1500" b="0">
                <a:solidFill>
                  <a:srgbClr val="617088"/>
                </a:solidFill>
              </a:rPr>
              <a:t>One province, scoped AIS hub sites, shadow run, and executive go/no-go evidence.</a:t>
            </a:r>
          </a:p>
        </p:txBody>
      </p:sp>
      <p:sp>
        <p:nvSpPr>
          <p:cNvPr id="6" name="">
            <a:extLst xmlns:a="http://schemas.openxmlformats.org/drawingml/2006/main">
              <a:ext uri="{FF2B5EF4-FFF2-40B4-BE49-F238E27FC236}">
                <a16:creationId xmlns:a16="http://schemas.microsoft.com/office/drawing/2014/main" id="{2CF45B1E-2BCC-4D5A-86A4-BFCD4848CF5C}"/>
              </a:ext>
            </a:extLst>
          </p:cNvPr>
          <p:cNvSpPr>
            <a:spLocks xmlns:a="http://schemas.openxmlformats.org/drawingml/2006/main" noGrp="1"/>
          </p:cNvSpPr>
          <p:nvPr/>
        </p:nvSpPr>
        <p:spPr>
          <a:xfrm xmlns:a="http://schemas.openxmlformats.org/drawingml/2006/main">
            <a:off x="838200" y="2286000"/>
            <a:ext cx="2952750" cy="2476500"/>
          </a:xfrm>
          <a:prstGeom xmlns:a="http://schemas.openxmlformats.org/drawingml/2006/main" prst="roundRect">
            <a:avLst>
              <a:gd name="adj" fmla="val 4615"/>
            </a:avLst>
          </a:prstGeom>
          <a:solidFill xmlns:a="http://schemas.openxmlformats.org/drawingml/2006/main">
            <a:srgbClr val="F8FBFF"/>
          </a:solidFill>
          <a:ln xmlns:a="http://schemas.openxmlformats.org/drawingml/2006/main" w="9525">
            <a:solidFill>
              <a:srgbClr val="7B57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6A614988-4F30-449B-AC3B-D73897CE8DD7}"/>
              </a:ext>
            </a:extLst>
          </p:cNvPr>
          <p:cNvSpPr>
            <a:spLocks xmlns:a="http://schemas.openxmlformats.org/drawingml/2006/main" noGrp="1"/>
          </p:cNvSpPr>
          <p:nvPr/>
        </p:nvSpPr>
        <p:spPr>
          <a:xfrm xmlns:a="http://schemas.openxmlformats.org/drawingml/2006/main">
            <a:off x="1104900" y="252412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7B57C8"/>
                </a:solidFill>
              </a:defRPr>
            </a:pPr>
            <a:r>
              <a:rPr sz="1650" b="1">
                <a:solidFill>
                  <a:srgbClr val="7B57C8"/>
                </a:solidFill>
              </a:rPr>
              <a:t>Month 1</a:t>
            </a:r>
          </a:p>
        </p:txBody>
      </p:sp>
      <p:sp>
        <p:nvSpPr>
          <p:cNvPr id="8" name="">
            <a:extLst xmlns:a="http://schemas.openxmlformats.org/drawingml/2006/main">
              <a:ext uri="{FF2B5EF4-FFF2-40B4-BE49-F238E27FC236}">
                <a16:creationId xmlns:a16="http://schemas.microsoft.com/office/drawing/2014/main" id="{33839877-90A1-41DC-8D69-05EFA0AA2546}"/>
              </a:ext>
            </a:extLst>
          </p:cNvPr>
          <p:cNvSpPr>
            <a:spLocks xmlns:a="http://schemas.openxmlformats.org/drawingml/2006/main" noGrp="1"/>
          </p:cNvSpPr>
          <p:nvPr/>
        </p:nvSpPr>
        <p:spPr>
          <a:xfrm xmlns:a="http://schemas.openxmlformats.org/drawingml/2006/main">
            <a:off x="1104900" y="29527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07162B"/>
                </a:solidFill>
              </a:defRPr>
            </a:pPr>
            <a:r>
              <a:rPr sz="1950" b="1">
                <a:solidFill>
                  <a:srgbClr val="07162B"/>
                </a:solidFill>
              </a:rPr>
              <a:t>Data mapping</a:t>
            </a:r>
          </a:p>
        </p:txBody>
      </p:sp>
      <p:sp>
        <p:nvSpPr>
          <p:cNvPr id="9" name="">
            <a:extLst xmlns:a="http://schemas.openxmlformats.org/drawingml/2006/main">
              <a:ext uri="{FF2B5EF4-FFF2-40B4-BE49-F238E27FC236}">
                <a16:creationId xmlns:a16="http://schemas.microsoft.com/office/drawing/2014/main" id="{0B7BDE4E-D01E-454C-851A-2C68F1C85CA3}"/>
              </a:ext>
            </a:extLst>
          </p:cNvPr>
          <p:cNvSpPr>
            <a:spLocks xmlns:a="http://schemas.openxmlformats.org/drawingml/2006/main" noGrp="1"/>
          </p:cNvSpPr>
          <p:nvPr/>
        </p:nvSpPr>
        <p:spPr>
          <a:xfrm xmlns:a="http://schemas.openxmlformats.org/drawingml/2006/main">
            <a:off x="1181100" y="3543300"/>
            <a:ext cx="22669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233044"/>
                </a:solidFill>
              </a:defRPr>
            </a:pPr>
            <a:r>
              <a:rPr sz="1350" b="0">
                <a:solidFill>
                  <a:srgbClr val="233044"/>
                </a:solidFill>
              </a:rPr>
              <a:t>100 AIS hub sites</a:t>
            </a:r>
          </a:p>
          <a:p xmlns:a="http://schemas.openxmlformats.org/drawingml/2006/main">
            <a:pPr algn="ctr">
              <a:defRPr sz="1350" b="0">
                <a:solidFill>
                  <a:srgbClr val="233044"/>
                </a:solidFill>
              </a:defRPr>
            </a:pPr>
            <a:r>
              <a:rPr sz="1350" b="0">
                <a:solidFill>
                  <a:srgbClr val="233044"/>
                </a:solidFill>
              </a:rPr>
              <a:t>Topology owner review</a:t>
            </a:r>
          </a:p>
          <a:p xmlns:a="http://schemas.openxmlformats.org/drawingml/2006/main">
            <a:pPr algn="ctr">
              <a:defRPr sz="1350" b="0">
                <a:solidFill>
                  <a:srgbClr val="233044"/>
                </a:solidFill>
              </a:defRPr>
            </a:pPr>
            <a:r>
              <a:rPr sz="1350" b="0">
                <a:solidFill>
                  <a:srgbClr val="233044"/>
                </a:solidFill>
              </a:rPr>
              <a:t>Approved data scope</a:t>
            </a:r>
          </a:p>
        </p:txBody>
      </p:sp>
      <p:sp>
        <p:nvSpPr>
          <p:cNvPr id="10" name="">
            <a:extLst xmlns:a="http://schemas.openxmlformats.org/drawingml/2006/main">
              <a:ext uri="{FF2B5EF4-FFF2-40B4-BE49-F238E27FC236}">
                <a16:creationId xmlns:a16="http://schemas.microsoft.com/office/drawing/2014/main" id="{9D6434F2-BEB8-43E3-967C-4716E9DB0A32}"/>
              </a:ext>
            </a:extLst>
          </p:cNvPr>
          <p:cNvSpPr>
            <a:spLocks xmlns:a="http://schemas.openxmlformats.org/drawingml/2006/main" noGrp="1"/>
          </p:cNvSpPr>
          <p:nvPr/>
        </p:nvSpPr>
        <p:spPr>
          <a:xfrm xmlns:a="http://schemas.openxmlformats.org/drawingml/2006/main">
            <a:off x="4629150" y="2286000"/>
            <a:ext cx="2952750" cy="2476500"/>
          </a:xfrm>
          <a:prstGeom xmlns:a="http://schemas.openxmlformats.org/drawingml/2006/main" prst="roundRect">
            <a:avLst>
              <a:gd name="adj" fmla="val 4615"/>
            </a:avLst>
          </a:prstGeom>
          <a:solidFill xmlns:a="http://schemas.openxmlformats.org/drawingml/2006/main">
            <a:srgbClr val="F8FBFF"/>
          </a:solidFill>
          <a:ln xmlns:a="http://schemas.openxmlformats.org/drawingml/2006/main" w="9525">
            <a:solidFill>
              <a:srgbClr val="18B8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8644ABC8-2268-44A5-B5E8-8697763D605B}"/>
              </a:ext>
            </a:extLst>
          </p:cNvPr>
          <p:cNvSpPr>
            <a:spLocks xmlns:a="http://schemas.openxmlformats.org/drawingml/2006/main" noGrp="1"/>
          </p:cNvSpPr>
          <p:nvPr/>
        </p:nvSpPr>
        <p:spPr>
          <a:xfrm xmlns:a="http://schemas.openxmlformats.org/drawingml/2006/main">
            <a:off x="4895850" y="252412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8B8C8"/>
                </a:solidFill>
              </a:defRPr>
            </a:pPr>
            <a:r>
              <a:rPr sz="1650" b="1">
                <a:solidFill>
                  <a:srgbClr val="18B8C8"/>
                </a:solidFill>
              </a:rPr>
              <a:t>Month 2</a:t>
            </a:r>
          </a:p>
        </p:txBody>
      </p:sp>
      <p:sp>
        <p:nvSpPr>
          <p:cNvPr id="12" name="">
            <a:extLst xmlns:a="http://schemas.openxmlformats.org/drawingml/2006/main">
              <a:ext uri="{FF2B5EF4-FFF2-40B4-BE49-F238E27FC236}">
                <a16:creationId xmlns:a16="http://schemas.microsoft.com/office/drawing/2014/main" id="{5007B00B-3494-499D-9C31-B1F65221B894}"/>
              </a:ext>
            </a:extLst>
          </p:cNvPr>
          <p:cNvSpPr>
            <a:spLocks xmlns:a="http://schemas.openxmlformats.org/drawingml/2006/main" noGrp="1"/>
          </p:cNvSpPr>
          <p:nvPr/>
        </p:nvSpPr>
        <p:spPr>
          <a:xfrm xmlns:a="http://schemas.openxmlformats.org/drawingml/2006/main">
            <a:off x="4895850" y="29527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07162B"/>
                </a:solidFill>
              </a:defRPr>
            </a:pPr>
            <a:r>
              <a:rPr sz="1950" b="1">
                <a:solidFill>
                  <a:srgbClr val="07162B"/>
                </a:solidFill>
              </a:rPr>
              <a:t>API / webhook</a:t>
            </a:r>
          </a:p>
        </p:txBody>
      </p:sp>
      <p:sp>
        <p:nvSpPr>
          <p:cNvPr id="13" name="">
            <a:extLst xmlns:a="http://schemas.openxmlformats.org/drawingml/2006/main">
              <a:ext uri="{FF2B5EF4-FFF2-40B4-BE49-F238E27FC236}">
                <a16:creationId xmlns:a16="http://schemas.microsoft.com/office/drawing/2014/main" id="{44183700-B06E-4BC6-9F48-C74FAFBA17D9}"/>
              </a:ext>
            </a:extLst>
          </p:cNvPr>
          <p:cNvSpPr>
            <a:spLocks xmlns:a="http://schemas.openxmlformats.org/drawingml/2006/main" noGrp="1"/>
          </p:cNvSpPr>
          <p:nvPr/>
        </p:nvSpPr>
        <p:spPr>
          <a:xfrm xmlns:a="http://schemas.openxmlformats.org/drawingml/2006/main">
            <a:off x="4972050" y="3543300"/>
            <a:ext cx="22669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233044"/>
                </a:solidFill>
              </a:defRPr>
            </a:pPr>
            <a:r>
              <a:rPr sz="1350" b="0">
                <a:solidFill>
                  <a:srgbClr val="233044"/>
                </a:solidFill>
              </a:rPr>
              <a:t>Security contract</a:t>
            </a:r>
          </a:p>
          <a:p xmlns:a="http://schemas.openxmlformats.org/drawingml/2006/main">
            <a:pPr algn="ctr">
              <a:defRPr sz="1350" b="0">
                <a:solidFill>
                  <a:srgbClr val="233044"/>
                </a:solidFill>
              </a:defRPr>
            </a:pPr>
            <a:r>
              <a:rPr sz="1350" b="0">
                <a:solidFill>
                  <a:srgbClr val="233044"/>
                </a:solidFill>
              </a:rPr>
              <a:t>Logging + retry</a:t>
            </a:r>
          </a:p>
          <a:p xmlns:a="http://schemas.openxmlformats.org/drawingml/2006/main">
            <a:pPr algn="ctr">
              <a:defRPr sz="1350" b="0">
                <a:solidFill>
                  <a:srgbClr val="233044"/>
                </a:solidFill>
              </a:defRPr>
            </a:pPr>
            <a:r>
              <a:rPr sz="1350" b="0">
                <a:solidFill>
                  <a:srgbClr val="233044"/>
                </a:solidFill>
              </a:rPr>
              <a:t>Monitoring setup</a:t>
            </a:r>
          </a:p>
        </p:txBody>
      </p:sp>
      <p:sp>
        <p:nvSpPr>
          <p:cNvPr id="14" name="">
            <a:extLst xmlns:a="http://schemas.openxmlformats.org/drawingml/2006/main">
              <a:ext uri="{FF2B5EF4-FFF2-40B4-BE49-F238E27FC236}">
                <a16:creationId xmlns:a16="http://schemas.microsoft.com/office/drawing/2014/main" id="{9660271C-EE66-4BA6-A258-F88759BFB82C}"/>
              </a:ext>
            </a:extLst>
          </p:cNvPr>
          <p:cNvSpPr>
            <a:spLocks xmlns:a="http://schemas.openxmlformats.org/drawingml/2006/main" noGrp="1"/>
          </p:cNvSpPr>
          <p:nvPr/>
        </p:nvSpPr>
        <p:spPr>
          <a:xfrm xmlns:a="http://schemas.openxmlformats.org/drawingml/2006/main">
            <a:off x="8420100" y="2286000"/>
            <a:ext cx="2952750" cy="2476500"/>
          </a:xfrm>
          <a:prstGeom xmlns:a="http://schemas.openxmlformats.org/drawingml/2006/main" prst="roundRect">
            <a:avLst>
              <a:gd name="adj" fmla="val 4615"/>
            </a:avLst>
          </a:prstGeom>
          <a:solidFill xmlns:a="http://schemas.openxmlformats.org/drawingml/2006/main">
            <a:srgbClr val="F8FBFF"/>
          </a:solidFill>
          <a:ln xmlns:a="http://schemas.openxmlformats.org/drawingml/2006/main" w="9525">
            <a:solidFill>
              <a:srgbClr val="F7B84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3F2245AC-B546-4A57-B330-465292A03E62}"/>
              </a:ext>
            </a:extLst>
          </p:cNvPr>
          <p:cNvSpPr>
            <a:spLocks xmlns:a="http://schemas.openxmlformats.org/drawingml/2006/main" noGrp="1"/>
          </p:cNvSpPr>
          <p:nvPr/>
        </p:nvSpPr>
        <p:spPr>
          <a:xfrm xmlns:a="http://schemas.openxmlformats.org/drawingml/2006/main">
            <a:off x="8686800" y="252412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7B84B"/>
                </a:solidFill>
              </a:defRPr>
            </a:pPr>
            <a:r>
              <a:rPr sz="1650" b="1">
                <a:solidFill>
                  <a:srgbClr val="F7B84B"/>
                </a:solidFill>
              </a:rPr>
              <a:t>Month 3</a:t>
            </a:r>
          </a:p>
        </p:txBody>
      </p:sp>
      <p:sp>
        <p:nvSpPr>
          <p:cNvPr id="16" name="">
            <a:extLst xmlns:a="http://schemas.openxmlformats.org/drawingml/2006/main">
              <a:ext uri="{FF2B5EF4-FFF2-40B4-BE49-F238E27FC236}">
                <a16:creationId xmlns:a16="http://schemas.microsoft.com/office/drawing/2014/main" id="{06C6448E-FB80-4AE2-91A4-DDFAA75440A3}"/>
              </a:ext>
            </a:extLst>
          </p:cNvPr>
          <p:cNvSpPr>
            <a:spLocks xmlns:a="http://schemas.openxmlformats.org/drawingml/2006/main" noGrp="1"/>
          </p:cNvSpPr>
          <p:nvPr/>
        </p:nvSpPr>
        <p:spPr>
          <a:xfrm xmlns:a="http://schemas.openxmlformats.org/drawingml/2006/main">
            <a:off x="8686800" y="29527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07162B"/>
                </a:solidFill>
              </a:defRPr>
            </a:pPr>
            <a:r>
              <a:rPr sz="1950" b="1">
                <a:solidFill>
                  <a:srgbClr val="07162B"/>
                </a:solidFill>
              </a:rPr>
              <a:t>Validation / ROI</a:t>
            </a:r>
          </a:p>
        </p:txBody>
      </p:sp>
      <p:sp>
        <p:nvSpPr>
          <p:cNvPr id="17" name="">
            <a:extLst xmlns:a="http://schemas.openxmlformats.org/drawingml/2006/main">
              <a:ext uri="{FF2B5EF4-FFF2-40B4-BE49-F238E27FC236}">
                <a16:creationId xmlns:a16="http://schemas.microsoft.com/office/drawing/2014/main" id="{82A13B1F-2082-4D95-B947-8A068D3CE933}"/>
              </a:ext>
            </a:extLst>
          </p:cNvPr>
          <p:cNvSpPr>
            <a:spLocks xmlns:a="http://schemas.openxmlformats.org/drawingml/2006/main" noGrp="1"/>
          </p:cNvSpPr>
          <p:nvPr/>
        </p:nvSpPr>
        <p:spPr>
          <a:xfrm xmlns:a="http://schemas.openxmlformats.org/drawingml/2006/main">
            <a:off x="8763000" y="3543300"/>
            <a:ext cx="22669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233044"/>
                </a:solidFill>
              </a:defRPr>
            </a:pPr>
            <a:r>
              <a:rPr sz="1350" b="0">
                <a:solidFill>
                  <a:srgbClr val="233044"/>
                </a:solidFill>
              </a:rPr>
              <a:t>Shadow run</a:t>
            </a:r>
          </a:p>
          <a:p xmlns:a="http://schemas.openxmlformats.org/drawingml/2006/main">
            <a:pPr algn="ctr">
              <a:defRPr sz="1350" b="0">
                <a:solidFill>
                  <a:srgbClr val="233044"/>
                </a:solidFill>
              </a:defRPr>
            </a:pPr>
            <a:r>
              <a:rPr sz="1350" b="0">
                <a:solidFill>
                  <a:srgbClr val="233044"/>
                </a:solidFill>
              </a:rPr>
              <a:t>Green evidence tracker</a:t>
            </a:r>
          </a:p>
          <a:p xmlns:a="http://schemas.openxmlformats.org/drawingml/2006/main">
            <a:pPr algn="ctr">
              <a:defRPr sz="1350" b="0">
                <a:solidFill>
                  <a:srgbClr val="233044"/>
                </a:solidFill>
              </a:defRPr>
            </a:pPr>
            <a:r>
              <a:rPr sz="1350" b="0">
                <a:solidFill>
                  <a:srgbClr val="233044"/>
                </a:solidFill>
              </a:rPr>
              <a:t>Go/no-go packet</a:t>
            </a:r>
          </a:p>
        </p:txBody>
      </p:sp>
      <p:sp>
        <p:nvSpPr>
          <p:cNvPr id="18" name="">
            <a:extLst xmlns:a="http://schemas.openxmlformats.org/drawingml/2006/main">
              <a:ext uri="{FF2B5EF4-FFF2-40B4-BE49-F238E27FC236}">
                <a16:creationId xmlns:a16="http://schemas.microsoft.com/office/drawing/2014/main" id="{EED52B0F-8A2E-4048-A152-9AA16C2B30E9}"/>
              </a:ext>
            </a:extLst>
          </p:cNvPr>
          <p:cNvSpPr>
            <a:spLocks xmlns:a="http://schemas.openxmlformats.org/drawingml/2006/main" noGrp="1"/>
          </p:cNvSpPr>
          <p:nvPr/>
        </p:nvSpPr>
        <p:spPr>
          <a:xfrm xmlns:a="http://schemas.openxmlformats.org/drawingml/2006/main">
            <a:off x="1809750" y="5238750"/>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7162B"/>
                </a:solidFill>
              </a:defRPr>
            </a:pPr>
            <a:r>
              <a:rPr sz="1800" b="1">
                <a:solidFill>
                  <a:srgbClr val="07162B"/>
                </a:solidFill>
              </a:rPr>
              <a:t>Pilot decision: approve safe shadow bridge, not Auto ETR go-live.</a:t>
            </a:r>
          </a:p>
        </p:txBody>
      </p:sp>
      <p:sp>
        <p:nvSpPr>
          <p:cNvPr id="19" name="">
            <a:extLst xmlns:a="http://schemas.openxmlformats.org/drawingml/2006/main">
              <a:ext uri="{FF2B5EF4-FFF2-40B4-BE49-F238E27FC236}">
                <a16:creationId xmlns:a16="http://schemas.microsoft.com/office/drawing/2014/main" id="{B063426A-53E0-41F3-A198-B57C2BCD2237}"/>
              </a:ext>
            </a:extLst>
          </p:cNvPr>
          <p:cNvSpPr>
            <a:spLocks xmlns:a="http://schemas.openxmlformats.org/drawingml/2006/main" noGrp="1"/>
          </p:cNvSpPr>
          <p:nvPr/>
        </p:nvSpPr>
        <p:spPr>
          <a:xfrm xmlns:a="http://schemas.openxmlformats.org/drawingml/2006/main">
            <a:off x="3381375" y="6305550"/>
            <a:ext cx="5429250" cy="323850"/>
          </a:xfrm>
          <a:prstGeom xmlns:a="http://schemas.openxmlformats.org/drawingml/2006/main" prst="roundRect">
            <a:avLst>
              <a:gd name="adj" fmla="val 23529"/>
            </a:avLst>
          </a:prstGeom>
          <a:solidFill xmlns:a="http://schemas.openxmlformats.org/drawingml/2006/main">
            <a:srgbClr val="F1F6FC"/>
          </a:solidFill>
          <a:ln xmlns:a="http://schemas.openxmlformats.org/drawingml/2006/main" w="9525">
            <a:solidFill>
              <a:srgbClr val="CAD6E6"/>
            </a:solidFill>
            <a:prstDash val="solid"/>
          </a:ln>
        </p:spPr>
      </p:sp>
      <p:sp>
        <p:nvSpPr>
          <p:cNvPr id="20" name="">
            <a:extLst xmlns:a="http://schemas.openxmlformats.org/drawingml/2006/main">
              <a:ext uri="{FF2B5EF4-FFF2-40B4-BE49-F238E27FC236}">
                <a16:creationId xmlns:a16="http://schemas.microsoft.com/office/drawing/2014/main" id="{6441B411-2536-49E0-942A-D7D5FE1D7DB0}"/>
              </a:ext>
            </a:extLst>
          </p:cNvPr>
          <p:cNvSpPr>
            <a:spLocks xmlns:a="http://schemas.openxmlformats.org/drawingml/2006/main" noGrp="1"/>
          </p:cNvSpPr>
          <p:nvPr/>
        </p:nvSpPr>
        <p:spPr>
          <a:xfrm xmlns:a="http://schemas.openxmlformats.org/drawingml/2006/main">
            <a:off x="3543300" y="6362700"/>
            <a:ext cx="5105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24334A"/>
                </a:solidFill>
              </a:defRPr>
            </a:pPr>
            <a:r>
              <a:rPr sz="975" b="1">
                <a:solidFill>
                  <a:srgbClr val="24334A"/>
                </a:solidFill>
              </a:rPr>
              <a:t>mode = shadow | production_send = blocked | Auto ETR not customer-facing yet</a:t>
            </a:r>
          </a:p>
        </p:txBody>
      </p:sp>
    </p:spTree>
    <p:extLst>
      <p:ext uri="{BB962C8B-B14F-4D97-AF65-F5344CB8AC3E}">
        <p14:creationId xmlns:p14="http://schemas.microsoft.com/office/powerpoint/2010/main" val="209936965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bbd4efdda1948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0BAD74A-33D8-4688-8098-1087D54FD3E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62B"/>
          </a:solidFill>
          <a:ln xmlns:a="http://schemas.openxmlformats.org/drawingml/2006/main" w="0">
            <a:solidFill>
              <a:srgbClr val="07162B"/>
            </a:solidFill>
            <a:prstDash val="solid"/>
          </a:ln>
        </p:spPr>
      </p:sp>
      <p:sp>
        <p:nvSpPr>
          <p:cNvPr id="3" name="">
            <a:extLst xmlns:a="http://schemas.openxmlformats.org/drawingml/2006/main">
              <a:ext uri="{FF2B5EF4-FFF2-40B4-BE49-F238E27FC236}">
                <a16:creationId xmlns:a16="http://schemas.microsoft.com/office/drawing/2014/main" id="{7261E41C-204F-4128-A95B-42B7AF2987DE}"/>
              </a:ext>
            </a:extLst>
          </p:cNvPr>
          <p:cNvSpPr>
            <a:spLocks xmlns:a="http://schemas.openxmlformats.org/drawingml/2006/main" noGrp="1"/>
          </p:cNvSpPr>
          <p:nvPr/>
        </p:nvSpPr>
        <p:spPr>
          <a:xfrm xmlns:a="http://schemas.openxmlformats.org/drawingml/2006/main">
            <a:off x="857250" y="781050"/>
            <a:ext cx="4000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200" b="1">
                <a:solidFill>
                  <a:srgbClr val="FFFFFF"/>
                </a:solidFill>
              </a:defRPr>
            </a:pPr>
            <a:r>
              <a:rPr sz="4200" b="1">
                <a:solidFill>
                  <a:srgbClr val="FFFFFF"/>
                </a:solidFill>
              </a:rPr>
              <a:t>The Ask</a:t>
            </a:r>
          </a:p>
        </p:txBody>
      </p:sp>
      <p:sp>
        <p:nvSpPr>
          <p:cNvPr id="4" name="">
            <a:extLst xmlns:a="http://schemas.openxmlformats.org/drawingml/2006/main">
              <a:ext uri="{FF2B5EF4-FFF2-40B4-BE49-F238E27FC236}">
                <a16:creationId xmlns:a16="http://schemas.microsoft.com/office/drawing/2014/main" id="{51C110C3-7D04-4C44-8876-245EA9732A27}"/>
              </a:ext>
            </a:extLst>
          </p:cNvPr>
          <p:cNvSpPr>
            <a:spLocks xmlns:a="http://schemas.openxmlformats.org/drawingml/2006/main" noGrp="1"/>
          </p:cNvSpPr>
          <p:nvPr/>
        </p:nvSpPr>
        <p:spPr>
          <a:xfrm xmlns:a="http://schemas.openxmlformats.org/drawingml/2006/main">
            <a:off x="876300" y="1476375"/>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59D6F2"/>
                </a:solidFill>
              </a:defRPr>
            </a:pPr>
            <a:r>
              <a:rPr sz="1800" b="0">
                <a:solidFill>
                  <a:srgbClr val="59D6F2"/>
                </a:solidFill>
              </a:rPr>
              <a:t>Approve the safe pilot bridge - not Auto ETR go-live</a:t>
            </a:r>
          </a:p>
        </p:txBody>
      </p:sp>
      <p:sp>
        <p:nvSpPr>
          <p:cNvPr id="5" name="">
            <a:extLst xmlns:a="http://schemas.openxmlformats.org/drawingml/2006/main">
              <a:ext uri="{FF2B5EF4-FFF2-40B4-BE49-F238E27FC236}">
                <a16:creationId xmlns:a16="http://schemas.microsoft.com/office/drawing/2014/main" id="{50401126-1FEF-4B20-B33E-6A5BD7F88FA4}"/>
              </a:ext>
            </a:extLst>
          </p:cNvPr>
          <p:cNvSpPr>
            <a:spLocks xmlns:a="http://schemas.openxmlformats.org/drawingml/2006/main" noGrp="1"/>
          </p:cNvSpPr>
          <p:nvPr/>
        </p:nvSpPr>
        <p:spPr>
          <a:xfrm xmlns:a="http://schemas.openxmlformats.org/drawingml/2006/main">
            <a:off x="857250" y="2333625"/>
            <a:ext cx="314325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19A895D7-F64E-4E4D-ADCF-462DDDF4BF95}"/>
              </a:ext>
            </a:extLst>
          </p:cNvPr>
          <p:cNvSpPr>
            <a:spLocks xmlns:a="http://schemas.openxmlformats.org/drawingml/2006/main" noGrp="1"/>
          </p:cNvSpPr>
          <p:nvPr/>
        </p:nvSpPr>
        <p:spPr>
          <a:xfrm xmlns:a="http://schemas.openxmlformats.org/drawingml/2006/main">
            <a:off x="857250" y="2333625"/>
            <a:ext cx="66675" cy="2095500"/>
          </a:xfrm>
          <a:prstGeom xmlns:a="http://schemas.openxmlformats.org/drawingml/2006/main" prst="rect">
            <a:avLst/>
          </a:prstGeom>
          <a:solidFill xmlns:a="http://schemas.openxmlformats.org/drawingml/2006/main">
            <a:srgbClr val="7B57C8"/>
          </a:solidFill>
          <a:ln xmlns:a="http://schemas.openxmlformats.org/drawingml/2006/main" w="0">
            <a:solidFill>
              <a:srgbClr val="7B57C8"/>
            </a:solidFill>
            <a:prstDash val="solid"/>
          </a:ln>
        </p:spPr>
      </p:sp>
      <p:sp>
        <p:nvSpPr>
          <p:cNvPr id="7" name="">
            <a:extLst xmlns:a="http://schemas.openxmlformats.org/drawingml/2006/main">
              <a:ext uri="{FF2B5EF4-FFF2-40B4-BE49-F238E27FC236}">
                <a16:creationId xmlns:a16="http://schemas.microsoft.com/office/drawing/2014/main" id="{705794D9-B556-4FDE-93D0-CB6A7499C11D}"/>
              </a:ext>
            </a:extLst>
          </p:cNvPr>
          <p:cNvSpPr>
            <a:spLocks xmlns:a="http://schemas.openxmlformats.org/drawingml/2006/main" noGrp="1"/>
          </p:cNvSpPr>
          <p:nvPr/>
        </p:nvSpPr>
        <p:spPr>
          <a:xfrm xmlns:a="http://schemas.openxmlformats.org/drawingml/2006/main">
            <a:off x="1085850" y="2524125"/>
            <a:ext cx="272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7162B"/>
                </a:solidFill>
              </a:defRPr>
            </a:pPr>
            <a:r>
              <a:rPr sz="1800" b="1">
                <a:solidFill>
                  <a:srgbClr val="07162B"/>
                </a:solidFill>
              </a:rPr>
              <a:t>1. Pilot Project</a:t>
            </a:r>
          </a:p>
        </p:txBody>
      </p:sp>
      <p:sp>
        <p:nvSpPr>
          <p:cNvPr id="8" name="">
            <a:extLst xmlns:a="http://schemas.openxmlformats.org/drawingml/2006/main">
              <a:ext uri="{FF2B5EF4-FFF2-40B4-BE49-F238E27FC236}">
                <a16:creationId xmlns:a16="http://schemas.microsoft.com/office/drawing/2014/main" id="{BB096765-EE43-4E04-8456-9AEBE1FBB137}"/>
              </a:ext>
            </a:extLst>
          </p:cNvPr>
          <p:cNvSpPr>
            <a:spLocks xmlns:a="http://schemas.openxmlformats.org/drawingml/2006/main" noGrp="1"/>
          </p:cNvSpPr>
          <p:nvPr/>
        </p:nvSpPr>
        <p:spPr>
          <a:xfrm xmlns:a="http://schemas.openxmlformats.org/drawingml/2006/main">
            <a:off x="1085850" y="2924175"/>
            <a:ext cx="27241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233044"/>
                </a:solidFill>
              </a:defRPr>
            </a:pPr>
            <a:r>
              <a:rPr sz="1350" b="0">
                <a:solidFill>
                  <a:srgbClr val="233044"/>
                </a:solidFill>
              </a:rPr>
              <a:t>Approve PEA-AIS pilot in a controlled scope.</a:t>
            </a:r>
          </a:p>
        </p:txBody>
      </p:sp>
      <p:sp>
        <p:nvSpPr>
          <p:cNvPr id="9" name="">
            <a:extLst xmlns:a="http://schemas.openxmlformats.org/drawingml/2006/main">
              <a:ext uri="{FF2B5EF4-FFF2-40B4-BE49-F238E27FC236}">
                <a16:creationId xmlns:a16="http://schemas.microsoft.com/office/drawing/2014/main" id="{9C84C392-397F-4620-BCB4-6A4008FA8EEC}"/>
              </a:ext>
            </a:extLst>
          </p:cNvPr>
          <p:cNvSpPr>
            <a:spLocks xmlns:a="http://schemas.openxmlformats.org/drawingml/2006/main" noGrp="1"/>
          </p:cNvSpPr>
          <p:nvPr/>
        </p:nvSpPr>
        <p:spPr>
          <a:xfrm xmlns:a="http://schemas.openxmlformats.org/drawingml/2006/main">
            <a:off x="4524375" y="2333625"/>
            <a:ext cx="314325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3B27DACD-DC72-4613-95AA-1E3207AB2C14}"/>
              </a:ext>
            </a:extLst>
          </p:cNvPr>
          <p:cNvSpPr>
            <a:spLocks xmlns:a="http://schemas.openxmlformats.org/drawingml/2006/main" noGrp="1"/>
          </p:cNvSpPr>
          <p:nvPr/>
        </p:nvSpPr>
        <p:spPr>
          <a:xfrm xmlns:a="http://schemas.openxmlformats.org/drawingml/2006/main">
            <a:off x="4524375" y="2333625"/>
            <a:ext cx="66675" cy="2095500"/>
          </a:xfrm>
          <a:prstGeom xmlns:a="http://schemas.openxmlformats.org/drawingml/2006/main" prst="rect">
            <a:avLst/>
          </a:prstGeom>
          <a:solidFill xmlns:a="http://schemas.openxmlformats.org/drawingml/2006/main">
            <a:srgbClr val="18B8C8"/>
          </a:solidFill>
          <a:ln xmlns:a="http://schemas.openxmlformats.org/drawingml/2006/main" w="0">
            <a:solidFill>
              <a:srgbClr val="18B8C8"/>
            </a:solidFill>
            <a:prstDash val="solid"/>
          </a:ln>
        </p:spPr>
      </p:sp>
      <p:sp>
        <p:nvSpPr>
          <p:cNvPr id="11" name="">
            <a:extLst xmlns:a="http://schemas.openxmlformats.org/drawingml/2006/main">
              <a:ext uri="{FF2B5EF4-FFF2-40B4-BE49-F238E27FC236}">
                <a16:creationId xmlns:a16="http://schemas.microsoft.com/office/drawing/2014/main" id="{35F9BBED-9AD7-4056-B02A-7BB852473E9A}"/>
              </a:ext>
            </a:extLst>
          </p:cNvPr>
          <p:cNvSpPr>
            <a:spLocks xmlns:a="http://schemas.openxmlformats.org/drawingml/2006/main" noGrp="1"/>
          </p:cNvSpPr>
          <p:nvPr/>
        </p:nvSpPr>
        <p:spPr>
          <a:xfrm xmlns:a="http://schemas.openxmlformats.org/drawingml/2006/main">
            <a:off x="4752975" y="2524125"/>
            <a:ext cx="272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7162B"/>
                </a:solidFill>
              </a:defRPr>
            </a:pPr>
            <a:r>
              <a:rPr sz="1800" b="1">
                <a:solidFill>
                  <a:srgbClr val="07162B"/>
                </a:solidFill>
              </a:rPr>
              <a:t>2. Data Scope</a:t>
            </a:r>
          </a:p>
        </p:txBody>
      </p:sp>
      <p:sp>
        <p:nvSpPr>
          <p:cNvPr id="12" name="">
            <a:extLst xmlns:a="http://schemas.openxmlformats.org/drawingml/2006/main">
              <a:ext uri="{FF2B5EF4-FFF2-40B4-BE49-F238E27FC236}">
                <a16:creationId xmlns:a16="http://schemas.microsoft.com/office/drawing/2014/main" id="{5CACDD87-AABB-461B-88C9-10458858DE5F}"/>
              </a:ext>
            </a:extLst>
          </p:cNvPr>
          <p:cNvSpPr>
            <a:spLocks xmlns:a="http://schemas.openxmlformats.org/drawingml/2006/main" noGrp="1"/>
          </p:cNvSpPr>
          <p:nvPr/>
        </p:nvSpPr>
        <p:spPr>
          <a:xfrm xmlns:a="http://schemas.openxmlformats.org/drawingml/2006/main">
            <a:off x="4752975" y="2924175"/>
            <a:ext cx="27241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233044"/>
                </a:solidFill>
              </a:defRPr>
            </a:pPr>
            <a:r>
              <a:rPr sz="1350" b="0">
                <a:solidFill>
                  <a:srgbClr val="233044"/>
                </a:solidFill>
              </a:rPr>
              <a:t>Approve scoped AMR / topology / evidence access.</a:t>
            </a:r>
          </a:p>
        </p:txBody>
      </p:sp>
      <p:sp>
        <p:nvSpPr>
          <p:cNvPr id="13" name="">
            <a:extLst xmlns:a="http://schemas.openxmlformats.org/drawingml/2006/main">
              <a:ext uri="{FF2B5EF4-FFF2-40B4-BE49-F238E27FC236}">
                <a16:creationId xmlns:a16="http://schemas.microsoft.com/office/drawing/2014/main" id="{F5A80033-3278-4A6F-9A9F-11CA8D60E133}"/>
              </a:ext>
            </a:extLst>
          </p:cNvPr>
          <p:cNvSpPr>
            <a:spLocks xmlns:a="http://schemas.openxmlformats.org/drawingml/2006/main" noGrp="1"/>
          </p:cNvSpPr>
          <p:nvPr/>
        </p:nvSpPr>
        <p:spPr>
          <a:xfrm xmlns:a="http://schemas.openxmlformats.org/drawingml/2006/main">
            <a:off x="8191500" y="2333625"/>
            <a:ext cx="314325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CFAD8347-0AF2-44CD-A5CB-E40A94E1FD47}"/>
              </a:ext>
            </a:extLst>
          </p:cNvPr>
          <p:cNvSpPr>
            <a:spLocks xmlns:a="http://schemas.openxmlformats.org/drawingml/2006/main" noGrp="1"/>
          </p:cNvSpPr>
          <p:nvPr/>
        </p:nvSpPr>
        <p:spPr>
          <a:xfrm xmlns:a="http://schemas.openxmlformats.org/drawingml/2006/main">
            <a:off x="8191500" y="2333625"/>
            <a:ext cx="66675" cy="2095500"/>
          </a:xfrm>
          <a:prstGeom xmlns:a="http://schemas.openxmlformats.org/drawingml/2006/main" prst="rect">
            <a:avLst/>
          </a:prstGeom>
          <a:solidFill xmlns:a="http://schemas.openxmlformats.org/drawingml/2006/main">
            <a:srgbClr val="F7B84B"/>
          </a:solidFill>
          <a:ln xmlns:a="http://schemas.openxmlformats.org/drawingml/2006/main" w="0">
            <a:solidFill>
              <a:srgbClr val="F7B84B"/>
            </a:solidFill>
            <a:prstDash val="solid"/>
          </a:ln>
        </p:spPr>
      </p:sp>
      <p:sp>
        <p:nvSpPr>
          <p:cNvPr id="15" name="">
            <a:extLst xmlns:a="http://schemas.openxmlformats.org/drawingml/2006/main">
              <a:ext uri="{FF2B5EF4-FFF2-40B4-BE49-F238E27FC236}">
                <a16:creationId xmlns:a16="http://schemas.microsoft.com/office/drawing/2014/main" id="{04751184-58E9-4A8A-A067-2DC9782831DC}"/>
              </a:ext>
            </a:extLst>
          </p:cNvPr>
          <p:cNvSpPr>
            <a:spLocks xmlns:a="http://schemas.openxmlformats.org/drawingml/2006/main" noGrp="1"/>
          </p:cNvSpPr>
          <p:nvPr/>
        </p:nvSpPr>
        <p:spPr>
          <a:xfrm xmlns:a="http://schemas.openxmlformats.org/drawingml/2006/main">
            <a:off x="8420100" y="2524125"/>
            <a:ext cx="272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7162B"/>
                </a:solidFill>
              </a:defRPr>
            </a:pPr>
            <a:r>
              <a:rPr sz="1800" b="1">
                <a:solidFill>
                  <a:srgbClr val="07162B"/>
                </a:solidFill>
              </a:rPr>
              <a:t>3. Joint Working Group</a:t>
            </a:r>
          </a:p>
        </p:txBody>
      </p:sp>
      <p:sp>
        <p:nvSpPr>
          <p:cNvPr id="16" name="">
            <a:extLst xmlns:a="http://schemas.openxmlformats.org/drawingml/2006/main">
              <a:ext uri="{FF2B5EF4-FFF2-40B4-BE49-F238E27FC236}">
                <a16:creationId xmlns:a16="http://schemas.microsoft.com/office/drawing/2014/main" id="{07B89D5E-167F-4A9A-86B9-57A6C44D6884}"/>
              </a:ext>
            </a:extLst>
          </p:cNvPr>
          <p:cNvSpPr>
            <a:spLocks xmlns:a="http://schemas.openxmlformats.org/drawingml/2006/main" noGrp="1"/>
          </p:cNvSpPr>
          <p:nvPr/>
        </p:nvSpPr>
        <p:spPr>
          <a:xfrm xmlns:a="http://schemas.openxmlformats.org/drawingml/2006/main">
            <a:off x="8420100" y="2924175"/>
            <a:ext cx="27241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233044"/>
                </a:solidFill>
              </a:defRPr>
            </a:pPr>
            <a:r>
              <a:rPr sz="1350" b="0">
                <a:solidFill>
                  <a:srgbClr val="233044"/>
                </a:solidFill>
              </a:rPr>
              <a:t>PEA Ops + PEA IT/API + AIS Dev/Ops owners.</a:t>
            </a:r>
          </a:p>
        </p:txBody>
      </p:sp>
      <p:sp>
        <p:nvSpPr>
          <p:cNvPr id="17" name="">
            <a:extLst xmlns:a="http://schemas.openxmlformats.org/drawingml/2006/main">
              <a:ext uri="{FF2B5EF4-FFF2-40B4-BE49-F238E27FC236}">
                <a16:creationId xmlns:a16="http://schemas.microsoft.com/office/drawing/2014/main" id="{EE4B8453-1AD7-4614-BD9F-6B166FDD43C3}"/>
              </a:ext>
            </a:extLst>
          </p:cNvPr>
          <p:cNvSpPr>
            <a:spLocks xmlns:a="http://schemas.openxmlformats.org/drawingml/2006/main" noGrp="1"/>
          </p:cNvSpPr>
          <p:nvPr/>
        </p:nvSpPr>
        <p:spPr>
          <a:xfrm xmlns:a="http://schemas.openxmlformats.org/drawingml/2006/main">
            <a:off x="1162050" y="5095875"/>
            <a:ext cx="9867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FFFFFF"/>
                </a:solidFill>
              </a:defRPr>
            </a:pPr>
            <a:r>
              <a:rPr sz="2100" b="1">
                <a:solidFill>
                  <a:srgbClr val="FFFFFF"/>
                </a:solidFill>
              </a:rPr>
              <a:t>Start with AIS. Prove trust. Scale PEA grid-context API capability.</a:t>
            </a:r>
          </a:p>
        </p:txBody>
      </p:sp>
      <p:sp>
        <p:nvSpPr>
          <p:cNvPr id="18" name="">
            <a:extLst xmlns:a="http://schemas.openxmlformats.org/drawingml/2006/main">
              <a:ext uri="{FF2B5EF4-FFF2-40B4-BE49-F238E27FC236}">
                <a16:creationId xmlns:a16="http://schemas.microsoft.com/office/drawing/2014/main" id="{F2DC3D92-0151-46F4-8365-011A33D80DE2}"/>
              </a:ext>
            </a:extLst>
          </p:cNvPr>
          <p:cNvSpPr>
            <a:spLocks xmlns:a="http://schemas.openxmlformats.org/drawingml/2006/main" noGrp="1"/>
          </p:cNvSpPr>
          <p:nvPr/>
        </p:nvSpPr>
        <p:spPr>
          <a:xfrm xmlns:a="http://schemas.openxmlformats.org/drawingml/2006/main">
            <a:off x="3381375" y="6305550"/>
            <a:ext cx="5429250" cy="323850"/>
          </a:xfrm>
          <a:prstGeom xmlns:a="http://schemas.openxmlformats.org/drawingml/2006/main" prst="roundRect">
            <a:avLst>
              <a:gd name="adj" fmla="val 23529"/>
            </a:avLst>
          </a:prstGeom>
          <a:solidFill xmlns:a="http://schemas.openxmlformats.org/drawingml/2006/main">
            <a:srgbClr val="F1F6FC"/>
          </a:solidFill>
          <a:ln xmlns:a="http://schemas.openxmlformats.org/drawingml/2006/main" w="9525">
            <a:solidFill>
              <a:srgbClr val="CAD6E6"/>
            </a:solidFill>
            <a:prstDash val="solid"/>
          </a:ln>
        </p:spPr>
      </p:sp>
      <p:sp>
        <p:nvSpPr>
          <p:cNvPr id="19" name="">
            <a:extLst xmlns:a="http://schemas.openxmlformats.org/drawingml/2006/main">
              <a:ext uri="{FF2B5EF4-FFF2-40B4-BE49-F238E27FC236}">
                <a16:creationId xmlns:a16="http://schemas.microsoft.com/office/drawing/2014/main" id="{70C962D0-BC02-4BF7-9489-64557367D360}"/>
              </a:ext>
            </a:extLst>
          </p:cNvPr>
          <p:cNvSpPr>
            <a:spLocks xmlns:a="http://schemas.openxmlformats.org/drawingml/2006/main" noGrp="1"/>
          </p:cNvSpPr>
          <p:nvPr/>
        </p:nvSpPr>
        <p:spPr>
          <a:xfrm xmlns:a="http://schemas.openxmlformats.org/drawingml/2006/main">
            <a:off x="3543300" y="6362700"/>
            <a:ext cx="5105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24334A"/>
                </a:solidFill>
              </a:defRPr>
            </a:pPr>
            <a:r>
              <a:rPr sz="975" b="1">
                <a:solidFill>
                  <a:srgbClr val="24334A"/>
                </a:solidFill>
              </a:rPr>
              <a:t>mode = shadow | production_send = blocked | Auto ETR not customer-facing yet</a:t>
            </a:r>
          </a:p>
        </p:txBody>
      </p:sp>
    </p:spTree>
    <p:extLst>
      <p:ext uri="{BB962C8B-B14F-4D97-AF65-F5344CB8AC3E}">
        <p14:creationId xmlns:p14="http://schemas.microsoft.com/office/powerpoint/2010/main" val="16872528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2026-06-22T16:51:13.9710000Z</dcterms:created>
  <dcterms:modified xsi:type="dcterms:W3CDTF">2026-06-22T16:51:13.9710000Z</dcterms:modified>
</coreProperties>
</file>